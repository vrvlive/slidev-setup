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harness architecture: the harness orchestrates the run, routing between the model, tools and MCP servers, a sandbox and approval gates, then returns a final response with a full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architecture with Kong AI Gateway inserted between the harness and every downstream capability. The harness no longer talks to models, tools, the sandbox or approval services directly: all traffic flows through the gateway, which handles authentication and credential brokering, rate limits and cost controls, prompt and PII guardrails, semantic caching and model routing, and emits the metrics and logs that feed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Option A keeps a single ingress ALB, a single decK GitOps pipeline and the existing Splunk HEC forwarders pointed at the Kong data plane pods already running, and adds AI capability as native plugins (ai-proxy-advanced, ai-mcp-proxy, mtls-auth, vaults) in front of the models and core banking databases. Option B introduces a second ALB for AI traffic, plus duplicate logging pipelines and split configs, feeding a standalone proxy such as LiteLLM or Portkey; existing API traffic continues through ALB 1 into Kong Gateway on a separate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Kong sits on the trust boundary as the north-south edge for agent traffic. The A2A proxy publishes agent cards for internal agents, authenticates external callers and routes tasks over JSON-RPC/HTTP. The ai-mcp-proxy plugin aggregates internal MCP servers behind a single external endpoint and exposes only the tools a given consumer is entitled to call. Both lanes inherit the same policy set: OAuth2/OIDC and mTLS, per-consumer quotas and rate limits, prompt, PII and schema guardrails, and audit logs, metrics and traces. Internal agents, MCP servers, models and core systems keep no public exposure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Enforcement workflow. Spoke teams raise three kinds of request: policy and budget updates, MCP server onboarding, and agent or team onboarding. Each becomes a GitOps PR in kong-services, passes automated policy and two-lines-of-assurance vetting, and is promoted to the gateway by decK sync. The data plane then enforces SPIFFE workload attestation, central Splunk HEC telemetry, token quotas and loop defenses, and dynamic vault secrets with tool ACLs. Out of band, the automated kill switch API and SRE revocation path severs a consumer at the gateway in under five seconds without waiting for a pipeline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stack behind a standalone LLM proxy. Ingress: a duplicate ALB plus its own TLS certificates and DNS records. Compute: dedicated Kubernetes pods, and a Python FastAPI/Uvicorn runtime whose GIL caps per-pod throughput, so scaling is horizontal. State: Redis is mandatory for distributed rate limiting and PostgreSQL for spend, users and key management — neither is optional once you run more than one replica. All of it lands on the SRE team as upstream CVE tracking, new on-call runbooks, database backup and migration duties, and a second telemetry path into the SIEM. This is the part usually missing from a build-versus-extend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proxying is not only for the custom agents. Antigravity, the agent harness and other internal clients all point at a single MCP endpoint on the gateway, and the ai-mcp-proxy plugin decides what each of them can see. Behind it sit three categories of server: common organisation MCPs owned by the platform team, external vendor MCPs reached outbound through the gateway instead of from each client, and MCP servers built and run by individual agent teams. The last category is where governance usually slips: a team prototyping an MCP server locally has something only they can reach. To make it available to anyone else it goes through pipeline deployment into the BBOX Kubernetes clusters and is registered through the MCP server onboarding process, which is the same GitOps path described earlier — tool RBAC, vault injection and quotas applied at the gateway rather than in the server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slideLayout" Target="../slideLayouts/slideLayout1.xml"/><Relationship Id="rId1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33372" y="256032"/>
            <a:ext cx="768096" cy="768096"/>
          </a:xfrm>
          <a:prstGeom prst="rect">
            <a:avLst/>
          </a:prstGeom>
        </p:spPr>
      </p:pic>
      <p:pic>
        <p:nvPicPr>
          <p:cNvPr id="3" name="Image 1" descr="preencoded.png">    </p:cNvPr>
          <p:cNvPicPr>
            <a:picLocks noChangeAspect="1"/>
          </p:cNvPicPr>
          <p:nvPr/>
        </p:nvPicPr>
        <p:blipFill>
          <a:blip r:embed="rId2"/>
          <a:stretch>
            <a:fillRect/>
          </a:stretch>
        </p:blipFill>
        <p:spPr>
          <a:xfrm>
            <a:off x="1970532" y="411480"/>
            <a:ext cx="493776" cy="493776"/>
          </a:xfrm>
          <a:prstGeom prst="rect">
            <a:avLst/>
          </a:prstGeom>
        </p:spPr>
      </p:pic>
      <p:sp>
        <p:nvSpPr>
          <p:cNvPr id="4" name="Text 0"/>
          <p:cNvSpPr txBox="1"/>
          <p:nvPr/>
        </p:nvSpPr>
        <p:spPr>
          <a:xfrm>
            <a:off x="457200" y="1078992"/>
            <a:ext cx="3520440" cy="411480"/>
          </a:xfrm>
          <a:prstGeom prst="rect">
            <a:avLst/>
          </a:prstGeom>
          <a:noFill/>
          <a:ln/>
        </p:spPr>
        <p:txBody>
          <a:bodyPr wrap="square" lIns="0" tIns="0" rIns="0" bIns="0" rtlCol="0" anchor="ctr"/>
          <a:lstStyle/>
          <a:p>
            <a:pPr algn="ctr" indent="0" marL="0">
              <a:buNone/>
            </a:pPr>
            <a:r>
              <a:rPr lang="en-US" sz="2600" b="1" dirty="0">
                <a:solidFill>
                  <a:srgbClr val="1E3A8A"/>
                </a:solidFill>
                <a:latin typeface="Calibri" pitchFamily="34" charset="0"/>
                <a:ea typeface="Calibri" pitchFamily="34" charset="-122"/>
                <a:cs typeface="Calibri" pitchFamily="34" charset="-120"/>
              </a:rPr>
              <a:t>Agent Harness</a:t>
            </a:r>
            <a:endParaRPr lang="en-US" sz="2600" dirty="0"/>
          </a:p>
        </p:txBody>
      </p:sp>
      <p:sp>
        <p:nvSpPr>
          <p:cNvPr id="5" name="Shape 1"/>
          <p:cNvSpPr/>
          <p:nvPr/>
        </p:nvSpPr>
        <p:spPr>
          <a:xfrm>
            <a:off x="457200" y="1645920"/>
            <a:ext cx="3520440" cy="4800600"/>
          </a:xfrm>
          <a:prstGeom prst="roundRect">
            <a:avLst>
              <a:gd name="adj" fmla="val 3636"/>
            </a:avLst>
          </a:prstGeom>
          <a:solidFill>
            <a:srgbClr val="FFFFFF"/>
          </a:solidFill>
          <a:ln w="15875">
            <a:solidFill>
              <a:srgbClr val="C7D2E8"/>
            </a:solidFill>
            <a:prstDash val="solid"/>
          </a:ln>
        </p:spPr>
      </p:sp>
      <p:pic>
        <p:nvPicPr>
          <p:cNvPr id="6" name="Image 2" descr="preencoded.png">    </p:cNvPr>
          <p:cNvPicPr>
            <a:picLocks noChangeAspect="1"/>
          </p:cNvPicPr>
          <p:nvPr/>
        </p:nvPicPr>
        <p:blipFill>
          <a:blip r:embed="rId3"/>
          <a:stretch>
            <a:fillRect/>
          </a:stretch>
        </p:blipFill>
        <p:spPr>
          <a:xfrm>
            <a:off x="731520" y="1956816"/>
            <a:ext cx="384048" cy="384048"/>
          </a:xfrm>
          <a:prstGeom prst="rect">
            <a:avLst/>
          </a:prstGeom>
        </p:spPr>
      </p:pic>
      <p:sp>
        <p:nvSpPr>
          <p:cNvPr id="7" name="Text 2"/>
          <p:cNvSpPr txBox="1"/>
          <p:nvPr/>
        </p:nvSpPr>
        <p:spPr>
          <a:xfrm>
            <a:off x="1325880" y="1883664"/>
            <a:ext cx="2514600" cy="548640"/>
          </a:xfrm>
          <a:prstGeom prst="rect">
            <a:avLst/>
          </a:prstGeom>
          <a:noFill/>
          <a:ln/>
        </p:spPr>
        <p:txBody>
          <a:bodyPr wrap="square" lIns="0" tIns="0" rIns="0" bIns="0" rtlCol="0" anchor="t"/>
          <a:lstStyle/>
          <a:p>
            <a:pPr indent="0" marL="0">
              <a:lnSpc>
                <a:spcPct val="105000"/>
              </a:lnSpc>
              <a:buNone/>
            </a:pPr>
            <a:r>
              <a:rPr lang="en-US" sz="1450" dirty="0">
                <a:solidFill>
                  <a:srgbClr val="1F2937"/>
                </a:solidFill>
                <a:latin typeface="Calibri" pitchFamily="34" charset="0"/>
                <a:ea typeface="Calibri" pitchFamily="34" charset="-122"/>
                <a:cs typeface="Calibri" pitchFamily="34" charset="-120"/>
              </a:rPr>
              <a:t>Orchestrates the run</a:t>
            </a:r>
            <a:endParaRPr lang="en-US" sz="1450" dirty="0"/>
          </a:p>
        </p:txBody>
      </p:sp>
      <p:sp>
        <p:nvSpPr>
          <p:cNvPr id="8" name="Text 3"/>
          <p:cNvSpPr txBox="1"/>
          <p:nvPr/>
        </p:nvSpPr>
        <p:spPr>
          <a:xfrm>
            <a:off x="1325880" y="2203704"/>
            <a:ext cx="2514600" cy="502920"/>
          </a:xfrm>
          <a:prstGeom prst="rect">
            <a:avLst/>
          </a:prstGeom>
          <a:noFill/>
          <a:ln/>
        </p:spPr>
        <p:txBody>
          <a:bodyPr wrap="square" lIns="0" tIns="0" rIns="0" bIns="0" rtlCol="0" anchor="t"/>
          <a:lstStyle/>
          <a:p>
            <a:pPr indent="0" marL="0">
              <a:lnSpc>
                <a:spcPct val="105000"/>
              </a:lnSpc>
              <a:buNone/>
            </a:pPr>
            <a:r>
              <a:rPr lang="en-US" sz="1250" dirty="0">
                <a:solidFill>
                  <a:srgbClr val="4B5563"/>
                </a:solidFill>
                <a:latin typeface="Calibri" pitchFamily="34" charset="0"/>
                <a:ea typeface="Calibri" pitchFamily="34" charset="-122"/>
                <a:cs typeface="Calibri" pitchFamily="34" charset="-120"/>
              </a:rPr>
              <a:t>Plans steps and manages flow</a:t>
            </a:r>
            <a:endParaRPr lang="en-US" sz="1250" dirty="0"/>
          </a:p>
        </p:txBody>
      </p:sp>
      <p:pic>
        <p:nvPicPr>
          <p:cNvPr id="9" name="Image 3" descr="preencoded.png">    </p:cNvPr>
          <p:cNvPicPr>
            <a:picLocks noChangeAspect="1"/>
          </p:cNvPicPr>
          <p:nvPr/>
        </p:nvPicPr>
        <p:blipFill>
          <a:blip r:embed="rId4"/>
          <a:stretch>
            <a:fillRect/>
          </a:stretch>
        </p:blipFill>
        <p:spPr>
          <a:xfrm>
            <a:off x="731520" y="3008376"/>
            <a:ext cx="384048" cy="384048"/>
          </a:xfrm>
          <a:prstGeom prst="rect">
            <a:avLst/>
          </a:prstGeom>
        </p:spPr>
      </p:pic>
      <p:sp>
        <p:nvSpPr>
          <p:cNvPr id="10" name="Text 4"/>
          <p:cNvSpPr txBox="1"/>
          <p:nvPr/>
        </p:nvSpPr>
        <p:spPr>
          <a:xfrm>
            <a:off x="1325880" y="2935224"/>
            <a:ext cx="2514600" cy="548640"/>
          </a:xfrm>
          <a:prstGeom prst="rect">
            <a:avLst/>
          </a:prstGeom>
          <a:noFill/>
          <a:ln/>
        </p:spPr>
        <p:txBody>
          <a:bodyPr wrap="square" lIns="0" tIns="0" rIns="0" bIns="0" rtlCol="0" anchor="t"/>
          <a:lstStyle/>
          <a:p>
            <a:pPr indent="0" marL="0">
              <a:lnSpc>
                <a:spcPct val="105000"/>
              </a:lnSpc>
              <a:buNone/>
            </a:pPr>
            <a:r>
              <a:rPr lang="en-US" sz="1450" dirty="0">
                <a:solidFill>
                  <a:srgbClr val="1F2937"/>
                </a:solidFill>
                <a:latin typeface="Calibri" pitchFamily="34" charset="0"/>
                <a:ea typeface="Calibri" pitchFamily="34" charset="-122"/>
                <a:cs typeface="Calibri" pitchFamily="34" charset="-120"/>
              </a:rPr>
              <a:t>Routes between model, agents,</a:t>
            </a:r>
            <a:endParaRPr lang="en-US" sz="1450" dirty="0"/>
          </a:p>
          <a:p>
            <a:pPr indent="0" marL="0">
              <a:lnSpc>
                <a:spcPct val="105000"/>
              </a:lnSpc>
              <a:buNone/>
            </a:pPr>
            <a:r>
              <a:rPr lang="en-US" sz="1450" dirty="0">
                <a:solidFill>
                  <a:srgbClr val="1F2937"/>
                </a:solidFill>
                <a:latin typeface="Calibri" pitchFamily="34" charset="0"/>
                <a:ea typeface="Calibri" pitchFamily="34" charset="-122"/>
                <a:cs typeface="Calibri" pitchFamily="34" charset="-120"/>
              </a:rPr>
              <a:t>tools, sandbox and approvals</a:t>
            </a:r>
            <a:endParaRPr lang="en-US" sz="1450" dirty="0"/>
          </a:p>
        </p:txBody>
      </p:sp>
      <p:sp>
        <p:nvSpPr>
          <p:cNvPr id="11" name="Text 5"/>
          <p:cNvSpPr txBox="1"/>
          <p:nvPr/>
        </p:nvSpPr>
        <p:spPr>
          <a:xfrm>
            <a:off x="1325880" y="3538728"/>
            <a:ext cx="2514600" cy="502920"/>
          </a:xfrm>
          <a:prstGeom prst="rect">
            <a:avLst/>
          </a:prstGeom>
          <a:noFill/>
          <a:ln/>
        </p:spPr>
        <p:txBody>
          <a:bodyPr wrap="square" lIns="0" tIns="0" rIns="0" bIns="0" rtlCol="0" anchor="t"/>
          <a:lstStyle/>
          <a:p>
            <a:pPr indent="0" marL="0">
              <a:lnSpc>
                <a:spcPct val="105000"/>
              </a:lnSpc>
              <a:buNone/>
            </a:pPr>
            <a:r>
              <a:rPr lang="en-US" sz="1250" dirty="0">
                <a:solidFill>
                  <a:srgbClr val="4B5563"/>
                </a:solidFill>
                <a:latin typeface="Calibri" pitchFamily="34" charset="0"/>
                <a:ea typeface="Calibri" pitchFamily="34" charset="-122"/>
                <a:cs typeface="Calibri" pitchFamily="34" charset="-120"/>
              </a:rPr>
              <a:t>Picks the right capability</a:t>
            </a:r>
            <a:endParaRPr lang="en-US" sz="1250" dirty="0"/>
          </a:p>
        </p:txBody>
      </p:sp>
      <p:pic>
        <p:nvPicPr>
          <p:cNvPr id="12" name="Image 4" descr="preencoded.png">    </p:cNvPr>
          <p:cNvPicPr>
            <a:picLocks noChangeAspect="1"/>
          </p:cNvPicPr>
          <p:nvPr/>
        </p:nvPicPr>
        <p:blipFill>
          <a:blip r:embed="rId5"/>
          <a:stretch>
            <a:fillRect/>
          </a:stretch>
        </p:blipFill>
        <p:spPr>
          <a:xfrm>
            <a:off x="731520" y="4288536"/>
            <a:ext cx="384048" cy="384048"/>
          </a:xfrm>
          <a:prstGeom prst="rect">
            <a:avLst/>
          </a:prstGeom>
        </p:spPr>
      </p:pic>
      <p:sp>
        <p:nvSpPr>
          <p:cNvPr id="13" name="Text 6"/>
          <p:cNvSpPr txBox="1"/>
          <p:nvPr/>
        </p:nvSpPr>
        <p:spPr>
          <a:xfrm>
            <a:off x="1325880" y="4215384"/>
            <a:ext cx="2514600" cy="548640"/>
          </a:xfrm>
          <a:prstGeom prst="rect">
            <a:avLst/>
          </a:prstGeom>
          <a:noFill/>
          <a:ln/>
        </p:spPr>
        <p:txBody>
          <a:bodyPr wrap="square" lIns="0" tIns="0" rIns="0" bIns="0" rtlCol="0" anchor="t"/>
          <a:lstStyle/>
          <a:p>
            <a:pPr indent="0" marL="0">
              <a:lnSpc>
                <a:spcPct val="105000"/>
              </a:lnSpc>
              <a:buNone/>
            </a:pPr>
            <a:r>
              <a:rPr lang="en-US" sz="1450" dirty="0">
                <a:solidFill>
                  <a:srgbClr val="1F2937"/>
                </a:solidFill>
                <a:latin typeface="Calibri" pitchFamily="34" charset="0"/>
                <a:ea typeface="Calibri" pitchFamily="34" charset="-122"/>
                <a:cs typeface="Calibri" pitchFamily="34" charset="-120"/>
              </a:rPr>
              <a:t>Enforces guardrails</a:t>
            </a:r>
            <a:endParaRPr lang="en-US" sz="1450" dirty="0"/>
          </a:p>
        </p:txBody>
      </p:sp>
      <p:sp>
        <p:nvSpPr>
          <p:cNvPr id="14" name="Text 7"/>
          <p:cNvSpPr txBox="1"/>
          <p:nvPr/>
        </p:nvSpPr>
        <p:spPr>
          <a:xfrm>
            <a:off x="1325880" y="4535424"/>
            <a:ext cx="2514600" cy="502920"/>
          </a:xfrm>
          <a:prstGeom prst="rect">
            <a:avLst/>
          </a:prstGeom>
          <a:noFill/>
          <a:ln/>
        </p:spPr>
        <p:txBody>
          <a:bodyPr wrap="square" lIns="0" tIns="0" rIns="0" bIns="0" rtlCol="0" anchor="t"/>
          <a:lstStyle/>
          <a:p>
            <a:pPr indent="0" marL="0">
              <a:lnSpc>
                <a:spcPct val="105000"/>
              </a:lnSpc>
              <a:buNone/>
            </a:pPr>
            <a:r>
              <a:rPr lang="en-US" sz="1250" dirty="0">
                <a:solidFill>
                  <a:srgbClr val="4B5563"/>
                </a:solidFill>
                <a:latin typeface="Calibri" pitchFamily="34" charset="0"/>
                <a:ea typeface="Calibri" pitchFamily="34" charset="-122"/>
                <a:cs typeface="Calibri" pitchFamily="34" charset="-120"/>
              </a:rPr>
              <a:t>Safety, policies and limits</a:t>
            </a:r>
            <a:endParaRPr lang="en-US" sz="1250" dirty="0"/>
          </a:p>
        </p:txBody>
      </p:sp>
      <p:pic>
        <p:nvPicPr>
          <p:cNvPr id="15" name="Image 5" descr="preencoded.png">    </p:cNvPr>
          <p:cNvPicPr>
            <a:picLocks noChangeAspect="1"/>
          </p:cNvPicPr>
          <p:nvPr/>
        </p:nvPicPr>
        <p:blipFill>
          <a:blip r:embed="rId6"/>
          <a:stretch>
            <a:fillRect/>
          </a:stretch>
        </p:blipFill>
        <p:spPr>
          <a:xfrm>
            <a:off x="731520" y="5340096"/>
            <a:ext cx="384048" cy="384048"/>
          </a:xfrm>
          <a:prstGeom prst="rect">
            <a:avLst/>
          </a:prstGeom>
        </p:spPr>
      </p:pic>
      <p:sp>
        <p:nvSpPr>
          <p:cNvPr id="16" name="Text 8"/>
          <p:cNvSpPr txBox="1"/>
          <p:nvPr/>
        </p:nvSpPr>
        <p:spPr>
          <a:xfrm>
            <a:off x="1325880" y="5266944"/>
            <a:ext cx="2514600" cy="548640"/>
          </a:xfrm>
          <a:prstGeom prst="rect">
            <a:avLst/>
          </a:prstGeom>
          <a:noFill/>
          <a:ln/>
        </p:spPr>
        <p:txBody>
          <a:bodyPr wrap="square" lIns="0" tIns="0" rIns="0" bIns="0" rtlCol="0" anchor="t"/>
          <a:lstStyle/>
          <a:p>
            <a:pPr indent="0" marL="0">
              <a:lnSpc>
                <a:spcPct val="105000"/>
              </a:lnSpc>
              <a:buNone/>
            </a:pPr>
            <a:r>
              <a:rPr lang="en-US" sz="1450" dirty="0">
                <a:solidFill>
                  <a:srgbClr val="1F2937"/>
                </a:solidFill>
                <a:latin typeface="Calibri" pitchFamily="34" charset="0"/>
                <a:ea typeface="Calibri" pitchFamily="34" charset="-122"/>
                <a:cs typeface="Calibri" pitchFamily="34" charset="-120"/>
              </a:rPr>
              <a:t>Records everything</a:t>
            </a:r>
            <a:endParaRPr lang="en-US" sz="1450" dirty="0"/>
          </a:p>
        </p:txBody>
      </p:sp>
      <p:sp>
        <p:nvSpPr>
          <p:cNvPr id="17" name="Text 9"/>
          <p:cNvSpPr txBox="1"/>
          <p:nvPr/>
        </p:nvSpPr>
        <p:spPr>
          <a:xfrm>
            <a:off x="1325880" y="5586984"/>
            <a:ext cx="2514600" cy="502920"/>
          </a:xfrm>
          <a:prstGeom prst="rect">
            <a:avLst/>
          </a:prstGeom>
          <a:noFill/>
          <a:ln/>
        </p:spPr>
        <p:txBody>
          <a:bodyPr wrap="square" lIns="0" tIns="0" rIns="0" bIns="0" rtlCol="0" anchor="t"/>
          <a:lstStyle/>
          <a:p>
            <a:pPr indent="0" marL="0">
              <a:lnSpc>
                <a:spcPct val="105000"/>
              </a:lnSpc>
              <a:buNone/>
            </a:pPr>
            <a:r>
              <a:rPr lang="en-US" sz="1250" dirty="0">
                <a:solidFill>
                  <a:srgbClr val="4B5563"/>
                </a:solidFill>
                <a:latin typeface="Calibri" pitchFamily="34" charset="0"/>
                <a:ea typeface="Calibri" pitchFamily="34" charset="-122"/>
                <a:cs typeface="Calibri" pitchFamily="34" charset="-120"/>
              </a:rPr>
              <a:t>Full trace for transparency</a:t>
            </a:r>
            <a:endParaRPr lang="en-US" sz="1250" dirty="0"/>
          </a:p>
          <a:p>
            <a:pPr indent="0" marL="0">
              <a:lnSpc>
                <a:spcPct val="105000"/>
              </a:lnSpc>
              <a:buNone/>
            </a:pPr>
            <a:r>
              <a:rPr lang="en-US" sz="1250" dirty="0">
                <a:solidFill>
                  <a:srgbClr val="4B5563"/>
                </a:solidFill>
                <a:latin typeface="Calibri" pitchFamily="34" charset="0"/>
                <a:ea typeface="Calibri" pitchFamily="34" charset="-122"/>
                <a:cs typeface="Calibri" pitchFamily="34" charset="-120"/>
              </a:rPr>
              <a:t>and debugging</a:t>
            </a:r>
            <a:endParaRPr lang="en-US" sz="1250" dirty="0"/>
          </a:p>
        </p:txBody>
      </p:sp>
      <p:sp>
        <p:nvSpPr>
          <p:cNvPr id="18" name="Shape 10"/>
          <p:cNvSpPr/>
          <p:nvPr/>
        </p:nvSpPr>
        <p:spPr>
          <a:xfrm>
            <a:off x="4892040" y="411480"/>
            <a:ext cx="3200400" cy="1097280"/>
          </a:xfrm>
          <a:prstGeom prst="roundRect">
            <a:avLst>
              <a:gd name="adj" fmla="val 10000"/>
            </a:avLst>
          </a:prstGeom>
          <a:solidFill>
            <a:srgbClr val="FFFFFF"/>
          </a:solidFill>
          <a:ln w="15875">
            <a:solidFill>
              <a:srgbClr val="D8D2F2"/>
            </a:solidFill>
            <a:prstDash val="solid"/>
          </a:ln>
        </p:spPr>
      </p:sp>
      <p:sp>
        <p:nvSpPr>
          <p:cNvPr id="19" name="Shape 11"/>
          <p:cNvSpPr/>
          <p:nvPr/>
        </p:nvSpPr>
        <p:spPr>
          <a:xfrm>
            <a:off x="5093208" y="694944"/>
            <a:ext cx="566928" cy="566928"/>
          </a:xfrm>
          <a:prstGeom prst="ellipse">
            <a:avLst/>
          </a:prstGeom>
          <a:solidFill>
            <a:srgbClr val="6D28D9"/>
          </a:solidFill>
          <a:ln w="12700">
            <a:solidFill>
              <a:srgbClr val="6D28D9"/>
            </a:solidFill>
            <a:prstDash val="solid"/>
          </a:ln>
        </p:spPr>
      </p:sp>
      <p:pic>
        <p:nvPicPr>
          <p:cNvPr id="20" name="Image 6" descr="preencoded.png">    </p:cNvPr>
          <p:cNvPicPr>
            <a:picLocks noChangeAspect="1"/>
          </p:cNvPicPr>
          <p:nvPr/>
        </p:nvPicPr>
        <p:blipFill>
          <a:blip r:embed="rId7"/>
          <a:stretch>
            <a:fillRect/>
          </a:stretch>
        </p:blipFill>
        <p:spPr>
          <a:xfrm>
            <a:off x="5221224" y="822960"/>
            <a:ext cx="310896" cy="310896"/>
          </a:xfrm>
          <a:prstGeom prst="rect">
            <a:avLst/>
          </a:prstGeom>
        </p:spPr>
      </p:pic>
      <p:sp>
        <p:nvSpPr>
          <p:cNvPr id="21" name="Text 12"/>
          <p:cNvSpPr txBox="1"/>
          <p:nvPr/>
        </p:nvSpPr>
        <p:spPr>
          <a:xfrm>
            <a:off x="5833872" y="502920"/>
            <a:ext cx="2103120" cy="347472"/>
          </a:xfrm>
          <a:prstGeom prst="rect">
            <a:avLst/>
          </a:prstGeom>
          <a:noFill/>
          <a:ln/>
        </p:spPr>
        <p:txBody>
          <a:bodyPr wrap="square" lIns="0" tIns="0" rIns="0" bIns="0" rtlCol="0" anchor="t"/>
          <a:lstStyle/>
          <a:p>
            <a:pPr indent="0" marL="0">
              <a:lnSpc>
                <a:spcPct val="95000"/>
              </a:lnSpc>
              <a:buNone/>
            </a:pPr>
            <a:r>
              <a:rPr lang="en-US" sz="1650" b="1" dirty="0">
                <a:solidFill>
                  <a:srgbClr val="5B21B6"/>
                </a:solidFill>
                <a:latin typeface="Calibri" pitchFamily="34" charset="0"/>
                <a:ea typeface="Calibri" pitchFamily="34" charset="-122"/>
                <a:cs typeface="Calibri" pitchFamily="34" charset="-120"/>
              </a:rPr>
              <a:t>Model</a:t>
            </a:r>
            <a:endParaRPr lang="en-US" sz="1650" dirty="0"/>
          </a:p>
        </p:txBody>
      </p:sp>
      <p:sp>
        <p:nvSpPr>
          <p:cNvPr id="22" name="Text 13"/>
          <p:cNvSpPr txBox="1"/>
          <p:nvPr/>
        </p:nvSpPr>
        <p:spPr>
          <a:xfrm>
            <a:off x="5833872" y="832104"/>
            <a:ext cx="2103120" cy="640080"/>
          </a:xfrm>
          <a:prstGeom prst="rect">
            <a:avLst/>
          </a:prstGeom>
          <a:noFill/>
          <a:ln/>
        </p:spPr>
        <p:txBody>
          <a:bodyPr wrap="square" lIns="0" tIns="0" rIns="0" bIns="0"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The LLM that reasons, plans</a:t>
            </a:r>
            <a:endParaRPr lang="en-US" sz="1200" dirty="0"/>
          </a:p>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and generates responses.</a:t>
            </a:r>
            <a:endParaRPr lang="en-US" sz="1200" dirty="0"/>
          </a:p>
        </p:txBody>
      </p:sp>
      <p:sp>
        <p:nvSpPr>
          <p:cNvPr id="23" name="Shape 14"/>
          <p:cNvSpPr/>
          <p:nvPr/>
        </p:nvSpPr>
        <p:spPr>
          <a:xfrm>
            <a:off x="4892040" y="1668780"/>
            <a:ext cx="3200400" cy="1097280"/>
          </a:xfrm>
          <a:prstGeom prst="roundRect">
            <a:avLst>
              <a:gd name="adj" fmla="val 10000"/>
            </a:avLst>
          </a:prstGeom>
          <a:solidFill>
            <a:srgbClr val="F6F7FE"/>
          </a:solidFill>
          <a:ln w="15875">
            <a:solidFill>
              <a:srgbClr val="C7CCF7"/>
            </a:solidFill>
            <a:prstDash val="solid"/>
          </a:ln>
        </p:spPr>
      </p:sp>
      <p:sp>
        <p:nvSpPr>
          <p:cNvPr id="24" name="Shape 15"/>
          <p:cNvSpPr/>
          <p:nvPr/>
        </p:nvSpPr>
        <p:spPr>
          <a:xfrm>
            <a:off x="5093208" y="1952244"/>
            <a:ext cx="566928" cy="566928"/>
          </a:xfrm>
          <a:prstGeom prst="ellipse">
            <a:avLst/>
          </a:prstGeom>
          <a:solidFill>
            <a:srgbClr val="4338CA"/>
          </a:solidFill>
          <a:ln w="12700">
            <a:solidFill>
              <a:srgbClr val="4338CA"/>
            </a:solidFill>
            <a:prstDash val="solid"/>
          </a:ln>
        </p:spPr>
      </p:sp>
      <p:pic>
        <p:nvPicPr>
          <p:cNvPr id="25" name="Image 7" descr="preencoded.png">    </p:cNvPr>
          <p:cNvPicPr>
            <a:picLocks noChangeAspect="1"/>
          </p:cNvPicPr>
          <p:nvPr/>
        </p:nvPicPr>
        <p:blipFill>
          <a:blip r:embed="rId8"/>
          <a:stretch>
            <a:fillRect/>
          </a:stretch>
        </p:blipFill>
        <p:spPr>
          <a:xfrm>
            <a:off x="5221224" y="2080260"/>
            <a:ext cx="310896" cy="310896"/>
          </a:xfrm>
          <a:prstGeom prst="rect">
            <a:avLst/>
          </a:prstGeom>
        </p:spPr>
      </p:pic>
      <p:sp>
        <p:nvSpPr>
          <p:cNvPr id="26" name="Text 16"/>
          <p:cNvSpPr txBox="1"/>
          <p:nvPr/>
        </p:nvSpPr>
        <p:spPr>
          <a:xfrm>
            <a:off x="5833872" y="1760220"/>
            <a:ext cx="2103120" cy="347472"/>
          </a:xfrm>
          <a:prstGeom prst="rect">
            <a:avLst/>
          </a:prstGeom>
          <a:noFill/>
          <a:ln/>
        </p:spPr>
        <p:txBody>
          <a:bodyPr wrap="square" lIns="0" tIns="0" rIns="0" bIns="0" rtlCol="0" anchor="t"/>
          <a:lstStyle/>
          <a:p>
            <a:pPr indent="0" marL="0">
              <a:lnSpc>
                <a:spcPct val="95000"/>
              </a:lnSpc>
              <a:buNone/>
            </a:pPr>
            <a:r>
              <a:rPr lang="en-US" sz="1650" b="1" dirty="0">
                <a:solidFill>
                  <a:srgbClr val="3730A3"/>
                </a:solidFill>
                <a:latin typeface="Calibri" pitchFamily="34" charset="0"/>
                <a:ea typeface="Calibri" pitchFamily="34" charset="-122"/>
                <a:cs typeface="Calibri" pitchFamily="34" charset="-120"/>
              </a:rPr>
              <a:t>Peer Agents (A2A)</a:t>
            </a:r>
            <a:endParaRPr lang="en-US" sz="1650" dirty="0"/>
          </a:p>
        </p:txBody>
      </p:sp>
      <p:sp>
        <p:nvSpPr>
          <p:cNvPr id="27" name="Text 17"/>
          <p:cNvSpPr txBox="1"/>
          <p:nvPr/>
        </p:nvSpPr>
        <p:spPr>
          <a:xfrm>
            <a:off x="5833872" y="2089404"/>
            <a:ext cx="2103120" cy="640080"/>
          </a:xfrm>
          <a:prstGeom prst="rect">
            <a:avLst/>
          </a:prstGeom>
          <a:noFill/>
          <a:ln/>
        </p:spPr>
        <p:txBody>
          <a:bodyPr wrap="square" lIns="0" tIns="0" rIns="0" bIns="0"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Other agents the harness</a:t>
            </a:r>
            <a:endParaRPr lang="en-US" sz="1200" dirty="0"/>
          </a:p>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delegates tasks to over A2A.</a:t>
            </a:r>
            <a:endParaRPr lang="en-US" sz="1200" dirty="0"/>
          </a:p>
        </p:txBody>
      </p:sp>
      <p:sp>
        <p:nvSpPr>
          <p:cNvPr id="28" name="Shape 18"/>
          <p:cNvSpPr/>
          <p:nvPr/>
        </p:nvSpPr>
        <p:spPr>
          <a:xfrm>
            <a:off x="4892040" y="2926080"/>
            <a:ext cx="3200400" cy="1097280"/>
          </a:xfrm>
          <a:prstGeom prst="roundRect">
            <a:avLst>
              <a:gd name="adj" fmla="val 10000"/>
            </a:avLst>
          </a:prstGeom>
          <a:solidFill>
            <a:srgbClr val="F7FCF8"/>
          </a:solidFill>
          <a:ln w="15875">
            <a:solidFill>
              <a:srgbClr val="BFE0C7"/>
            </a:solidFill>
            <a:prstDash val="solid"/>
          </a:ln>
        </p:spPr>
      </p:sp>
      <p:sp>
        <p:nvSpPr>
          <p:cNvPr id="29" name="Shape 19"/>
          <p:cNvSpPr/>
          <p:nvPr/>
        </p:nvSpPr>
        <p:spPr>
          <a:xfrm>
            <a:off x="5093208" y="3209544"/>
            <a:ext cx="566928" cy="566928"/>
          </a:xfrm>
          <a:prstGeom prst="ellipse">
            <a:avLst/>
          </a:prstGeom>
          <a:solidFill>
            <a:srgbClr val="15803D"/>
          </a:solidFill>
          <a:ln w="12700">
            <a:solidFill>
              <a:srgbClr val="15803D"/>
            </a:solidFill>
            <a:prstDash val="solid"/>
          </a:ln>
        </p:spPr>
      </p:sp>
      <p:pic>
        <p:nvPicPr>
          <p:cNvPr id="30" name="Image 8" descr="preencoded.png">    </p:cNvPr>
          <p:cNvPicPr>
            <a:picLocks noChangeAspect="1"/>
          </p:cNvPicPr>
          <p:nvPr/>
        </p:nvPicPr>
        <p:blipFill>
          <a:blip r:embed="rId9"/>
          <a:stretch>
            <a:fillRect/>
          </a:stretch>
        </p:blipFill>
        <p:spPr>
          <a:xfrm>
            <a:off x="5221224" y="3337560"/>
            <a:ext cx="310896" cy="310896"/>
          </a:xfrm>
          <a:prstGeom prst="rect">
            <a:avLst/>
          </a:prstGeom>
        </p:spPr>
      </p:pic>
      <p:sp>
        <p:nvSpPr>
          <p:cNvPr id="31" name="Text 20"/>
          <p:cNvSpPr txBox="1"/>
          <p:nvPr/>
        </p:nvSpPr>
        <p:spPr>
          <a:xfrm>
            <a:off x="5833872" y="3017520"/>
            <a:ext cx="2103120" cy="347472"/>
          </a:xfrm>
          <a:prstGeom prst="rect">
            <a:avLst/>
          </a:prstGeom>
          <a:noFill/>
          <a:ln/>
        </p:spPr>
        <p:txBody>
          <a:bodyPr wrap="square" lIns="0" tIns="0" rIns="0" bIns="0" rtlCol="0" anchor="t"/>
          <a:lstStyle/>
          <a:p>
            <a:pPr indent="0" marL="0">
              <a:lnSpc>
                <a:spcPct val="95000"/>
              </a:lnSpc>
              <a:buNone/>
            </a:pPr>
            <a:r>
              <a:rPr lang="en-US" sz="1650" b="1" dirty="0">
                <a:solidFill>
                  <a:srgbClr val="166534"/>
                </a:solidFill>
                <a:latin typeface="Calibri" pitchFamily="34" charset="0"/>
                <a:ea typeface="Calibri" pitchFamily="34" charset="-122"/>
                <a:cs typeface="Calibri" pitchFamily="34" charset="-120"/>
              </a:rPr>
              <a:t>Tools and MCP Servers</a:t>
            </a:r>
            <a:endParaRPr lang="en-US" sz="1650" dirty="0"/>
          </a:p>
        </p:txBody>
      </p:sp>
      <p:sp>
        <p:nvSpPr>
          <p:cNvPr id="32" name="Text 21"/>
          <p:cNvSpPr txBox="1"/>
          <p:nvPr/>
        </p:nvSpPr>
        <p:spPr>
          <a:xfrm>
            <a:off x="5833872" y="3346704"/>
            <a:ext cx="2103120" cy="640080"/>
          </a:xfrm>
          <a:prstGeom prst="rect">
            <a:avLst/>
          </a:prstGeom>
          <a:noFill/>
          <a:ln/>
        </p:spPr>
        <p:txBody>
          <a:bodyPr wrap="square" lIns="0" tIns="0" rIns="0" bIns="0"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External capabilities the</a:t>
            </a:r>
            <a:endParaRPr lang="en-US" sz="1200" dirty="0"/>
          </a:p>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agent can use.</a:t>
            </a:r>
            <a:endParaRPr lang="en-US" sz="1200" dirty="0"/>
          </a:p>
        </p:txBody>
      </p:sp>
      <p:sp>
        <p:nvSpPr>
          <p:cNvPr id="33" name="Shape 22"/>
          <p:cNvSpPr/>
          <p:nvPr/>
        </p:nvSpPr>
        <p:spPr>
          <a:xfrm>
            <a:off x="4892040" y="4183380"/>
            <a:ext cx="3200400" cy="1097280"/>
          </a:xfrm>
          <a:prstGeom prst="roundRect">
            <a:avLst>
              <a:gd name="adj" fmla="val 10000"/>
            </a:avLst>
          </a:prstGeom>
          <a:solidFill>
            <a:srgbClr val="FFFBF7"/>
          </a:solidFill>
          <a:ln w="15875">
            <a:solidFill>
              <a:srgbClr val="F8D6BC"/>
            </a:solidFill>
            <a:prstDash val="solid"/>
          </a:ln>
        </p:spPr>
      </p:sp>
      <p:sp>
        <p:nvSpPr>
          <p:cNvPr id="34" name="Shape 23"/>
          <p:cNvSpPr/>
          <p:nvPr/>
        </p:nvSpPr>
        <p:spPr>
          <a:xfrm>
            <a:off x="5093208" y="4466844"/>
            <a:ext cx="566928" cy="566928"/>
          </a:xfrm>
          <a:prstGeom prst="ellipse">
            <a:avLst/>
          </a:prstGeom>
          <a:solidFill>
            <a:srgbClr val="EA580C"/>
          </a:solidFill>
          <a:ln w="12700">
            <a:solidFill>
              <a:srgbClr val="EA580C"/>
            </a:solidFill>
            <a:prstDash val="solid"/>
          </a:ln>
        </p:spPr>
      </p:sp>
      <p:pic>
        <p:nvPicPr>
          <p:cNvPr id="35" name="Image 9" descr="preencoded.png">    </p:cNvPr>
          <p:cNvPicPr>
            <a:picLocks noChangeAspect="1"/>
          </p:cNvPicPr>
          <p:nvPr/>
        </p:nvPicPr>
        <p:blipFill>
          <a:blip r:embed="rId10"/>
          <a:stretch>
            <a:fillRect/>
          </a:stretch>
        </p:blipFill>
        <p:spPr>
          <a:xfrm>
            <a:off x="5221224" y="4594860"/>
            <a:ext cx="310896" cy="310896"/>
          </a:xfrm>
          <a:prstGeom prst="rect">
            <a:avLst/>
          </a:prstGeom>
        </p:spPr>
      </p:pic>
      <p:sp>
        <p:nvSpPr>
          <p:cNvPr id="36" name="Text 24"/>
          <p:cNvSpPr txBox="1"/>
          <p:nvPr/>
        </p:nvSpPr>
        <p:spPr>
          <a:xfrm>
            <a:off x="5833872" y="4274820"/>
            <a:ext cx="2103120" cy="347472"/>
          </a:xfrm>
          <a:prstGeom prst="rect">
            <a:avLst/>
          </a:prstGeom>
          <a:noFill/>
          <a:ln/>
        </p:spPr>
        <p:txBody>
          <a:bodyPr wrap="square" lIns="0" tIns="0" rIns="0" bIns="0" rtlCol="0" anchor="t"/>
          <a:lstStyle/>
          <a:p>
            <a:pPr indent="0" marL="0">
              <a:lnSpc>
                <a:spcPct val="95000"/>
              </a:lnSpc>
              <a:buNone/>
            </a:pPr>
            <a:r>
              <a:rPr lang="en-US" sz="1650" b="1" dirty="0">
                <a:solidFill>
                  <a:srgbClr val="C2410C"/>
                </a:solidFill>
                <a:latin typeface="Calibri" pitchFamily="34" charset="0"/>
                <a:ea typeface="Calibri" pitchFamily="34" charset="-122"/>
                <a:cs typeface="Calibri" pitchFamily="34" charset="-120"/>
              </a:rPr>
              <a:t>Sandbox</a:t>
            </a:r>
            <a:endParaRPr lang="en-US" sz="1650" dirty="0"/>
          </a:p>
        </p:txBody>
      </p:sp>
      <p:sp>
        <p:nvSpPr>
          <p:cNvPr id="37" name="Text 25"/>
          <p:cNvSpPr txBox="1"/>
          <p:nvPr/>
        </p:nvSpPr>
        <p:spPr>
          <a:xfrm>
            <a:off x="5833872" y="4604004"/>
            <a:ext cx="2103120" cy="640080"/>
          </a:xfrm>
          <a:prstGeom prst="rect">
            <a:avLst/>
          </a:prstGeom>
          <a:noFill/>
          <a:ln/>
        </p:spPr>
        <p:txBody>
          <a:bodyPr wrap="square" lIns="0" tIns="0" rIns="0" bIns="0"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Isolated environment to run</a:t>
            </a:r>
            <a:endParaRPr lang="en-US" sz="1200" dirty="0"/>
          </a:p>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code and process data safely.</a:t>
            </a:r>
            <a:endParaRPr lang="en-US" sz="1200" dirty="0"/>
          </a:p>
        </p:txBody>
      </p:sp>
      <p:sp>
        <p:nvSpPr>
          <p:cNvPr id="38" name="Shape 26"/>
          <p:cNvSpPr/>
          <p:nvPr/>
        </p:nvSpPr>
        <p:spPr>
          <a:xfrm>
            <a:off x="4892040" y="5440680"/>
            <a:ext cx="3200400" cy="1097280"/>
          </a:xfrm>
          <a:prstGeom prst="roundRect">
            <a:avLst>
              <a:gd name="adj" fmla="val 10000"/>
            </a:avLst>
          </a:prstGeom>
          <a:solidFill>
            <a:srgbClr val="FFFDF6"/>
          </a:solidFill>
          <a:ln w="15875">
            <a:solidFill>
              <a:srgbClr val="F7E0AE"/>
            </a:solidFill>
            <a:prstDash val="solid"/>
          </a:ln>
        </p:spPr>
      </p:sp>
      <p:sp>
        <p:nvSpPr>
          <p:cNvPr id="39" name="Shape 27"/>
          <p:cNvSpPr/>
          <p:nvPr/>
        </p:nvSpPr>
        <p:spPr>
          <a:xfrm>
            <a:off x="5093208" y="5724144"/>
            <a:ext cx="566928" cy="566928"/>
          </a:xfrm>
          <a:prstGeom prst="ellipse">
            <a:avLst/>
          </a:prstGeom>
          <a:solidFill>
            <a:srgbClr val="F0A81E"/>
          </a:solidFill>
          <a:ln w="12700">
            <a:solidFill>
              <a:srgbClr val="F0A81E"/>
            </a:solidFill>
            <a:prstDash val="solid"/>
          </a:ln>
        </p:spPr>
      </p:sp>
      <p:pic>
        <p:nvPicPr>
          <p:cNvPr id="40" name="Image 10" descr="preencoded.png">    </p:cNvPr>
          <p:cNvPicPr>
            <a:picLocks noChangeAspect="1"/>
          </p:cNvPicPr>
          <p:nvPr/>
        </p:nvPicPr>
        <p:blipFill>
          <a:blip r:embed="rId11"/>
          <a:stretch>
            <a:fillRect/>
          </a:stretch>
        </p:blipFill>
        <p:spPr>
          <a:xfrm>
            <a:off x="5221224" y="5852160"/>
            <a:ext cx="310896" cy="310896"/>
          </a:xfrm>
          <a:prstGeom prst="rect">
            <a:avLst/>
          </a:prstGeom>
        </p:spPr>
      </p:pic>
      <p:sp>
        <p:nvSpPr>
          <p:cNvPr id="41" name="Text 28"/>
          <p:cNvSpPr txBox="1"/>
          <p:nvPr/>
        </p:nvSpPr>
        <p:spPr>
          <a:xfrm>
            <a:off x="5833872" y="5532120"/>
            <a:ext cx="2103120" cy="347472"/>
          </a:xfrm>
          <a:prstGeom prst="rect">
            <a:avLst/>
          </a:prstGeom>
          <a:noFill/>
          <a:ln/>
        </p:spPr>
        <p:txBody>
          <a:bodyPr wrap="square" lIns="0" tIns="0" rIns="0" bIns="0" rtlCol="0" anchor="t"/>
          <a:lstStyle/>
          <a:p>
            <a:pPr indent="0" marL="0">
              <a:lnSpc>
                <a:spcPct val="95000"/>
              </a:lnSpc>
              <a:buNone/>
            </a:pPr>
            <a:r>
              <a:rPr lang="en-US" sz="1650" b="1" dirty="0">
                <a:solidFill>
                  <a:srgbClr val="B45309"/>
                </a:solidFill>
                <a:latin typeface="Calibri" pitchFamily="34" charset="0"/>
                <a:ea typeface="Calibri" pitchFamily="34" charset="-122"/>
                <a:cs typeface="Calibri" pitchFamily="34" charset="-120"/>
              </a:rPr>
              <a:t>Approval Gates</a:t>
            </a:r>
            <a:endParaRPr lang="en-US" sz="1650" dirty="0"/>
          </a:p>
        </p:txBody>
      </p:sp>
      <p:sp>
        <p:nvSpPr>
          <p:cNvPr id="42" name="Text 29"/>
          <p:cNvSpPr txBox="1"/>
          <p:nvPr/>
        </p:nvSpPr>
        <p:spPr>
          <a:xfrm>
            <a:off x="5833872" y="5861304"/>
            <a:ext cx="2103120" cy="640080"/>
          </a:xfrm>
          <a:prstGeom prst="rect">
            <a:avLst/>
          </a:prstGeom>
          <a:noFill/>
          <a:ln/>
        </p:spPr>
        <p:txBody>
          <a:bodyPr wrap="square" lIns="0" tIns="0" rIns="0" bIns="0"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Human or policy approvals for</a:t>
            </a:r>
            <a:endParaRPr lang="en-US" sz="1200" dirty="0"/>
          </a:p>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sensitive or high-impact actions.</a:t>
            </a:r>
            <a:endParaRPr lang="en-US" sz="1200" dirty="0"/>
          </a:p>
        </p:txBody>
      </p:sp>
      <p:sp>
        <p:nvSpPr>
          <p:cNvPr id="43" name="Shape 30"/>
          <p:cNvSpPr/>
          <p:nvPr/>
        </p:nvSpPr>
        <p:spPr>
          <a:xfrm>
            <a:off x="4050792" y="777240"/>
            <a:ext cx="768096" cy="0"/>
          </a:xfrm>
          <a:prstGeom prst="line">
            <a:avLst/>
          </a:prstGeom>
          <a:noFill/>
          <a:ln w="28575">
            <a:solidFill>
              <a:srgbClr val="2B3A67"/>
            </a:solidFill>
            <a:prstDash val="dash"/>
            <a:tailEnd type="triangle"/>
          </a:ln>
        </p:spPr>
      </p:sp>
      <p:sp>
        <p:nvSpPr>
          <p:cNvPr id="44" name="Shape 31"/>
          <p:cNvSpPr/>
          <p:nvPr/>
        </p:nvSpPr>
        <p:spPr>
          <a:xfrm>
            <a:off x="4050792" y="1161288"/>
            <a:ext cx="768096" cy="0"/>
          </a:xfrm>
          <a:prstGeom prst="line">
            <a:avLst/>
          </a:prstGeom>
          <a:noFill/>
          <a:ln w="28575">
            <a:solidFill>
              <a:srgbClr val="9BA8DF"/>
            </a:solidFill>
            <a:prstDash val="dash"/>
            <a:headEnd type="triangle"/>
          </a:ln>
        </p:spPr>
      </p:sp>
      <p:sp>
        <p:nvSpPr>
          <p:cNvPr id="45" name="Shape 32"/>
          <p:cNvSpPr/>
          <p:nvPr/>
        </p:nvSpPr>
        <p:spPr>
          <a:xfrm>
            <a:off x="4050792" y="2034540"/>
            <a:ext cx="768096" cy="0"/>
          </a:xfrm>
          <a:prstGeom prst="line">
            <a:avLst/>
          </a:prstGeom>
          <a:noFill/>
          <a:ln w="28575">
            <a:solidFill>
              <a:srgbClr val="2B3A67"/>
            </a:solidFill>
            <a:prstDash val="dash"/>
            <a:tailEnd type="triangle"/>
          </a:ln>
        </p:spPr>
      </p:sp>
      <p:sp>
        <p:nvSpPr>
          <p:cNvPr id="46" name="Shape 33"/>
          <p:cNvSpPr/>
          <p:nvPr/>
        </p:nvSpPr>
        <p:spPr>
          <a:xfrm>
            <a:off x="4050792" y="2418588"/>
            <a:ext cx="768096" cy="0"/>
          </a:xfrm>
          <a:prstGeom prst="line">
            <a:avLst/>
          </a:prstGeom>
          <a:noFill/>
          <a:ln w="28575">
            <a:solidFill>
              <a:srgbClr val="9BA8DF"/>
            </a:solidFill>
            <a:prstDash val="dash"/>
            <a:headEnd type="triangle"/>
          </a:ln>
        </p:spPr>
      </p:sp>
      <p:sp>
        <p:nvSpPr>
          <p:cNvPr id="47" name="Shape 34"/>
          <p:cNvSpPr/>
          <p:nvPr/>
        </p:nvSpPr>
        <p:spPr>
          <a:xfrm>
            <a:off x="4050792" y="3291840"/>
            <a:ext cx="768096" cy="0"/>
          </a:xfrm>
          <a:prstGeom prst="line">
            <a:avLst/>
          </a:prstGeom>
          <a:noFill/>
          <a:ln w="28575">
            <a:solidFill>
              <a:srgbClr val="2B3A67"/>
            </a:solidFill>
            <a:prstDash val="dash"/>
            <a:tailEnd type="triangle"/>
          </a:ln>
        </p:spPr>
      </p:sp>
      <p:sp>
        <p:nvSpPr>
          <p:cNvPr id="48" name="Shape 35"/>
          <p:cNvSpPr/>
          <p:nvPr/>
        </p:nvSpPr>
        <p:spPr>
          <a:xfrm>
            <a:off x="4050792" y="3675888"/>
            <a:ext cx="768096" cy="0"/>
          </a:xfrm>
          <a:prstGeom prst="line">
            <a:avLst/>
          </a:prstGeom>
          <a:noFill/>
          <a:ln w="28575">
            <a:solidFill>
              <a:srgbClr val="9BA8DF"/>
            </a:solidFill>
            <a:prstDash val="dash"/>
            <a:headEnd type="triangle"/>
          </a:ln>
        </p:spPr>
      </p:sp>
      <p:sp>
        <p:nvSpPr>
          <p:cNvPr id="49" name="Shape 36"/>
          <p:cNvSpPr/>
          <p:nvPr/>
        </p:nvSpPr>
        <p:spPr>
          <a:xfrm>
            <a:off x="4050792" y="4549140"/>
            <a:ext cx="768096" cy="0"/>
          </a:xfrm>
          <a:prstGeom prst="line">
            <a:avLst/>
          </a:prstGeom>
          <a:noFill/>
          <a:ln w="28575">
            <a:solidFill>
              <a:srgbClr val="2B3A67"/>
            </a:solidFill>
            <a:prstDash val="dash"/>
            <a:tailEnd type="triangle"/>
          </a:ln>
        </p:spPr>
      </p:sp>
      <p:sp>
        <p:nvSpPr>
          <p:cNvPr id="50" name="Shape 37"/>
          <p:cNvSpPr/>
          <p:nvPr/>
        </p:nvSpPr>
        <p:spPr>
          <a:xfrm>
            <a:off x="4050792" y="4933188"/>
            <a:ext cx="768096" cy="0"/>
          </a:xfrm>
          <a:prstGeom prst="line">
            <a:avLst/>
          </a:prstGeom>
          <a:noFill/>
          <a:ln w="28575">
            <a:solidFill>
              <a:srgbClr val="9BA8DF"/>
            </a:solidFill>
            <a:prstDash val="dash"/>
            <a:headEnd type="triangle"/>
          </a:ln>
        </p:spPr>
      </p:sp>
      <p:sp>
        <p:nvSpPr>
          <p:cNvPr id="51" name="Shape 38"/>
          <p:cNvSpPr/>
          <p:nvPr/>
        </p:nvSpPr>
        <p:spPr>
          <a:xfrm>
            <a:off x="4050792" y="5806440"/>
            <a:ext cx="768096" cy="0"/>
          </a:xfrm>
          <a:prstGeom prst="line">
            <a:avLst/>
          </a:prstGeom>
          <a:noFill/>
          <a:ln w="28575">
            <a:solidFill>
              <a:srgbClr val="2B3A67"/>
            </a:solidFill>
            <a:prstDash val="dash"/>
            <a:tailEnd type="triangle"/>
          </a:ln>
        </p:spPr>
      </p:sp>
      <p:sp>
        <p:nvSpPr>
          <p:cNvPr id="52" name="Shape 39"/>
          <p:cNvSpPr/>
          <p:nvPr/>
        </p:nvSpPr>
        <p:spPr>
          <a:xfrm>
            <a:off x="4050792" y="6190488"/>
            <a:ext cx="768096" cy="0"/>
          </a:xfrm>
          <a:prstGeom prst="line">
            <a:avLst/>
          </a:prstGeom>
          <a:noFill/>
          <a:ln w="28575">
            <a:solidFill>
              <a:srgbClr val="9BA8DF"/>
            </a:solidFill>
            <a:prstDash val="dash"/>
            <a:headEnd type="triangle"/>
          </a:ln>
        </p:spPr>
      </p:sp>
      <p:sp>
        <p:nvSpPr>
          <p:cNvPr id="53" name="Shape 40"/>
          <p:cNvSpPr/>
          <p:nvPr/>
        </p:nvSpPr>
        <p:spPr>
          <a:xfrm>
            <a:off x="8165592" y="3474720"/>
            <a:ext cx="576072" cy="0"/>
          </a:xfrm>
          <a:prstGeom prst="line">
            <a:avLst/>
          </a:prstGeom>
          <a:noFill/>
          <a:ln w="28575">
            <a:solidFill>
              <a:srgbClr val="2B3A67"/>
            </a:solidFill>
            <a:prstDash val="dash"/>
            <a:tailEnd type="triangle"/>
          </a:ln>
        </p:spPr>
      </p:sp>
      <p:sp>
        <p:nvSpPr>
          <p:cNvPr id="54" name="Shape 41"/>
          <p:cNvSpPr/>
          <p:nvPr/>
        </p:nvSpPr>
        <p:spPr>
          <a:xfrm>
            <a:off x="8796528" y="1965960"/>
            <a:ext cx="2926080" cy="3017520"/>
          </a:xfrm>
          <a:prstGeom prst="roundRect">
            <a:avLst>
              <a:gd name="adj" fmla="val 3750"/>
            </a:avLst>
          </a:prstGeom>
          <a:solidFill>
            <a:srgbClr val="FFFFFF"/>
          </a:solidFill>
          <a:ln w="15875">
            <a:solidFill>
              <a:srgbClr val="C7D2E8"/>
            </a:solidFill>
            <a:prstDash val="solid"/>
          </a:ln>
        </p:spPr>
      </p:sp>
      <p:pic>
        <p:nvPicPr>
          <p:cNvPr id="55" name="Image 11" descr="preencoded.png">    </p:cNvPr>
          <p:cNvPicPr>
            <a:picLocks noChangeAspect="1"/>
          </p:cNvPicPr>
          <p:nvPr/>
        </p:nvPicPr>
        <p:blipFill>
          <a:blip r:embed="rId12"/>
          <a:stretch>
            <a:fillRect/>
          </a:stretch>
        </p:blipFill>
        <p:spPr>
          <a:xfrm>
            <a:off x="9939528" y="2240280"/>
            <a:ext cx="640080" cy="640080"/>
          </a:xfrm>
          <a:prstGeom prst="rect">
            <a:avLst/>
          </a:prstGeom>
        </p:spPr>
      </p:pic>
      <p:sp>
        <p:nvSpPr>
          <p:cNvPr id="56" name="Text 42"/>
          <p:cNvSpPr txBox="1"/>
          <p:nvPr/>
        </p:nvSpPr>
        <p:spPr>
          <a:xfrm>
            <a:off x="8906256" y="2990088"/>
            <a:ext cx="2706624" cy="685800"/>
          </a:xfrm>
          <a:prstGeom prst="rect">
            <a:avLst/>
          </a:prstGeom>
          <a:noFill/>
          <a:ln/>
        </p:spPr>
        <p:txBody>
          <a:bodyPr wrap="square" lIns="0" tIns="0" rIns="0" bIns="0" rtlCol="0" anchor="ctr"/>
          <a:lstStyle/>
          <a:p>
            <a:pPr algn="ctr" indent="0" marL="0">
              <a:lnSpc>
                <a:spcPct val="105000"/>
              </a:lnSpc>
              <a:buNone/>
            </a:pPr>
            <a:r>
              <a:rPr lang="en-US" sz="1900" b="1" dirty="0">
                <a:solidFill>
                  <a:srgbClr val="1E3A8A"/>
                </a:solidFill>
                <a:latin typeface="Calibri" pitchFamily="34" charset="0"/>
                <a:ea typeface="Calibri" pitchFamily="34" charset="-122"/>
                <a:cs typeface="Calibri" pitchFamily="34" charset="-120"/>
              </a:rPr>
              <a:t>Final Response</a:t>
            </a:r>
            <a:endParaRPr lang="en-US" sz="1900" dirty="0"/>
          </a:p>
          <a:p>
            <a:pPr algn="ctr" indent="0" marL="0">
              <a:lnSpc>
                <a:spcPct val="105000"/>
              </a:lnSpc>
              <a:buNone/>
            </a:pPr>
            <a:r>
              <a:rPr lang="en-US" sz="1900" b="1" dirty="0">
                <a:solidFill>
                  <a:srgbClr val="1E3A8A"/>
                </a:solidFill>
                <a:latin typeface="Calibri" pitchFamily="34" charset="0"/>
                <a:ea typeface="Calibri" pitchFamily="34" charset="-122"/>
                <a:cs typeface="Calibri" pitchFamily="34" charset="-120"/>
              </a:rPr>
              <a:t>and Trace</a:t>
            </a:r>
            <a:endParaRPr lang="en-US" sz="1900" dirty="0"/>
          </a:p>
        </p:txBody>
      </p:sp>
      <p:pic>
        <p:nvPicPr>
          <p:cNvPr id="57" name="Image 12" descr="preencoded.png">    </p:cNvPr>
          <p:cNvPicPr>
            <a:picLocks noChangeAspect="1"/>
          </p:cNvPicPr>
          <p:nvPr/>
        </p:nvPicPr>
        <p:blipFill>
          <a:blip r:embed="rId13"/>
          <a:stretch>
            <a:fillRect/>
          </a:stretch>
        </p:blipFill>
        <p:spPr>
          <a:xfrm>
            <a:off x="9070848" y="3822192"/>
            <a:ext cx="201168" cy="201168"/>
          </a:xfrm>
          <a:prstGeom prst="rect">
            <a:avLst/>
          </a:prstGeom>
        </p:spPr>
      </p:pic>
      <p:sp>
        <p:nvSpPr>
          <p:cNvPr id="58" name="Text 43"/>
          <p:cNvSpPr txBox="1"/>
          <p:nvPr/>
        </p:nvSpPr>
        <p:spPr>
          <a:xfrm>
            <a:off x="9345168" y="3794760"/>
            <a:ext cx="2286000" cy="256032"/>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Answer or result</a:t>
            </a:r>
            <a:endParaRPr lang="en-US" sz="1300" dirty="0"/>
          </a:p>
        </p:txBody>
      </p:sp>
      <p:pic>
        <p:nvPicPr>
          <p:cNvPr id="59" name="Image 13" descr="preencoded.png">    </p:cNvPr>
          <p:cNvPicPr>
            <a:picLocks noChangeAspect="1"/>
          </p:cNvPicPr>
          <p:nvPr/>
        </p:nvPicPr>
        <p:blipFill>
          <a:blip r:embed="rId14"/>
          <a:stretch>
            <a:fillRect/>
          </a:stretch>
        </p:blipFill>
        <p:spPr>
          <a:xfrm>
            <a:off x="9070848" y="4114800"/>
            <a:ext cx="201168" cy="201168"/>
          </a:xfrm>
          <a:prstGeom prst="rect">
            <a:avLst/>
          </a:prstGeom>
        </p:spPr>
      </p:pic>
      <p:sp>
        <p:nvSpPr>
          <p:cNvPr id="60" name="Text 44"/>
          <p:cNvSpPr txBox="1"/>
          <p:nvPr/>
        </p:nvSpPr>
        <p:spPr>
          <a:xfrm>
            <a:off x="9345168" y="4087368"/>
            <a:ext cx="2286000" cy="256032"/>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What was done</a:t>
            </a:r>
            <a:endParaRPr lang="en-US" sz="1300" dirty="0"/>
          </a:p>
        </p:txBody>
      </p:sp>
      <p:pic>
        <p:nvPicPr>
          <p:cNvPr id="61" name="Image 14" descr="preencoded.png">    </p:cNvPr>
          <p:cNvPicPr>
            <a:picLocks noChangeAspect="1"/>
          </p:cNvPicPr>
          <p:nvPr/>
        </p:nvPicPr>
        <p:blipFill>
          <a:blip r:embed="rId15"/>
          <a:stretch>
            <a:fillRect/>
          </a:stretch>
        </p:blipFill>
        <p:spPr>
          <a:xfrm>
            <a:off x="9070848" y="4407408"/>
            <a:ext cx="201168" cy="201168"/>
          </a:xfrm>
          <a:prstGeom prst="rect">
            <a:avLst/>
          </a:prstGeom>
        </p:spPr>
      </p:pic>
      <p:sp>
        <p:nvSpPr>
          <p:cNvPr id="62" name="Text 45"/>
          <p:cNvSpPr txBox="1"/>
          <p:nvPr/>
        </p:nvSpPr>
        <p:spPr>
          <a:xfrm>
            <a:off x="9345168" y="4379976"/>
            <a:ext cx="2286000" cy="256032"/>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What was used</a:t>
            </a:r>
            <a:endParaRPr lang="en-US" sz="1300" dirty="0"/>
          </a:p>
        </p:txBody>
      </p:sp>
      <p:pic>
        <p:nvPicPr>
          <p:cNvPr id="63" name="Image 15" descr="preencoded.png">    </p:cNvPr>
          <p:cNvPicPr>
            <a:picLocks noChangeAspect="1"/>
          </p:cNvPicPr>
          <p:nvPr/>
        </p:nvPicPr>
        <p:blipFill>
          <a:blip r:embed="rId16"/>
          <a:stretch>
            <a:fillRect/>
          </a:stretch>
        </p:blipFill>
        <p:spPr>
          <a:xfrm>
            <a:off x="9070848" y="4700016"/>
            <a:ext cx="201168" cy="201168"/>
          </a:xfrm>
          <a:prstGeom prst="rect">
            <a:avLst/>
          </a:prstGeom>
        </p:spPr>
      </p:pic>
      <p:sp>
        <p:nvSpPr>
          <p:cNvPr id="64" name="Text 46"/>
          <p:cNvSpPr txBox="1"/>
          <p:nvPr/>
        </p:nvSpPr>
        <p:spPr>
          <a:xfrm>
            <a:off x="9345168" y="4672584"/>
            <a:ext cx="2286000" cy="256032"/>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What was decided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444752" y="256032"/>
            <a:ext cx="768096" cy="768096"/>
          </a:xfrm>
          <a:prstGeom prst="rect">
            <a:avLst/>
          </a:prstGeom>
        </p:spPr>
      </p:pic>
      <p:pic>
        <p:nvPicPr>
          <p:cNvPr id="3" name="Image 1" descr="preencoded.png">    </p:cNvPr>
          <p:cNvPicPr>
            <a:picLocks noChangeAspect="1"/>
          </p:cNvPicPr>
          <p:nvPr/>
        </p:nvPicPr>
        <p:blipFill>
          <a:blip r:embed="rId2"/>
          <a:stretch>
            <a:fillRect/>
          </a:stretch>
        </p:blipFill>
        <p:spPr>
          <a:xfrm>
            <a:off x="1581912" y="411480"/>
            <a:ext cx="493776" cy="493776"/>
          </a:xfrm>
          <a:prstGeom prst="rect">
            <a:avLst/>
          </a:prstGeom>
        </p:spPr>
      </p:pic>
      <p:sp>
        <p:nvSpPr>
          <p:cNvPr id="4" name="Text 0"/>
          <p:cNvSpPr txBox="1"/>
          <p:nvPr/>
        </p:nvSpPr>
        <p:spPr>
          <a:xfrm>
            <a:off x="411480" y="1078992"/>
            <a:ext cx="2834640" cy="411480"/>
          </a:xfrm>
          <a:prstGeom prst="rect">
            <a:avLst/>
          </a:prstGeom>
          <a:noFill/>
          <a:ln/>
        </p:spPr>
        <p:txBody>
          <a:bodyPr wrap="square" lIns="0" tIns="0" rIns="0" bIns="0" rtlCol="0" anchor="ctr"/>
          <a:lstStyle/>
          <a:p>
            <a:pPr algn="ctr" indent="0" marL="0">
              <a:buNone/>
            </a:pPr>
            <a:r>
              <a:rPr lang="en-US" sz="2300" b="1" dirty="0">
                <a:solidFill>
                  <a:srgbClr val="1E3A8A"/>
                </a:solidFill>
                <a:latin typeface="Calibri" pitchFamily="34" charset="0"/>
                <a:ea typeface="Calibri" pitchFamily="34" charset="-122"/>
                <a:cs typeface="Calibri" pitchFamily="34" charset="-120"/>
              </a:rPr>
              <a:t>Agent Harness</a:t>
            </a:r>
            <a:endParaRPr lang="en-US" sz="2300" dirty="0"/>
          </a:p>
        </p:txBody>
      </p:sp>
      <p:sp>
        <p:nvSpPr>
          <p:cNvPr id="5" name="Shape 1"/>
          <p:cNvSpPr/>
          <p:nvPr/>
        </p:nvSpPr>
        <p:spPr>
          <a:xfrm>
            <a:off x="411480" y="1645920"/>
            <a:ext cx="2834640" cy="4800600"/>
          </a:xfrm>
          <a:prstGeom prst="roundRect">
            <a:avLst>
              <a:gd name="adj" fmla="val 4516"/>
            </a:avLst>
          </a:prstGeom>
          <a:solidFill>
            <a:srgbClr val="FFFFFF"/>
          </a:solidFill>
          <a:ln w="15875">
            <a:solidFill>
              <a:srgbClr val="C7D2E8"/>
            </a:solidFill>
            <a:prstDash val="solid"/>
          </a:ln>
        </p:spPr>
      </p:sp>
      <p:pic>
        <p:nvPicPr>
          <p:cNvPr id="6" name="Image 2" descr="preencoded.png">    </p:cNvPr>
          <p:cNvPicPr>
            <a:picLocks noChangeAspect="1"/>
          </p:cNvPicPr>
          <p:nvPr/>
        </p:nvPicPr>
        <p:blipFill>
          <a:blip r:embed="rId3"/>
          <a:stretch>
            <a:fillRect/>
          </a:stretch>
        </p:blipFill>
        <p:spPr>
          <a:xfrm>
            <a:off x="594360" y="1956816"/>
            <a:ext cx="384048" cy="384048"/>
          </a:xfrm>
          <a:prstGeom prst="rect">
            <a:avLst/>
          </a:prstGeom>
        </p:spPr>
      </p:pic>
      <p:sp>
        <p:nvSpPr>
          <p:cNvPr id="7" name="Text 2"/>
          <p:cNvSpPr txBox="1"/>
          <p:nvPr/>
        </p:nvSpPr>
        <p:spPr>
          <a:xfrm>
            <a:off x="1124712" y="1883664"/>
            <a:ext cx="1984248" cy="548640"/>
          </a:xfrm>
          <a:prstGeom prst="rect">
            <a:avLst/>
          </a:prstGeom>
          <a:noFill/>
          <a:ln/>
        </p:spPr>
        <p:txBody>
          <a:bodyPr wrap="square" lIns="0" tIns="0" rIns="0" bIns="0" rtlCol="0" anchor="t"/>
          <a:lstStyle/>
          <a:p>
            <a:pPr indent="0" marL="0">
              <a:lnSpc>
                <a:spcPct val="105000"/>
              </a:lnSpc>
              <a:buNone/>
            </a:pPr>
            <a:r>
              <a:rPr lang="en-US" sz="1200" dirty="0">
                <a:solidFill>
                  <a:srgbClr val="1F2937"/>
                </a:solidFill>
                <a:latin typeface="Calibri" pitchFamily="34" charset="0"/>
                <a:ea typeface="Calibri" pitchFamily="34" charset="-122"/>
                <a:cs typeface="Calibri" pitchFamily="34" charset="-120"/>
              </a:rPr>
              <a:t>Orchestrates the run</a:t>
            </a:r>
            <a:endParaRPr lang="en-US" sz="1200" dirty="0"/>
          </a:p>
        </p:txBody>
      </p:sp>
      <p:sp>
        <p:nvSpPr>
          <p:cNvPr id="8" name="Text 3"/>
          <p:cNvSpPr txBox="1"/>
          <p:nvPr/>
        </p:nvSpPr>
        <p:spPr>
          <a:xfrm>
            <a:off x="1124712" y="2203704"/>
            <a:ext cx="1984248" cy="502920"/>
          </a:xfrm>
          <a:prstGeom prst="rect">
            <a:avLst/>
          </a:prstGeom>
          <a:noFill/>
          <a:ln/>
        </p:spPr>
        <p:txBody>
          <a:bodyPr wrap="square" lIns="0" tIns="0" rIns="0" bIns="0" rtlCol="0" anchor="t"/>
          <a:lstStyle/>
          <a:p>
            <a:pPr indent="0" marL="0">
              <a:lnSpc>
                <a:spcPct val="105000"/>
              </a:lnSpc>
              <a:buNone/>
            </a:pPr>
            <a:r>
              <a:rPr lang="en-US" sz="1100" dirty="0">
                <a:solidFill>
                  <a:srgbClr val="4B5563"/>
                </a:solidFill>
                <a:latin typeface="Calibri" pitchFamily="34" charset="0"/>
                <a:ea typeface="Calibri" pitchFamily="34" charset="-122"/>
                <a:cs typeface="Calibri" pitchFamily="34" charset="-120"/>
              </a:rPr>
              <a:t>Plans steps and manages flow</a:t>
            </a:r>
            <a:endParaRPr lang="en-US" sz="1100" dirty="0"/>
          </a:p>
        </p:txBody>
      </p:sp>
      <p:pic>
        <p:nvPicPr>
          <p:cNvPr id="9" name="Image 3" descr="preencoded.png">    </p:cNvPr>
          <p:cNvPicPr>
            <a:picLocks noChangeAspect="1"/>
          </p:cNvPicPr>
          <p:nvPr/>
        </p:nvPicPr>
        <p:blipFill>
          <a:blip r:embed="rId4"/>
          <a:stretch>
            <a:fillRect/>
          </a:stretch>
        </p:blipFill>
        <p:spPr>
          <a:xfrm>
            <a:off x="594360" y="3008376"/>
            <a:ext cx="384048" cy="384048"/>
          </a:xfrm>
          <a:prstGeom prst="rect">
            <a:avLst/>
          </a:prstGeom>
        </p:spPr>
      </p:pic>
      <p:sp>
        <p:nvSpPr>
          <p:cNvPr id="10" name="Text 4"/>
          <p:cNvSpPr txBox="1"/>
          <p:nvPr/>
        </p:nvSpPr>
        <p:spPr>
          <a:xfrm>
            <a:off x="1124712" y="2935224"/>
            <a:ext cx="1984248" cy="548640"/>
          </a:xfrm>
          <a:prstGeom prst="rect">
            <a:avLst/>
          </a:prstGeom>
          <a:noFill/>
          <a:ln/>
        </p:spPr>
        <p:txBody>
          <a:bodyPr wrap="square" lIns="0" tIns="0" rIns="0" bIns="0" rtlCol="0" anchor="t"/>
          <a:lstStyle/>
          <a:p>
            <a:pPr indent="0" marL="0">
              <a:lnSpc>
                <a:spcPct val="105000"/>
              </a:lnSpc>
              <a:buNone/>
            </a:pPr>
            <a:r>
              <a:rPr lang="en-US" sz="1200" dirty="0">
                <a:solidFill>
                  <a:srgbClr val="1F2937"/>
                </a:solidFill>
                <a:latin typeface="Calibri" pitchFamily="34" charset="0"/>
                <a:ea typeface="Calibri" pitchFamily="34" charset="-122"/>
                <a:cs typeface="Calibri" pitchFamily="34" charset="-120"/>
              </a:rPr>
              <a:t>Routes between model, agents,</a:t>
            </a:r>
            <a:endParaRPr lang="en-US" sz="1200" dirty="0"/>
          </a:p>
          <a:p>
            <a:pPr indent="0" marL="0">
              <a:lnSpc>
                <a:spcPct val="105000"/>
              </a:lnSpc>
              <a:buNone/>
            </a:pPr>
            <a:r>
              <a:rPr lang="en-US" sz="1200" dirty="0">
                <a:solidFill>
                  <a:srgbClr val="1F2937"/>
                </a:solidFill>
                <a:latin typeface="Calibri" pitchFamily="34" charset="0"/>
                <a:ea typeface="Calibri" pitchFamily="34" charset="-122"/>
                <a:cs typeface="Calibri" pitchFamily="34" charset="-120"/>
              </a:rPr>
              <a:t>tools, sandbox and approvals</a:t>
            </a:r>
            <a:endParaRPr lang="en-US" sz="1200" dirty="0"/>
          </a:p>
        </p:txBody>
      </p:sp>
      <p:sp>
        <p:nvSpPr>
          <p:cNvPr id="11" name="Text 5"/>
          <p:cNvSpPr txBox="1"/>
          <p:nvPr/>
        </p:nvSpPr>
        <p:spPr>
          <a:xfrm>
            <a:off x="1124712" y="3538728"/>
            <a:ext cx="1984248" cy="502920"/>
          </a:xfrm>
          <a:prstGeom prst="rect">
            <a:avLst/>
          </a:prstGeom>
          <a:noFill/>
          <a:ln/>
        </p:spPr>
        <p:txBody>
          <a:bodyPr wrap="square" lIns="0" tIns="0" rIns="0" bIns="0" rtlCol="0" anchor="t"/>
          <a:lstStyle/>
          <a:p>
            <a:pPr indent="0" marL="0">
              <a:lnSpc>
                <a:spcPct val="105000"/>
              </a:lnSpc>
              <a:buNone/>
            </a:pPr>
            <a:r>
              <a:rPr lang="en-US" sz="1100" dirty="0">
                <a:solidFill>
                  <a:srgbClr val="4B5563"/>
                </a:solidFill>
                <a:latin typeface="Calibri" pitchFamily="34" charset="0"/>
                <a:ea typeface="Calibri" pitchFamily="34" charset="-122"/>
                <a:cs typeface="Calibri" pitchFamily="34" charset="-120"/>
              </a:rPr>
              <a:t>Picks the right capability</a:t>
            </a:r>
            <a:endParaRPr lang="en-US" sz="1100" dirty="0"/>
          </a:p>
        </p:txBody>
      </p:sp>
      <p:pic>
        <p:nvPicPr>
          <p:cNvPr id="12" name="Image 4" descr="preencoded.png">    </p:cNvPr>
          <p:cNvPicPr>
            <a:picLocks noChangeAspect="1"/>
          </p:cNvPicPr>
          <p:nvPr/>
        </p:nvPicPr>
        <p:blipFill>
          <a:blip r:embed="rId5"/>
          <a:stretch>
            <a:fillRect/>
          </a:stretch>
        </p:blipFill>
        <p:spPr>
          <a:xfrm>
            <a:off x="594360" y="4288536"/>
            <a:ext cx="384048" cy="384048"/>
          </a:xfrm>
          <a:prstGeom prst="rect">
            <a:avLst/>
          </a:prstGeom>
        </p:spPr>
      </p:pic>
      <p:sp>
        <p:nvSpPr>
          <p:cNvPr id="13" name="Text 6"/>
          <p:cNvSpPr txBox="1"/>
          <p:nvPr/>
        </p:nvSpPr>
        <p:spPr>
          <a:xfrm>
            <a:off x="1124712" y="4215384"/>
            <a:ext cx="1984248" cy="548640"/>
          </a:xfrm>
          <a:prstGeom prst="rect">
            <a:avLst/>
          </a:prstGeom>
          <a:noFill/>
          <a:ln/>
        </p:spPr>
        <p:txBody>
          <a:bodyPr wrap="square" lIns="0" tIns="0" rIns="0" bIns="0" rtlCol="0" anchor="t"/>
          <a:lstStyle/>
          <a:p>
            <a:pPr indent="0" marL="0">
              <a:lnSpc>
                <a:spcPct val="105000"/>
              </a:lnSpc>
              <a:buNone/>
            </a:pPr>
            <a:r>
              <a:rPr lang="en-US" sz="1200" dirty="0">
                <a:solidFill>
                  <a:srgbClr val="1F2937"/>
                </a:solidFill>
                <a:latin typeface="Calibri" pitchFamily="34" charset="0"/>
                <a:ea typeface="Calibri" pitchFamily="34" charset="-122"/>
                <a:cs typeface="Calibri" pitchFamily="34" charset="-120"/>
              </a:rPr>
              <a:t>Enforces guardrails</a:t>
            </a:r>
            <a:endParaRPr lang="en-US" sz="1200" dirty="0"/>
          </a:p>
        </p:txBody>
      </p:sp>
      <p:sp>
        <p:nvSpPr>
          <p:cNvPr id="14" name="Text 7"/>
          <p:cNvSpPr txBox="1"/>
          <p:nvPr/>
        </p:nvSpPr>
        <p:spPr>
          <a:xfrm>
            <a:off x="1124712" y="4535424"/>
            <a:ext cx="1984248" cy="502920"/>
          </a:xfrm>
          <a:prstGeom prst="rect">
            <a:avLst/>
          </a:prstGeom>
          <a:noFill/>
          <a:ln/>
        </p:spPr>
        <p:txBody>
          <a:bodyPr wrap="square" lIns="0" tIns="0" rIns="0" bIns="0" rtlCol="0" anchor="t"/>
          <a:lstStyle/>
          <a:p>
            <a:pPr indent="0" marL="0">
              <a:lnSpc>
                <a:spcPct val="105000"/>
              </a:lnSpc>
              <a:buNone/>
            </a:pPr>
            <a:r>
              <a:rPr lang="en-US" sz="1100" dirty="0">
                <a:solidFill>
                  <a:srgbClr val="4B5563"/>
                </a:solidFill>
                <a:latin typeface="Calibri" pitchFamily="34" charset="0"/>
                <a:ea typeface="Calibri" pitchFamily="34" charset="-122"/>
                <a:cs typeface="Calibri" pitchFamily="34" charset="-120"/>
              </a:rPr>
              <a:t>Safety, policies and limits</a:t>
            </a:r>
            <a:endParaRPr lang="en-US" sz="1100" dirty="0"/>
          </a:p>
        </p:txBody>
      </p:sp>
      <p:pic>
        <p:nvPicPr>
          <p:cNvPr id="15" name="Image 5" descr="preencoded.png">    </p:cNvPr>
          <p:cNvPicPr>
            <a:picLocks noChangeAspect="1"/>
          </p:cNvPicPr>
          <p:nvPr/>
        </p:nvPicPr>
        <p:blipFill>
          <a:blip r:embed="rId6"/>
          <a:stretch>
            <a:fillRect/>
          </a:stretch>
        </p:blipFill>
        <p:spPr>
          <a:xfrm>
            <a:off x="594360" y="5340096"/>
            <a:ext cx="384048" cy="384048"/>
          </a:xfrm>
          <a:prstGeom prst="rect">
            <a:avLst/>
          </a:prstGeom>
        </p:spPr>
      </p:pic>
      <p:sp>
        <p:nvSpPr>
          <p:cNvPr id="16" name="Text 8"/>
          <p:cNvSpPr txBox="1"/>
          <p:nvPr/>
        </p:nvSpPr>
        <p:spPr>
          <a:xfrm>
            <a:off x="1124712" y="5266944"/>
            <a:ext cx="1984248" cy="548640"/>
          </a:xfrm>
          <a:prstGeom prst="rect">
            <a:avLst/>
          </a:prstGeom>
          <a:noFill/>
          <a:ln/>
        </p:spPr>
        <p:txBody>
          <a:bodyPr wrap="square" lIns="0" tIns="0" rIns="0" bIns="0" rtlCol="0" anchor="t"/>
          <a:lstStyle/>
          <a:p>
            <a:pPr indent="0" marL="0">
              <a:lnSpc>
                <a:spcPct val="105000"/>
              </a:lnSpc>
              <a:buNone/>
            </a:pPr>
            <a:r>
              <a:rPr lang="en-US" sz="1200" dirty="0">
                <a:solidFill>
                  <a:srgbClr val="1F2937"/>
                </a:solidFill>
                <a:latin typeface="Calibri" pitchFamily="34" charset="0"/>
                <a:ea typeface="Calibri" pitchFamily="34" charset="-122"/>
                <a:cs typeface="Calibri" pitchFamily="34" charset="-120"/>
              </a:rPr>
              <a:t>Records everything</a:t>
            </a:r>
            <a:endParaRPr lang="en-US" sz="1200" dirty="0"/>
          </a:p>
        </p:txBody>
      </p:sp>
      <p:sp>
        <p:nvSpPr>
          <p:cNvPr id="17" name="Text 9"/>
          <p:cNvSpPr txBox="1"/>
          <p:nvPr/>
        </p:nvSpPr>
        <p:spPr>
          <a:xfrm>
            <a:off x="1124712" y="5586984"/>
            <a:ext cx="1984248" cy="502920"/>
          </a:xfrm>
          <a:prstGeom prst="rect">
            <a:avLst/>
          </a:prstGeom>
          <a:noFill/>
          <a:ln/>
        </p:spPr>
        <p:txBody>
          <a:bodyPr wrap="square" lIns="0" tIns="0" rIns="0" bIns="0" rtlCol="0" anchor="t"/>
          <a:lstStyle/>
          <a:p>
            <a:pPr indent="0" marL="0">
              <a:lnSpc>
                <a:spcPct val="105000"/>
              </a:lnSpc>
              <a:buNone/>
            </a:pPr>
            <a:r>
              <a:rPr lang="en-US" sz="1100" dirty="0">
                <a:solidFill>
                  <a:srgbClr val="4B5563"/>
                </a:solidFill>
                <a:latin typeface="Calibri" pitchFamily="34" charset="0"/>
                <a:ea typeface="Calibri" pitchFamily="34" charset="-122"/>
                <a:cs typeface="Calibri" pitchFamily="34" charset="-120"/>
              </a:rPr>
              <a:t>Full trace for transparency</a:t>
            </a:r>
            <a:endParaRPr lang="en-US" sz="1100" dirty="0"/>
          </a:p>
          <a:p>
            <a:pPr indent="0" marL="0">
              <a:lnSpc>
                <a:spcPct val="105000"/>
              </a:lnSpc>
              <a:buNone/>
            </a:pPr>
            <a:r>
              <a:rPr lang="en-US" sz="1100" dirty="0">
                <a:solidFill>
                  <a:srgbClr val="4B5563"/>
                </a:solidFill>
                <a:latin typeface="Calibri" pitchFamily="34" charset="0"/>
                <a:ea typeface="Calibri" pitchFamily="34" charset="-122"/>
                <a:cs typeface="Calibri" pitchFamily="34" charset="-120"/>
              </a:rPr>
              <a:t>and debugging</a:t>
            </a:r>
            <a:endParaRPr lang="en-US" sz="1100" dirty="0"/>
          </a:p>
        </p:txBody>
      </p:sp>
      <p:sp>
        <p:nvSpPr>
          <p:cNvPr id="18" name="Shape 10"/>
          <p:cNvSpPr/>
          <p:nvPr/>
        </p:nvSpPr>
        <p:spPr>
          <a:xfrm>
            <a:off x="3749040" y="457200"/>
            <a:ext cx="1783080" cy="6035040"/>
          </a:xfrm>
          <a:prstGeom prst="roundRect">
            <a:avLst>
              <a:gd name="adj" fmla="val 5128"/>
            </a:avLst>
          </a:prstGeom>
          <a:solidFill>
            <a:srgbClr val="F2FBF8"/>
          </a:solidFill>
          <a:ln w="19050">
            <a:solidFill>
              <a:srgbClr val="A8DDCB"/>
            </a:solidFill>
            <a:prstDash val="solid"/>
          </a:ln>
        </p:spPr>
      </p:sp>
      <p:sp>
        <p:nvSpPr>
          <p:cNvPr id="19" name="Shape 11"/>
          <p:cNvSpPr/>
          <p:nvPr/>
        </p:nvSpPr>
        <p:spPr>
          <a:xfrm>
            <a:off x="4320540" y="777240"/>
            <a:ext cx="640080" cy="640080"/>
          </a:xfrm>
          <a:prstGeom prst="ellipse">
            <a:avLst/>
          </a:prstGeom>
          <a:solidFill>
            <a:srgbClr val="0F9D76"/>
          </a:solidFill>
          <a:ln w="12700">
            <a:solidFill>
              <a:srgbClr val="0F9D76"/>
            </a:solidFill>
            <a:prstDash val="solid"/>
          </a:ln>
        </p:spPr>
      </p:sp>
      <p:pic>
        <p:nvPicPr>
          <p:cNvPr id="20" name="Image 6" descr="preencoded.png">    </p:cNvPr>
          <p:cNvPicPr>
            <a:picLocks noChangeAspect="1"/>
          </p:cNvPicPr>
          <p:nvPr/>
        </p:nvPicPr>
        <p:blipFill>
          <a:blip r:embed="rId7"/>
          <a:stretch>
            <a:fillRect/>
          </a:stretch>
        </p:blipFill>
        <p:spPr>
          <a:xfrm>
            <a:off x="4466844" y="923544"/>
            <a:ext cx="347472" cy="347472"/>
          </a:xfrm>
          <a:prstGeom prst="rect">
            <a:avLst/>
          </a:prstGeom>
        </p:spPr>
      </p:pic>
      <p:sp>
        <p:nvSpPr>
          <p:cNvPr id="21" name="Text 12"/>
          <p:cNvSpPr txBox="1"/>
          <p:nvPr/>
        </p:nvSpPr>
        <p:spPr>
          <a:xfrm>
            <a:off x="3840480" y="1554480"/>
            <a:ext cx="1600200" cy="640080"/>
          </a:xfrm>
          <a:prstGeom prst="rect">
            <a:avLst/>
          </a:prstGeom>
          <a:noFill/>
          <a:ln/>
        </p:spPr>
        <p:txBody>
          <a:bodyPr wrap="square" lIns="0" tIns="0" rIns="0" bIns="0" rtlCol="0" anchor="ctr"/>
          <a:lstStyle/>
          <a:p>
            <a:pPr algn="ctr" indent="0" marL="0">
              <a:lnSpc>
                <a:spcPct val="100000"/>
              </a:lnSpc>
              <a:buNone/>
            </a:pPr>
            <a:r>
              <a:rPr lang="en-US" sz="1600" b="1" dirty="0">
                <a:solidFill>
                  <a:srgbClr val="0A7355"/>
                </a:solidFill>
                <a:latin typeface="Calibri" pitchFamily="34" charset="0"/>
                <a:ea typeface="Calibri" pitchFamily="34" charset="-122"/>
                <a:cs typeface="Calibri" pitchFamily="34" charset="-120"/>
              </a:rPr>
              <a:t>Kong AI</a:t>
            </a:r>
            <a:endParaRPr lang="en-US" sz="1600" dirty="0"/>
          </a:p>
          <a:p>
            <a:pPr algn="ctr" indent="0" marL="0">
              <a:lnSpc>
                <a:spcPct val="100000"/>
              </a:lnSpc>
              <a:buNone/>
            </a:pPr>
            <a:r>
              <a:rPr lang="en-US" sz="1600" b="1" dirty="0">
                <a:solidFill>
                  <a:srgbClr val="0A7355"/>
                </a:solidFill>
                <a:latin typeface="Calibri" pitchFamily="34" charset="0"/>
                <a:ea typeface="Calibri" pitchFamily="34" charset="-122"/>
                <a:cs typeface="Calibri" pitchFamily="34" charset="-120"/>
              </a:rPr>
              <a:t>Gateway</a:t>
            </a:r>
            <a:endParaRPr lang="en-US" sz="1600" dirty="0"/>
          </a:p>
        </p:txBody>
      </p:sp>
      <p:sp>
        <p:nvSpPr>
          <p:cNvPr id="22" name="Text 13"/>
          <p:cNvSpPr txBox="1"/>
          <p:nvPr/>
        </p:nvSpPr>
        <p:spPr>
          <a:xfrm>
            <a:off x="3840480" y="2240280"/>
            <a:ext cx="1600200" cy="548640"/>
          </a:xfrm>
          <a:prstGeom prst="rect">
            <a:avLst/>
          </a:prstGeom>
          <a:noFill/>
          <a:ln/>
        </p:spPr>
        <p:txBody>
          <a:bodyPr wrap="square" lIns="0" tIns="0" rIns="0" bIns="0" rtlCol="0" anchor="ctr"/>
          <a:lstStyle/>
          <a:p>
            <a:pPr algn="ctr" indent="0" marL="0">
              <a:lnSpc>
                <a:spcPct val="105000"/>
              </a:lnSpc>
              <a:buNone/>
            </a:pPr>
            <a:r>
              <a:rPr lang="en-US" sz="1000" i="1" dirty="0">
                <a:solidFill>
                  <a:srgbClr val="4B5563"/>
                </a:solidFill>
                <a:latin typeface="Calibri" pitchFamily="34" charset="0"/>
                <a:ea typeface="Calibri" pitchFamily="34" charset="-122"/>
                <a:cs typeface="Calibri" pitchFamily="34" charset="-120"/>
              </a:rPr>
              <a:t>One control point for</a:t>
            </a:r>
            <a:endParaRPr lang="en-US" sz="1000" dirty="0"/>
          </a:p>
          <a:p>
            <a:pPr algn="ctr" indent="0" marL="0">
              <a:lnSpc>
                <a:spcPct val="105000"/>
              </a:lnSpc>
              <a:buNone/>
            </a:pPr>
            <a:r>
              <a:rPr lang="en-US" sz="1000" i="1" dirty="0">
                <a:solidFill>
                  <a:srgbClr val="4B5563"/>
                </a:solidFill>
                <a:latin typeface="Calibri" pitchFamily="34" charset="0"/>
                <a:ea typeface="Calibri" pitchFamily="34" charset="-122"/>
                <a:cs typeface="Calibri" pitchFamily="34" charset="-120"/>
              </a:rPr>
              <a:t>all model and tool traffic</a:t>
            </a:r>
            <a:endParaRPr lang="en-US" sz="1000" dirty="0"/>
          </a:p>
        </p:txBody>
      </p:sp>
      <p:sp>
        <p:nvSpPr>
          <p:cNvPr id="23" name="Text 14"/>
          <p:cNvSpPr txBox="1"/>
          <p:nvPr/>
        </p:nvSpPr>
        <p:spPr>
          <a:xfrm>
            <a:off x="3913632" y="2971800"/>
            <a:ext cx="1490472" cy="3291840"/>
          </a:xfrm>
          <a:prstGeom prst="rect">
            <a:avLst/>
          </a:prstGeom>
          <a:noFill/>
          <a:ln/>
        </p:spPr>
        <p:txBody>
          <a:bodyPr wrap="square" lIns="0" tIns="0" rIns="0" bIns="0" rtlCol="0" anchor="t"/>
          <a:lstStyle/>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A2A and MCP proxying</a:t>
            </a:r>
            <a:endParaRPr lang="en-US" sz="1100" dirty="0"/>
          </a:p>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Auth and key vaulting</a:t>
            </a:r>
            <a:endParaRPr lang="en-US" sz="1100" dirty="0"/>
          </a:p>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Rate limits and cost caps</a:t>
            </a:r>
            <a:endParaRPr lang="en-US" sz="1100" dirty="0"/>
          </a:p>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Prompt and PII guardrails</a:t>
            </a:r>
            <a:endParaRPr lang="en-US" sz="1100" dirty="0"/>
          </a:p>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Semantic caching and routing</a:t>
            </a:r>
            <a:endParaRPr lang="en-US" sz="1100" dirty="0"/>
          </a:p>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Model failover and fallbacks</a:t>
            </a:r>
            <a:endParaRPr lang="en-US" sz="1100" dirty="0"/>
          </a:p>
          <a:p>
            <a:pPr marL="139700" indent="-139700">
              <a:lnSpc>
                <a:spcPct val="100000"/>
              </a:lnSpc>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Metrics, logs and traces</a:t>
            </a:r>
            <a:endParaRPr lang="en-US" sz="1100" dirty="0"/>
          </a:p>
        </p:txBody>
      </p:sp>
      <p:sp>
        <p:nvSpPr>
          <p:cNvPr id="24" name="Shape 15"/>
          <p:cNvSpPr/>
          <p:nvPr/>
        </p:nvSpPr>
        <p:spPr>
          <a:xfrm>
            <a:off x="5989320" y="411480"/>
            <a:ext cx="3108960" cy="1097280"/>
          </a:xfrm>
          <a:prstGeom prst="roundRect">
            <a:avLst>
              <a:gd name="adj" fmla="val 10000"/>
            </a:avLst>
          </a:prstGeom>
          <a:solidFill>
            <a:srgbClr val="FFFFFF"/>
          </a:solidFill>
          <a:ln w="15875">
            <a:solidFill>
              <a:srgbClr val="D8D2F2"/>
            </a:solidFill>
            <a:prstDash val="solid"/>
          </a:ln>
        </p:spPr>
      </p:sp>
      <p:sp>
        <p:nvSpPr>
          <p:cNvPr id="25" name="Shape 16"/>
          <p:cNvSpPr/>
          <p:nvPr/>
        </p:nvSpPr>
        <p:spPr>
          <a:xfrm>
            <a:off x="6190488" y="694944"/>
            <a:ext cx="566928" cy="566928"/>
          </a:xfrm>
          <a:prstGeom prst="ellipse">
            <a:avLst/>
          </a:prstGeom>
          <a:solidFill>
            <a:srgbClr val="6D28D9"/>
          </a:solidFill>
          <a:ln w="12700">
            <a:solidFill>
              <a:srgbClr val="6D28D9"/>
            </a:solidFill>
            <a:prstDash val="solid"/>
          </a:ln>
        </p:spPr>
      </p:sp>
      <p:pic>
        <p:nvPicPr>
          <p:cNvPr id="26" name="Image 7" descr="preencoded.png">    </p:cNvPr>
          <p:cNvPicPr>
            <a:picLocks noChangeAspect="1"/>
          </p:cNvPicPr>
          <p:nvPr/>
        </p:nvPicPr>
        <p:blipFill>
          <a:blip r:embed="rId8"/>
          <a:stretch>
            <a:fillRect/>
          </a:stretch>
        </p:blipFill>
        <p:spPr>
          <a:xfrm>
            <a:off x="6318504" y="822960"/>
            <a:ext cx="310896" cy="310896"/>
          </a:xfrm>
          <a:prstGeom prst="rect">
            <a:avLst/>
          </a:prstGeom>
        </p:spPr>
      </p:pic>
      <p:sp>
        <p:nvSpPr>
          <p:cNvPr id="27" name="Text 17"/>
          <p:cNvSpPr txBox="1"/>
          <p:nvPr/>
        </p:nvSpPr>
        <p:spPr>
          <a:xfrm>
            <a:off x="6931152" y="502920"/>
            <a:ext cx="2011680" cy="347472"/>
          </a:xfrm>
          <a:prstGeom prst="rect">
            <a:avLst/>
          </a:prstGeom>
          <a:noFill/>
          <a:ln/>
        </p:spPr>
        <p:txBody>
          <a:bodyPr wrap="square" lIns="0" tIns="0" rIns="0" bIns="0" rtlCol="0" anchor="t"/>
          <a:lstStyle/>
          <a:p>
            <a:pPr indent="0" marL="0">
              <a:lnSpc>
                <a:spcPct val="95000"/>
              </a:lnSpc>
              <a:buNone/>
            </a:pPr>
            <a:r>
              <a:rPr lang="en-US" sz="1600" b="1" dirty="0">
                <a:solidFill>
                  <a:srgbClr val="5B21B6"/>
                </a:solidFill>
                <a:latin typeface="Calibri" pitchFamily="34" charset="0"/>
                <a:ea typeface="Calibri" pitchFamily="34" charset="-122"/>
                <a:cs typeface="Calibri" pitchFamily="34" charset="-120"/>
              </a:rPr>
              <a:t>Model</a:t>
            </a:r>
            <a:endParaRPr lang="en-US" sz="1600" dirty="0"/>
          </a:p>
        </p:txBody>
      </p:sp>
      <p:sp>
        <p:nvSpPr>
          <p:cNvPr id="28" name="Text 18"/>
          <p:cNvSpPr txBox="1"/>
          <p:nvPr/>
        </p:nvSpPr>
        <p:spPr>
          <a:xfrm>
            <a:off x="6931152" y="832104"/>
            <a:ext cx="2011680" cy="640080"/>
          </a:xfrm>
          <a:prstGeom prst="rect">
            <a:avLst/>
          </a:prstGeom>
          <a:noFill/>
          <a:ln/>
        </p:spPr>
        <p:txBody>
          <a:bodyPr wrap="square" lIns="0" tIns="0" rIns="0" bIns="0"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The LLM that reasons, plans</a:t>
            </a:r>
            <a:endParaRPr lang="en-US" sz="1150" dirty="0"/>
          </a:p>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and generates responses.</a:t>
            </a:r>
            <a:endParaRPr lang="en-US" sz="1150" dirty="0"/>
          </a:p>
        </p:txBody>
      </p:sp>
      <p:sp>
        <p:nvSpPr>
          <p:cNvPr id="29" name="Shape 19"/>
          <p:cNvSpPr/>
          <p:nvPr/>
        </p:nvSpPr>
        <p:spPr>
          <a:xfrm>
            <a:off x="5989320" y="1668780"/>
            <a:ext cx="3108960" cy="1097280"/>
          </a:xfrm>
          <a:prstGeom prst="roundRect">
            <a:avLst>
              <a:gd name="adj" fmla="val 10000"/>
            </a:avLst>
          </a:prstGeom>
          <a:solidFill>
            <a:srgbClr val="F6F7FE"/>
          </a:solidFill>
          <a:ln w="15875">
            <a:solidFill>
              <a:srgbClr val="C7CCF7"/>
            </a:solidFill>
            <a:prstDash val="solid"/>
          </a:ln>
        </p:spPr>
      </p:sp>
      <p:sp>
        <p:nvSpPr>
          <p:cNvPr id="30" name="Shape 20"/>
          <p:cNvSpPr/>
          <p:nvPr/>
        </p:nvSpPr>
        <p:spPr>
          <a:xfrm>
            <a:off x="6190488" y="1952244"/>
            <a:ext cx="566928" cy="566928"/>
          </a:xfrm>
          <a:prstGeom prst="ellipse">
            <a:avLst/>
          </a:prstGeom>
          <a:solidFill>
            <a:srgbClr val="4338CA"/>
          </a:solidFill>
          <a:ln w="12700">
            <a:solidFill>
              <a:srgbClr val="4338CA"/>
            </a:solidFill>
            <a:prstDash val="solid"/>
          </a:ln>
        </p:spPr>
      </p:sp>
      <p:pic>
        <p:nvPicPr>
          <p:cNvPr id="31" name="Image 8" descr="preencoded.png">    </p:cNvPr>
          <p:cNvPicPr>
            <a:picLocks noChangeAspect="1"/>
          </p:cNvPicPr>
          <p:nvPr/>
        </p:nvPicPr>
        <p:blipFill>
          <a:blip r:embed="rId9"/>
          <a:stretch>
            <a:fillRect/>
          </a:stretch>
        </p:blipFill>
        <p:spPr>
          <a:xfrm>
            <a:off x="6318504" y="2080260"/>
            <a:ext cx="310896" cy="310896"/>
          </a:xfrm>
          <a:prstGeom prst="rect">
            <a:avLst/>
          </a:prstGeom>
        </p:spPr>
      </p:pic>
      <p:sp>
        <p:nvSpPr>
          <p:cNvPr id="32" name="Text 21"/>
          <p:cNvSpPr txBox="1"/>
          <p:nvPr/>
        </p:nvSpPr>
        <p:spPr>
          <a:xfrm>
            <a:off x="6931152" y="1760220"/>
            <a:ext cx="2011680" cy="347472"/>
          </a:xfrm>
          <a:prstGeom prst="rect">
            <a:avLst/>
          </a:prstGeom>
          <a:noFill/>
          <a:ln/>
        </p:spPr>
        <p:txBody>
          <a:bodyPr wrap="square" lIns="0" tIns="0" rIns="0" bIns="0" rtlCol="0" anchor="t"/>
          <a:lstStyle/>
          <a:p>
            <a:pPr indent="0" marL="0">
              <a:lnSpc>
                <a:spcPct val="95000"/>
              </a:lnSpc>
              <a:buNone/>
            </a:pPr>
            <a:r>
              <a:rPr lang="en-US" sz="1600" b="1" dirty="0">
                <a:solidFill>
                  <a:srgbClr val="3730A3"/>
                </a:solidFill>
                <a:latin typeface="Calibri" pitchFamily="34" charset="0"/>
                <a:ea typeface="Calibri" pitchFamily="34" charset="-122"/>
                <a:cs typeface="Calibri" pitchFamily="34" charset="-120"/>
              </a:rPr>
              <a:t>Peer Agents (A2A)</a:t>
            </a:r>
            <a:endParaRPr lang="en-US" sz="1600" dirty="0"/>
          </a:p>
        </p:txBody>
      </p:sp>
      <p:sp>
        <p:nvSpPr>
          <p:cNvPr id="33" name="Text 22"/>
          <p:cNvSpPr txBox="1"/>
          <p:nvPr/>
        </p:nvSpPr>
        <p:spPr>
          <a:xfrm>
            <a:off x="6931152" y="2089404"/>
            <a:ext cx="2011680" cy="640080"/>
          </a:xfrm>
          <a:prstGeom prst="rect">
            <a:avLst/>
          </a:prstGeom>
          <a:noFill/>
          <a:ln/>
        </p:spPr>
        <p:txBody>
          <a:bodyPr wrap="square" lIns="0" tIns="0" rIns="0" bIns="0"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Other agents the harness</a:t>
            </a:r>
            <a:endParaRPr lang="en-US" sz="1150" dirty="0"/>
          </a:p>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delegates tasks to over A2A.</a:t>
            </a:r>
            <a:endParaRPr lang="en-US" sz="1150" dirty="0"/>
          </a:p>
        </p:txBody>
      </p:sp>
      <p:sp>
        <p:nvSpPr>
          <p:cNvPr id="34" name="Shape 23"/>
          <p:cNvSpPr/>
          <p:nvPr/>
        </p:nvSpPr>
        <p:spPr>
          <a:xfrm>
            <a:off x="5989320" y="2926080"/>
            <a:ext cx="3108960" cy="1097280"/>
          </a:xfrm>
          <a:prstGeom prst="roundRect">
            <a:avLst>
              <a:gd name="adj" fmla="val 10000"/>
            </a:avLst>
          </a:prstGeom>
          <a:solidFill>
            <a:srgbClr val="F7FCF8"/>
          </a:solidFill>
          <a:ln w="15875">
            <a:solidFill>
              <a:srgbClr val="BFE0C7"/>
            </a:solidFill>
            <a:prstDash val="solid"/>
          </a:ln>
        </p:spPr>
      </p:sp>
      <p:sp>
        <p:nvSpPr>
          <p:cNvPr id="35" name="Shape 24"/>
          <p:cNvSpPr/>
          <p:nvPr/>
        </p:nvSpPr>
        <p:spPr>
          <a:xfrm>
            <a:off x="6190488" y="3209544"/>
            <a:ext cx="566928" cy="566928"/>
          </a:xfrm>
          <a:prstGeom prst="ellipse">
            <a:avLst/>
          </a:prstGeom>
          <a:solidFill>
            <a:srgbClr val="15803D"/>
          </a:solidFill>
          <a:ln w="12700">
            <a:solidFill>
              <a:srgbClr val="15803D"/>
            </a:solidFill>
            <a:prstDash val="solid"/>
          </a:ln>
        </p:spPr>
      </p:sp>
      <p:pic>
        <p:nvPicPr>
          <p:cNvPr id="36" name="Image 9" descr="preencoded.png">    </p:cNvPr>
          <p:cNvPicPr>
            <a:picLocks noChangeAspect="1"/>
          </p:cNvPicPr>
          <p:nvPr/>
        </p:nvPicPr>
        <p:blipFill>
          <a:blip r:embed="rId10"/>
          <a:stretch>
            <a:fillRect/>
          </a:stretch>
        </p:blipFill>
        <p:spPr>
          <a:xfrm>
            <a:off x="6318504" y="3337560"/>
            <a:ext cx="310896" cy="310896"/>
          </a:xfrm>
          <a:prstGeom prst="rect">
            <a:avLst/>
          </a:prstGeom>
        </p:spPr>
      </p:pic>
      <p:sp>
        <p:nvSpPr>
          <p:cNvPr id="37" name="Text 25"/>
          <p:cNvSpPr txBox="1"/>
          <p:nvPr/>
        </p:nvSpPr>
        <p:spPr>
          <a:xfrm>
            <a:off x="6931152" y="3017520"/>
            <a:ext cx="2011680" cy="347472"/>
          </a:xfrm>
          <a:prstGeom prst="rect">
            <a:avLst/>
          </a:prstGeom>
          <a:noFill/>
          <a:ln/>
        </p:spPr>
        <p:txBody>
          <a:bodyPr wrap="square" lIns="0" tIns="0" rIns="0" bIns="0" rtlCol="0" anchor="t"/>
          <a:lstStyle/>
          <a:p>
            <a:pPr indent="0" marL="0">
              <a:lnSpc>
                <a:spcPct val="95000"/>
              </a:lnSpc>
              <a:buNone/>
            </a:pPr>
            <a:r>
              <a:rPr lang="en-US" sz="1600" b="1" dirty="0">
                <a:solidFill>
                  <a:srgbClr val="166534"/>
                </a:solidFill>
                <a:latin typeface="Calibri" pitchFamily="34" charset="0"/>
                <a:ea typeface="Calibri" pitchFamily="34" charset="-122"/>
                <a:cs typeface="Calibri" pitchFamily="34" charset="-120"/>
              </a:rPr>
              <a:t>Tools and MCP Servers</a:t>
            </a:r>
            <a:endParaRPr lang="en-US" sz="1600" dirty="0"/>
          </a:p>
        </p:txBody>
      </p:sp>
      <p:sp>
        <p:nvSpPr>
          <p:cNvPr id="38" name="Text 26"/>
          <p:cNvSpPr txBox="1"/>
          <p:nvPr/>
        </p:nvSpPr>
        <p:spPr>
          <a:xfrm>
            <a:off x="6931152" y="3346704"/>
            <a:ext cx="2011680" cy="640080"/>
          </a:xfrm>
          <a:prstGeom prst="rect">
            <a:avLst/>
          </a:prstGeom>
          <a:noFill/>
          <a:ln/>
        </p:spPr>
        <p:txBody>
          <a:bodyPr wrap="square" lIns="0" tIns="0" rIns="0" bIns="0"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External capabilities the</a:t>
            </a:r>
            <a:endParaRPr lang="en-US" sz="1150" dirty="0"/>
          </a:p>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agent can use.</a:t>
            </a:r>
            <a:endParaRPr lang="en-US" sz="1150" dirty="0"/>
          </a:p>
        </p:txBody>
      </p:sp>
      <p:sp>
        <p:nvSpPr>
          <p:cNvPr id="39" name="Shape 27"/>
          <p:cNvSpPr/>
          <p:nvPr/>
        </p:nvSpPr>
        <p:spPr>
          <a:xfrm>
            <a:off x="5989320" y="4183380"/>
            <a:ext cx="3108960" cy="1097280"/>
          </a:xfrm>
          <a:prstGeom prst="roundRect">
            <a:avLst>
              <a:gd name="adj" fmla="val 10000"/>
            </a:avLst>
          </a:prstGeom>
          <a:solidFill>
            <a:srgbClr val="FFFBF7"/>
          </a:solidFill>
          <a:ln w="15875">
            <a:solidFill>
              <a:srgbClr val="F8D6BC"/>
            </a:solidFill>
            <a:prstDash val="solid"/>
          </a:ln>
        </p:spPr>
      </p:sp>
      <p:sp>
        <p:nvSpPr>
          <p:cNvPr id="40" name="Shape 28"/>
          <p:cNvSpPr/>
          <p:nvPr/>
        </p:nvSpPr>
        <p:spPr>
          <a:xfrm>
            <a:off x="6190488" y="4466844"/>
            <a:ext cx="566928" cy="566928"/>
          </a:xfrm>
          <a:prstGeom prst="ellipse">
            <a:avLst/>
          </a:prstGeom>
          <a:solidFill>
            <a:srgbClr val="EA580C"/>
          </a:solidFill>
          <a:ln w="12700">
            <a:solidFill>
              <a:srgbClr val="EA580C"/>
            </a:solidFill>
            <a:prstDash val="solid"/>
          </a:ln>
        </p:spPr>
      </p:sp>
      <p:pic>
        <p:nvPicPr>
          <p:cNvPr id="41" name="Image 10" descr="preencoded.png">    </p:cNvPr>
          <p:cNvPicPr>
            <a:picLocks noChangeAspect="1"/>
          </p:cNvPicPr>
          <p:nvPr/>
        </p:nvPicPr>
        <p:blipFill>
          <a:blip r:embed="rId11"/>
          <a:stretch>
            <a:fillRect/>
          </a:stretch>
        </p:blipFill>
        <p:spPr>
          <a:xfrm>
            <a:off x="6318504" y="4594860"/>
            <a:ext cx="310896" cy="310896"/>
          </a:xfrm>
          <a:prstGeom prst="rect">
            <a:avLst/>
          </a:prstGeom>
        </p:spPr>
      </p:pic>
      <p:sp>
        <p:nvSpPr>
          <p:cNvPr id="42" name="Text 29"/>
          <p:cNvSpPr txBox="1"/>
          <p:nvPr/>
        </p:nvSpPr>
        <p:spPr>
          <a:xfrm>
            <a:off x="6931152" y="4274820"/>
            <a:ext cx="2011680" cy="347472"/>
          </a:xfrm>
          <a:prstGeom prst="rect">
            <a:avLst/>
          </a:prstGeom>
          <a:noFill/>
          <a:ln/>
        </p:spPr>
        <p:txBody>
          <a:bodyPr wrap="square" lIns="0" tIns="0" rIns="0" bIns="0" rtlCol="0" anchor="t"/>
          <a:lstStyle/>
          <a:p>
            <a:pPr indent="0" marL="0">
              <a:lnSpc>
                <a:spcPct val="95000"/>
              </a:lnSpc>
              <a:buNone/>
            </a:pPr>
            <a:r>
              <a:rPr lang="en-US" sz="1600" b="1" dirty="0">
                <a:solidFill>
                  <a:srgbClr val="C2410C"/>
                </a:solidFill>
                <a:latin typeface="Calibri" pitchFamily="34" charset="0"/>
                <a:ea typeface="Calibri" pitchFamily="34" charset="-122"/>
                <a:cs typeface="Calibri" pitchFamily="34" charset="-120"/>
              </a:rPr>
              <a:t>Sandbox</a:t>
            </a:r>
            <a:endParaRPr lang="en-US" sz="1600" dirty="0"/>
          </a:p>
        </p:txBody>
      </p:sp>
      <p:sp>
        <p:nvSpPr>
          <p:cNvPr id="43" name="Text 30"/>
          <p:cNvSpPr txBox="1"/>
          <p:nvPr/>
        </p:nvSpPr>
        <p:spPr>
          <a:xfrm>
            <a:off x="6931152" y="4604004"/>
            <a:ext cx="2011680" cy="640080"/>
          </a:xfrm>
          <a:prstGeom prst="rect">
            <a:avLst/>
          </a:prstGeom>
          <a:noFill/>
          <a:ln/>
        </p:spPr>
        <p:txBody>
          <a:bodyPr wrap="square" lIns="0" tIns="0" rIns="0" bIns="0"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Isolated environment to run</a:t>
            </a:r>
            <a:endParaRPr lang="en-US" sz="1150" dirty="0"/>
          </a:p>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code and process data safely.</a:t>
            </a:r>
            <a:endParaRPr lang="en-US" sz="1150" dirty="0"/>
          </a:p>
        </p:txBody>
      </p:sp>
      <p:sp>
        <p:nvSpPr>
          <p:cNvPr id="44" name="Shape 31"/>
          <p:cNvSpPr/>
          <p:nvPr/>
        </p:nvSpPr>
        <p:spPr>
          <a:xfrm>
            <a:off x="5989320" y="5440680"/>
            <a:ext cx="3108960" cy="1097280"/>
          </a:xfrm>
          <a:prstGeom prst="roundRect">
            <a:avLst>
              <a:gd name="adj" fmla="val 10000"/>
            </a:avLst>
          </a:prstGeom>
          <a:solidFill>
            <a:srgbClr val="FFFDF6"/>
          </a:solidFill>
          <a:ln w="15875">
            <a:solidFill>
              <a:srgbClr val="F7E0AE"/>
            </a:solidFill>
            <a:prstDash val="solid"/>
          </a:ln>
        </p:spPr>
      </p:sp>
      <p:sp>
        <p:nvSpPr>
          <p:cNvPr id="45" name="Shape 32"/>
          <p:cNvSpPr/>
          <p:nvPr/>
        </p:nvSpPr>
        <p:spPr>
          <a:xfrm>
            <a:off x="6190488" y="5724144"/>
            <a:ext cx="566928" cy="566928"/>
          </a:xfrm>
          <a:prstGeom prst="ellipse">
            <a:avLst/>
          </a:prstGeom>
          <a:solidFill>
            <a:srgbClr val="F0A81E"/>
          </a:solidFill>
          <a:ln w="12700">
            <a:solidFill>
              <a:srgbClr val="F0A81E"/>
            </a:solidFill>
            <a:prstDash val="solid"/>
          </a:ln>
        </p:spPr>
      </p:sp>
      <p:pic>
        <p:nvPicPr>
          <p:cNvPr id="46" name="Image 11" descr="preencoded.png">    </p:cNvPr>
          <p:cNvPicPr>
            <a:picLocks noChangeAspect="1"/>
          </p:cNvPicPr>
          <p:nvPr/>
        </p:nvPicPr>
        <p:blipFill>
          <a:blip r:embed="rId12"/>
          <a:stretch>
            <a:fillRect/>
          </a:stretch>
        </p:blipFill>
        <p:spPr>
          <a:xfrm>
            <a:off x="6318504" y="5852160"/>
            <a:ext cx="310896" cy="310896"/>
          </a:xfrm>
          <a:prstGeom prst="rect">
            <a:avLst/>
          </a:prstGeom>
        </p:spPr>
      </p:pic>
      <p:sp>
        <p:nvSpPr>
          <p:cNvPr id="47" name="Text 33"/>
          <p:cNvSpPr txBox="1"/>
          <p:nvPr/>
        </p:nvSpPr>
        <p:spPr>
          <a:xfrm>
            <a:off x="6931152" y="5532120"/>
            <a:ext cx="2011680" cy="347472"/>
          </a:xfrm>
          <a:prstGeom prst="rect">
            <a:avLst/>
          </a:prstGeom>
          <a:noFill/>
          <a:ln/>
        </p:spPr>
        <p:txBody>
          <a:bodyPr wrap="square" lIns="0" tIns="0" rIns="0" bIns="0" rtlCol="0" anchor="t"/>
          <a:lstStyle/>
          <a:p>
            <a:pPr indent="0" marL="0">
              <a:lnSpc>
                <a:spcPct val="95000"/>
              </a:lnSpc>
              <a:buNone/>
            </a:pPr>
            <a:r>
              <a:rPr lang="en-US" sz="1600" b="1" dirty="0">
                <a:solidFill>
                  <a:srgbClr val="B45309"/>
                </a:solidFill>
                <a:latin typeface="Calibri" pitchFamily="34" charset="0"/>
                <a:ea typeface="Calibri" pitchFamily="34" charset="-122"/>
                <a:cs typeface="Calibri" pitchFamily="34" charset="-120"/>
              </a:rPr>
              <a:t>Approval Gates</a:t>
            </a:r>
            <a:endParaRPr lang="en-US" sz="1600" dirty="0"/>
          </a:p>
        </p:txBody>
      </p:sp>
      <p:sp>
        <p:nvSpPr>
          <p:cNvPr id="48" name="Text 34"/>
          <p:cNvSpPr txBox="1"/>
          <p:nvPr/>
        </p:nvSpPr>
        <p:spPr>
          <a:xfrm>
            <a:off x="6931152" y="5861304"/>
            <a:ext cx="2011680" cy="640080"/>
          </a:xfrm>
          <a:prstGeom prst="rect">
            <a:avLst/>
          </a:prstGeom>
          <a:noFill/>
          <a:ln/>
        </p:spPr>
        <p:txBody>
          <a:bodyPr wrap="square" lIns="0" tIns="0" rIns="0" bIns="0"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Human or policy approvals for</a:t>
            </a:r>
            <a:endParaRPr lang="en-US" sz="1150" dirty="0"/>
          </a:p>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sensitive or high-impact actions.</a:t>
            </a:r>
            <a:endParaRPr lang="en-US" sz="1150" dirty="0"/>
          </a:p>
        </p:txBody>
      </p:sp>
      <p:sp>
        <p:nvSpPr>
          <p:cNvPr id="49" name="Shape 35"/>
          <p:cNvSpPr/>
          <p:nvPr/>
        </p:nvSpPr>
        <p:spPr>
          <a:xfrm>
            <a:off x="3319272" y="3246120"/>
            <a:ext cx="356616" cy="0"/>
          </a:xfrm>
          <a:prstGeom prst="line">
            <a:avLst/>
          </a:prstGeom>
          <a:noFill/>
          <a:ln w="28575">
            <a:solidFill>
              <a:srgbClr val="2B3A67"/>
            </a:solidFill>
            <a:prstDash val="dash"/>
            <a:tailEnd type="triangle"/>
          </a:ln>
        </p:spPr>
      </p:sp>
      <p:sp>
        <p:nvSpPr>
          <p:cNvPr id="50" name="Shape 36"/>
          <p:cNvSpPr/>
          <p:nvPr/>
        </p:nvSpPr>
        <p:spPr>
          <a:xfrm>
            <a:off x="3319272" y="3703320"/>
            <a:ext cx="356616" cy="0"/>
          </a:xfrm>
          <a:prstGeom prst="line">
            <a:avLst/>
          </a:prstGeom>
          <a:noFill/>
          <a:ln w="28575">
            <a:solidFill>
              <a:srgbClr val="9BA8DF"/>
            </a:solidFill>
            <a:prstDash val="dash"/>
            <a:headEnd type="triangle"/>
          </a:ln>
        </p:spPr>
      </p:sp>
      <p:sp>
        <p:nvSpPr>
          <p:cNvPr id="51" name="Shape 37"/>
          <p:cNvSpPr/>
          <p:nvPr/>
        </p:nvSpPr>
        <p:spPr>
          <a:xfrm>
            <a:off x="5605272" y="777240"/>
            <a:ext cx="310896" cy="0"/>
          </a:xfrm>
          <a:prstGeom prst="line">
            <a:avLst/>
          </a:prstGeom>
          <a:noFill/>
          <a:ln w="28575">
            <a:solidFill>
              <a:srgbClr val="2B3A67"/>
            </a:solidFill>
            <a:prstDash val="dash"/>
            <a:tailEnd type="triangle"/>
          </a:ln>
        </p:spPr>
      </p:sp>
      <p:sp>
        <p:nvSpPr>
          <p:cNvPr id="52" name="Shape 38"/>
          <p:cNvSpPr/>
          <p:nvPr/>
        </p:nvSpPr>
        <p:spPr>
          <a:xfrm>
            <a:off x="5605272" y="1161288"/>
            <a:ext cx="310896" cy="0"/>
          </a:xfrm>
          <a:prstGeom prst="line">
            <a:avLst/>
          </a:prstGeom>
          <a:noFill/>
          <a:ln w="28575">
            <a:solidFill>
              <a:srgbClr val="9BA8DF"/>
            </a:solidFill>
            <a:prstDash val="dash"/>
            <a:headEnd type="triangle"/>
          </a:ln>
        </p:spPr>
      </p:sp>
      <p:sp>
        <p:nvSpPr>
          <p:cNvPr id="53" name="Shape 39"/>
          <p:cNvSpPr/>
          <p:nvPr/>
        </p:nvSpPr>
        <p:spPr>
          <a:xfrm>
            <a:off x="5605272" y="2034540"/>
            <a:ext cx="310896" cy="0"/>
          </a:xfrm>
          <a:prstGeom prst="line">
            <a:avLst/>
          </a:prstGeom>
          <a:noFill/>
          <a:ln w="28575">
            <a:solidFill>
              <a:srgbClr val="2B3A67"/>
            </a:solidFill>
            <a:prstDash val="dash"/>
            <a:tailEnd type="triangle"/>
          </a:ln>
        </p:spPr>
      </p:sp>
      <p:sp>
        <p:nvSpPr>
          <p:cNvPr id="54" name="Shape 40"/>
          <p:cNvSpPr/>
          <p:nvPr/>
        </p:nvSpPr>
        <p:spPr>
          <a:xfrm>
            <a:off x="5605272" y="2418588"/>
            <a:ext cx="310896" cy="0"/>
          </a:xfrm>
          <a:prstGeom prst="line">
            <a:avLst/>
          </a:prstGeom>
          <a:noFill/>
          <a:ln w="28575">
            <a:solidFill>
              <a:srgbClr val="9BA8DF"/>
            </a:solidFill>
            <a:prstDash val="dash"/>
            <a:headEnd type="triangle"/>
          </a:ln>
        </p:spPr>
      </p:sp>
      <p:sp>
        <p:nvSpPr>
          <p:cNvPr id="55" name="Shape 41"/>
          <p:cNvSpPr/>
          <p:nvPr/>
        </p:nvSpPr>
        <p:spPr>
          <a:xfrm>
            <a:off x="5605272" y="3291840"/>
            <a:ext cx="310896" cy="0"/>
          </a:xfrm>
          <a:prstGeom prst="line">
            <a:avLst/>
          </a:prstGeom>
          <a:noFill/>
          <a:ln w="28575">
            <a:solidFill>
              <a:srgbClr val="2B3A67"/>
            </a:solidFill>
            <a:prstDash val="dash"/>
            <a:tailEnd type="triangle"/>
          </a:ln>
        </p:spPr>
      </p:sp>
      <p:sp>
        <p:nvSpPr>
          <p:cNvPr id="56" name="Shape 42"/>
          <p:cNvSpPr/>
          <p:nvPr/>
        </p:nvSpPr>
        <p:spPr>
          <a:xfrm>
            <a:off x="5605272" y="3675888"/>
            <a:ext cx="310896" cy="0"/>
          </a:xfrm>
          <a:prstGeom prst="line">
            <a:avLst/>
          </a:prstGeom>
          <a:noFill/>
          <a:ln w="28575">
            <a:solidFill>
              <a:srgbClr val="9BA8DF"/>
            </a:solidFill>
            <a:prstDash val="dash"/>
            <a:headEnd type="triangle"/>
          </a:ln>
        </p:spPr>
      </p:sp>
      <p:sp>
        <p:nvSpPr>
          <p:cNvPr id="57" name="Shape 43"/>
          <p:cNvSpPr/>
          <p:nvPr/>
        </p:nvSpPr>
        <p:spPr>
          <a:xfrm>
            <a:off x="5605272" y="4549140"/>
            <a:ext cx="310896" cy="0"/>
          </a:xfrm>
          <a:prstGeom prst="line">
            <a:avLst/>
          </a:prstGeom>
          <a:noFill/>
          <a:ln w="28575">
            <a:solidFill>
              <a:srgbClr val="2B3A67"/>
            </a:solidFill>
            <a:prstDash val="dash"/>
            <a:tailEnd type="triangle"/>
          </a:ln>
        </p:spPr>
      </p:sp>
      <p:sp>
        <p:nvSpPr>
          <p:cNvPr id="58" name="Shape 44"/>
          <p:cNvSpPr/>
          <p:nvPr/>
        </p:nvSpPr>
        <p:spPr>
          <a:xfrm>
            <a:off x="5605272" y="4933188"/>
            <a:ext cx="310896" cy="0"/>
          </a:xfrm>
          <a:prstGeom prst="line">
            <a:avLst/>
          </a:prstGeom>
          <a:noFill/>
          <a:ln w="28575">
            <a:solidFill>
              <a:srgbClr val="9BA8DF"/>
            </a:solidFill>
            <a:prstDash val="dash"/>
            <a:headEnd type="triangle"/>
          </a:ln>
        </p:spPr>
      </p:sp>
      <p:sp>
        <p:nvSpPr>
          <p:cNvPr id="59" name="Shape 45"/>
          <p:cNvSpPr/>
          <p:nvPr/>
        </p:nvSpPr>
        <p:spPr>
          <a:xfrm>
            <a:off x="5605272" y="5806440"/>
            <a:ext cx="310896" cy="0"/>
          </a:xfrm>
          <a:prstGeom prst="line">
            <a:avLst/>
          </a:prstGeom>
          <a:noFill/>
          <a:ln w="28575">
            <a:solidFill>
              <a:srgbClr val="2B3A67"/>
            </a:solidFill>
            <a:prstDash val="dash"/>
            <a:tailEnd type="triangle"/>
          </a:ln>
        </p:spPr>
      </p:sp>
      <p:sp>
        <p:nvSpPr>
          <p:cNvPr id="60" name="Shape 46"/>
          <p:cNvSpPr/>
          <p:nvPr/>
        </p:nvSpPr>
        <p:spPr>
          <a:xfrm>
            <a:off x="5605272" y="6190488"/>
            <a:ext cx="310896" cy="0"/>
          </a:xfrm>
          <a:prstGeom prst="line">
            <a:avLst/>
          </a:prstGeom>
          <a:noFill/>
          <a:ln w="28575">
            <a:solidFill>
              <a:srgbClr val="9BA8DF"/>
            </a:solidFill>
            <a:prstDash val="dash"/>
            <a:headEnd type="triangle"/>
          </a:ln>
        </p:spPr>
      </p:sp>
      <p:sp>
        <p:nvSpPr>
          <p:cNvPr id="61" name="Shape 47"/>
          <p:cNvSpPr/>
          <p:nvPr/>
        </p:nvSpPr>
        <p:spPr>
          <a:xfrm>
            <a:off x="9171432" y="3474720"/>
            <a:ext cx="329184" cy="0"/>
          </a:xfrm>
          <a:prstGeom prst="line">
            <a:avLst/>
          </a:prstGeom>
          <a:noFill/>
          <a:ln w="28575">
            <a:solidFill>
              <a:srgbClr val="2B3A67"/>
            </a:solidFill>
            <a:prstDash val="dash"/>
            <a:tailEnd type="triangle"/>
          </a:ln>
        </p:spPr>
      </p:sp>
      <p:sp>
        <p:nvSpPr>
          <p:cNvPr id="62" name="Shape 48"/>
          <p:cNvSpPr/>
          <p:nvPr/>
        </p:nvSpPr>
        <p:spPr>
          <a:xfrm>
            <a:off x="9555480" y="1965960"/>
            <a:ext cx="2240280" cy="3017520"/>
          </a:xfrm>
          <a:prstGeom prst="roundRect">
            <a:avLst>
              <a:gd name="adj" fmla="val 4898"/>
            </a:avLst>
          </a:prstGeom>
          <a:solidFill>
            <a:srgbClr val="FFFFFF"/>
          </a:solidFill>
          <a:ln w="15875">
            <a:solidFill>
              <a:srgbClr val="C7D2E8"/>
            </a:solidFill>
            <a:prstDash val="solid"/>
          </a:ln>
        </p:spPr>
      </p:sp>
      <p:pic>
        <p:nvPicPr>
          <p:cNvPr id="63" name="Image 12" descr="preencoded.png">    </p:cNvPr>
          <p:cNvPicPr>
            <a:picLocks noChangeAspect="1"/>
          </p:cNvPicPr>
          <p:nvPr/>
        </p:nvPicPr>
        <p:blipFill>
          <a:blip r:embed="rId13"/>
          <a:stretch>
            <a:fillRect/>
          </a:stretch>
        </p:blipFill>
        <p:spPr>
          <a:xfrm>
            <a:off x="10355580" y="2240280"/>
            <a:ext cx="640080" cy="640080"/>
          </a:xfrm>
          <a:prstGeom prst="rect">
            <a:avLst/>
          </a:prstGeom>
        </p:spPr>
      </p:pic>
      <p:sp>
        <p:nvSpPr>
          <p:cNvPr id="64" name="Text 49"/>
          <p:cNvSpPr txBox="1"/>
          <p:nvPr/>
        </p:nvSpPr>
        <p:spPr>
          <a:xfrm>
            <a:off x="9665208" y="2990088"/>
            <a:ext cx="2020824" cy="685800"/>
          </a:xfrm>
          <a:prstGeom prst="rect">
            <a:avLst/>
          </a:prstGeom>
          <a:noFill/>
          <a:ln/>
        </p:spPr>
        <p:txBody>
          <a:bodyPr wrap="square" lIns="0" tIns="0" rIns="0" bIns="0" rtlCol="0" anchor="ctr"/>
          <a:lstStyle/>
          <a:p>
            <a:pPr algn="ctr" indent="0" marL="0">
              <a:lnSpc>
                <a:spcPct val="105000"/>
              </a:lnSpc>
              <a:buNone/>
            </a:pPr>
            <a:r>
              <a:rPr lang="en-US" sz="1700" b="1" dirty="0">
                <a:solidFill>
                  <a:srgbClr val="1E3A8A"/>
                </a:solidFill>
                <a:latin typeface="Calibri" pitchFamily="34" charset="0"/>
                <a:ea typeface="Calibri" pitchFamily="34" charset="-122"/>
                <a:cs typeface="Calibri" pitchFamily="34" charset="-120"/>
              </a:rPr>
              <a:t>Final Response</a:t>
            </a:r>
            <a:endParaRPr lang="en-US" sz="1700" dirty="0"/>
          </a:p>
          <a:p>
            <a:pPr algn="ctr" indent="0" marL="0">
              <a:lnSpc>
                <a:spcPct val="105000"/>
              </a:lnSpc>
              <a:buNone/>
            </a:pPr>
            <a:r>
              <a:rPr lang="en-US" sz="1700" b="1" dirty="0">
                <a:solidFill>
                  <a:srgbClr val="1E3A8A"/>
                </a:solidFill>
                <a:latin typeface="Calibri" pitchFamily="34" charset="0"/>
                <a:ea typeface="Calibri" pitchFamily="34" charset="-122"/>
                <a:cs typeface="Calibri" pitchFamily="34" charset="-120"/>
              </a:rPr>
              <a:t>and Trace</a:t>
            </a:r>
            <a:endParaRPr lang="en-US" sz="1700" dirty="0"/>
          </a:p>
        </p:txBody>
      </p:sp>
      <p:pic>
        <p:nvPicPr>
          <p:cNvPr id="65" name="Image 13" descr="preencoded.png">    </p:cNvPr>
          <p:cNvPicPr>
            <a:picLocks noChangeAspect="1"/>
          </p:cNvPicPr>
          <p:nvPr/>
        </p:nvPicPr>
        <p:blipFill>
          <a:blip r:embed="rId14"/>
          <a:stretch>
            <a:fillRect/>
          </a:stretch>
        </p:blipFill>
        <p:spPr>
          <a:xfrm>
            <a:off x="9829800" y="3822192"/>
            <a:ext cx="201168" cy="201168"/>
          </a:xfrm>
          <a:prstGeom prst="rect">
            <a:avLst/>
          </a:prstGeom>
        </p:spPr>
      </p:pic>
      <p:sp>
        <p:nvSpPr>
          <p:cNvPr id="66" name="Text 50"/>
          <p:cNvSpPr txBox="1"/>
          <p:nvPr/>
        </p:nvSpPr>
        <p:spPr>
          <a:xfrm>
            <a:off x="10104120" y="3794760"/>
            <a:ext cx="1600200" cy="25603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Answer or result</a:t>
            </a:r>
            <a:endParaRPr lang="en-US" sz="1200" dirty="0"/>
          </a:p>
        </p:txBody>
      </p:sp>
      <p:pic>
        <p:nvPicPr>
          <p:cNvPr id="67" name="Image 14" descr="preencoded.png">    </p:cNvPr>
          <p:cNvPicPr>
            <a:picLocks noChangeAspect="1"/>
          </p:cNvPicPr>
          <p:nvPr/>
        </p:nvPicPr>
        <p:blipFill>
          <a:blip r:embed="rId15"/>
          <a:stretch>
            <a:fillRect/>
          </a:stretch>
        </p:blipFill>
        <p:spPr>
          <a:xfrm>
            <a:off x="9829800" y="4114800"/>
            <a:ext cx="201168" cy="201168"/>
          </a:xfrm>
          <a:prstGeom prst="rect">
            <a:avLst/>
          </a:prstGeom>
        </p:spPr>
      </p:pic>
      <p:sp>
        <p:nvSpPr>
          <p:cNvPr id="68" name="Text 51"/>
          <p:cNvSpPr txBox="1"/>
          <p:nvPr/>
        </p:nvSpPr>
        <p:spPr>
          <a:xfrm>
            <a:off x="10104120" y="4087368"/>
            <a:ext cx="1600200" cy="25603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What was done</a:t>
            </a:r>
            <a:endParaRPr lang="en-US" sz="1200" dirty="0"/>
          </a:p>
        </p:txBody>
      </p:sp>
      <p:pic>
        <p:nvPicPr>
          <p:cNvPr id="69" name="Image 15" descr="preencoded.png">    </p:cNvPr>
          <p:cNvPicPr>
            <a:picLocks noChangeAspect="1"/>
          </p:cNvPicPr>
          <p:nvPr/>
        </p:nvPicPr>
        <p:blipFill>
          <a:blip r:embed="rId16"/>
          <a:stretch>
            <a:fillRect/>
          </a:stretch>
        </p:blipFill>
        <p:spPr>
          <a:xfrm>
            <a:off x="9829800" y="4407408"/>
            <a:ext cx="201168" cy="201168"/>
          </a:xfrm>
          <a:prstGeom prst="rect">
            <a:avLst/>
          </a:prstGeom>
        </p:spPr>
      </p:pic>
      <p:sp>
        <p:nvSpPr>
          <p:cNvPr id="70" name="Text 52"/>
          <p:cNvSpPr txBox="1"/>
          <p:nvPr/>
        </p:nvSpPr>
        <p:spPr>
          <a:xfrm>
            <a:off x="10104120" y="4379976"/>
            <a:ext cx="1600200" cy="25603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What was used</a:t>
            </a:r>
            <a:endParaRPr lang="en-US" sz="1200" dirty="0"/>
          </a:p>
        </p:txBody>
      </p:sp>
      <p:pic>
        <p:nvPicPr>
          <p:cNvPr id="71" name="Image 16" descr="preencoded.png">    </p:cNvPr>
          <p:cNvPicPr>
            <a:picLocks noChangeAspect="1"/>
          </p:cNvPicPr>
          <p:nvPr/>
        </p:nvPicPr>
        <p:blipFill>
          <a:blip r:embed="rId17"/>
          <a:stretch>
            <a:fillRect/>
          </a:stretch>
        </p:blipFill>
        <p:spPr>
          <a:xfrm>
            <a:off x="9829800" y="4700016"/>
            <a:ext cx="201168" cy="201168"/>
          </a:xfrm>
          <a:prstGeom prst="rect">
            <a:avLst/>
          </a:prstGeom>
        </p:spPr>
      </p:pic>
      <p:sp>
        <p:nvSpPr>
          <p:cNvPr id="72" name="Text 53"/>
          <p:cNvSpPr txBox="1"/>
          <p:nvPr/>
        </p:nvSpPr>
        <p:spPr>
          <a:xfrm>
            <a:off x="10104120" y="4672584"/>
            <a:ext cx="1600200" cy="25603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What was decided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1247120" cy="45720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Architecture: Plugin Extension vs. Parallel Proxy</a:t>
            </a:r>
            <a:endParaRPr lang="en-US" sz="2400" dirty="0"/>
          </a:p>
        </p:txBody>
      </p:sp>
      <p:sp>
        <p:nvSpPr>
          <p:cNvPr id="3" name="Shape 1"/>
          <p:cNvSpPr/>
          <p:nvPr/>
        </p:nvSpPr>
        <p:spPr>
          <a:xfrm>
            <a:off x="457200" y="868680"/>
            <a:ext cx="5440680" cy="4800600"/>
          </a:xfrm>
          <a:prstGeom prst="roundRect">
            <a:avLst>
              <a:gd name="adj" fmla="val 2286"/>
            </a:avLst>
          </a:prstGeom>
          <a:solidFill>
            <a:srgbClr val="FFFFFF"/>
          </a:solidFill>
          <a:ln w="15875">
            <a:solidFill>
              <a:srgbClr val="C7D2E8"/>
            </a:solidFill>
            <a:prstDash val="solid"/>
          </a:ln>
        </p:spPr>
      </p:sp>
      <p:sp>
        <p:nvSpPr>
          <p:cNvPr id="4" name="Shape 2"/>
          <p:cNvSpPr/>
          <p:nvPr/>
        </p:nvSpPr>
        <p:spPr>
          <a:xfrm>
            <a:off x="621792" y="1024128"/>
            <a:ext cx="5111496" cy="548640"/>
          </a:xfrm>
          <a:prstGeom prst="roundRect">
            <a:avLst>
              <a:gd name="adj" fmla="val 13333"/>
            </a:avLst>
          </a:prstGeom>
          <a:solidFill>
            <a:srgbClr val="ECF9F3"/>
          </a:solidFill>
          <a:ln w="15875">
            <a:solidFill>
              <a:srgbClr val="A8DDCB"/>
            </a:solidFill>
            <a:prstDash val="solid"/>
          </a:ln>
        </p:spPr>
      </p:sp>
      <p:pic>
        <p:nvPicPr>
          <p:cNvPr id="5" name="Image 0" descr="preencoded.png">    </p:cNvPr>
          <p:cNvPicPr>
            <a:picLocks noChangeAspect="1"/>
          </p:cNvPicPr>
          <p:nvPr/>
        </p:nvPicPr>
        <p:blipFill>
          <a:blip r:embed="rId1"/>
          <a:stretch>
            <a:fillRect/>
          </a:stretch>
        </p:blipFill>
        <p:spPr>
          <a:xfrm>
            <a:off x="749808" y="1179576"/>
            <a:ext cx="237744" cy="237744"/>
          </a:xfrm>
          <a:prstGeom prst="rect">
            <a:avLst/>
          </a:prstGeom>
        </p:spPr>
      </p:pic>
      <p:sp>
        <p:nvSpPr>
          <p:cNvPr id="6" name="Text 3"/>
          <p:cNvSpPr txBox="1"/>
          <p:nvPr/>
        </p:nvSpPr>
        <p:spPr>
          <a:xfrm>
            <a:off x="1078992" y="1024128"/>
            <a:ext cx="3200400" cy="548640"/>
          </a:xfrm>
          <a:prstGeom prst="rect">
            <a:avLst/>
          </a:prstGeom>
          <a:noFill/>
          <a:ln/>
        </p:spPr>
        <p:txBody>
          <a:bodyPr wrap="square" lIns="0" tIns="0" rIns="0" bIns="0" rtlCol="0" anchor="ctr"/>
          <a:lstStyle/>
          <a:p>
            <a:pPr indent="0" marL="0">
              <a:buNone/>
            </a:pPr>
            <a:r>
              <a:rPr lang="en-US" sz="1400" b="1" dirty="0">
                <a:solidFill>
                  <a:srgbClr val="0A7355"/>
                </a:solidFill>
                <a:latin typeface="Calibri" pitchFamily="34" charset="0"/>
                <a:ea typeface="Calibri" pitchFamily="34" charset="-122"/>
                <a:cs typeface="Calibri" pitchFamily="34" charset="-120"/>
              </a:rPr>
              <a:t>OPTION A: Kong Plugin Extension</a:t>
            </a:r>
            <a:endParaRPr lang="en-US" sz="1400" dirty="0"/>
          </a:p>
        </p:txBody>
      </p:sp>
      <p:sp>
        <p:nvSpPr>
          <p:cNvPr id="7" name="Shape 4"/>
          <p:cNvSpPr/>
          <p:nvPr/>
        </p:nvSpPr>
        <p:spPr>
          <a:xfrm>
            <a:off x="4325112" y="1161288"/>
            <a:ext cx="1298448" cy="274320"/>
          </a:xfrm>
          <a:prstGeom prst="roundRect">
            <a:avLst>
              <a:gd name="adj" fmla="val 33333"/>
            </a:avLst>
          </a:prstGeom>
          <a:solidFill>
            <a:srgbClr val="0F9D76"/>
          </a:solidFill>
          <a:ln w="12700">
            <a:solidFill>
              <a:srgbClr val="0F9D76"/>
            </a:solidFill>
            <a:prstDash val="solid"/>
          </a:ln>
        </p:spPr>
      </p:sp>
      <p:sp>
        <p:nvSpPr>
          <p:cNvPr id="8" name="Text 5"/>
          <p:cNvSpPr txBox="1"/>
          <p:nvPr/>
        </p:nvSpPr>
        <p:spPr>
          <a:xfrm>
            <a:off x="4325112" y="1161288"/>
            <a:ext cx="12984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RECOMMENDED</a:t>
            </a:r>
            <a:endParaRPr lang="en-US" sz="950" dirty="0"/>
          </a:p>
        </p:txBody>
      </p:sp>
      <p:sp>
        <p:nvSpPr>
          <p:cNvPr id="9" name="Shape 6"/>
          <p:cNvSpPr/>
          <p:nvPr/>
        </p:nvSpPr>
        <p:spPr>
          <a:xfrm>
            <a:off x="658368" y="1755648"/>
            <a:ext cx="1594104" cy="640080"/>
          </a:xfrm>
          <a:prstGeom prst="roundRect">
            <a:avLst>
              <a:gd name="adj" fmla="val 11429"/>
            </a:avLst>
          </a:prstGeom>
          <a:solidFill>
            <a:srgbClr val="FFFFFF"/>
          </a:solidFill>
          <a:ln w="15875">
            <a:solidFill>
              <a:srgbClr val="C7D2E8"/>
            </a:solidFill>
            <a:prstDash val="dash"/>
          </a:ln>
        </p:spPr>
      </p:sp>
      <p:sp>
        <p:nvSpPr>
          <p:cNvPr id="10" name="Text 7"/>
          <p:cNvSpPr txBox="1"/>
          <p:nvPr/>
        </p:nvSpPr>
        <p:spPr>
          <a:xfrm>
            <a:off x="722376" y="1755648"/>
            <a:ext cx="1466088" cy="64008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Existing Splunk</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HEC Forwarders</a:t>
            </a:r>
            <a:endParaRPr lang="en-US" sz="1050" dirty="0"/>
          </a:p>
        </p:txBody>
      </p:sp>
      <p:sp>
        <p:nvSpPr>
          <p:cNvPr id="11" name="Shape 8"/>
          <p:cNvSpPr/>
          <p:nvPr/>
        </p:nvSpPr>
        <p:spPr>
          <a:xfrm>
            <a:off x="1455420" y="2441448"/>
            <a:ext cx="0" cy="274320"/>
          </a:xfrm>
          <a:prstGeom prst="line">
            <a:avLst/>
          </a:prstGeom>
          <a:noFill/>
          <a:ln w="22225">
            <a:solidFill>
              <a:srgbClr val="2B3A67"/>
            </a:solidFill>
            <a:prstDash val="dash"/>
            <a:tailEnd type="triangle"/>
          </a:ln>
        </p:spPr>
      </p:sp>
      <p:sp>
        <p:nvSpPr>
          <p:cNvPr id="12" name="Shape 9"/>
          <p:cNvSpPr/>
          <p:nvPr/>
        </p:nvSpPr>
        <p:spPr>
          <a:xfrm>
            <a:off x="2380488" y="1755648"/>
            <a:ext cx="1594104" cy="640080"/>
          </a:xfrm>
          <a:prstGeom prst="roundRect">
            <a:avLst>
              <a:gd name="adj" fmla="val 11429"/>
            </a:avLst>
          </a:prstGeom>
          <a:solidFill>
            <a:srgbClr val="FFFFFF"/>
          </a:solidFill>
          <a:ln w="15875">
            <a:solidFill>
              <a:srgbClr val="C7D2E8"/>
            </a:solidFill>
            <a:prstDash val="dash"/>
          </a:ln>
        </p:spPr>
      </p:sp>
      <p:sp>
        <p:nvSpPr>
          <p:cNvPr id="13" name="Text 10"/>
          <p:cNvSpPr txBox="1"/>
          <p:nvPr/>
        </p:nvSpPr>
        <p:spPr>
          <a:xfrm>
            <a:off x="2444496" y="1755648"/>
            <a:ext cx="1466088" cy="64008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Single decK GitOps</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(kong-services)</a:t>
            </a:r>
            <a:endParaRPr lang="en-US" sz="1050" dirty="0"/>
          </a:p>
        </p:txBody>
      </p:sp>
      <p:sp>
        <p:nvSpPr>
          <p:cNvPr id="14" name="Shape 11"/>
          <p:cNvSpPr/>
          <p:nvPr/>
        </p:nvSpPr>
        <p:spPr>
          <a:xfrm>
            <a:off x="3177540" y="2441448"/>
            <a:ext cx="0" cy="274320"/>
          </a:xfrm>
          <a:prstGeom prst="line">
            <a:avLst/>
          </a:prstGeom>
          <a:noFill/>
          <a:ln w="22225">
            <a:solidFill>
              <a:srgbClr val="2B3A67"/>
            </a:solidFill>
            <a:prstDash val="dash"/>
            <a:tailEnd type="triangle"/>
          </a:ln>
        </p:spPr>
      </p:sp>
      <p:sp>
        <p:nvSpPr>
          <p:cNvPr id="15" name="Shape 12"/>
          <p:cNvSpPr/>
          <p:nvPr/>
        </p:nvSpPr>
        <p:spPr>
          <a:xfrm>
            <a:off x="4102608" y="1755648"/>
            <a:ext cx="1594104" cy="640080"/>
          </a:xfrm>
          <a:prstGeom prst="roundRect">
            <a:avLst>
              <a:gd name="adj" fmla="val 11429"/>
            </a:avLst>
          </a:prstGeom>
          <a:solidFill>
            <a:srgbClr val="FFFFFF"/>
          </a:solidFill>
          <a:ln w="15875">
            <a:solidFill>
              <a:srgbClr val="C7D2E8"/>
            </a:solidFill>
            <a:prstDash val="solid"/>
          </a:ln>
        </p:spPr>
      </p:sp>
      <p:sp>
        <p:nvSpPr>
          <p:cNvPr id="16" name="Text 13"/>
          <p:cNvSpPr txBox="1"/>
          <p:nvPr/>
        </p:nvSpPr>
        <p:spPr>
          <a:xfrm>
            <a:off x="4166616" y="1755648"/>
            <a:ext cx="1466088" cy="64008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Single Unified</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Ingress ALB</a:t>
            </a:r>
            <a:endParaRPr lang="en-US" sz="1050" dirty="0"/>
          </a:p>
        </p:txBody>
      </p:sp>
      <p:sp>
        <p:nvSpPr>
          <p:cNvPr id="17" name="Shape 14"/>
          <p:cNvSpPr/>
          <p:nvPr/>
        </p:nvSpPr>
        <p:spPr>
          <a:xfrm>
            <a:off x="4899660" y="2441448"/>
            <a:ext cx="0" cy="274320"/>
          </a:xfrm>
          <a:prstGeom prst="line">
            <a:avLst/>
          </a:prstGeom>
          <a:noFill/>
          <a:ln w="22225">
            <a:solidFill>
              <a:srgbClr val="2B3A67"/>
            </a:solidFill>
            <a:prstDash val="solid"/>
            <a:tailEnd type="triangle"/>
          </a:ln>
        </p:spPr>
      </p:sp>
      <p:sp>
        <p:nvSpPr>
          <p:cNvPr id="18" name="Shape 15"/>
          <p:cNvSpPr/>
          <p:nvPr/>
        </p:nvSpPr>
        <p:spPr>
          <a:xfrm>
            <a:off x="658368" y="2743200"/>
            <a:ext cx="5038344" cy="566928"/>
          </a:xfrm>
          <a:prstGeom prst="roundRect">
            <a:avLst>
              <a:gd name="adj" fmla="val 12903"/>
            </a:avLst>
          </a:prstGeom>
          <a:solidFill>
            <a:srgbClr val="FFFFFF"/>
          </a:solidFill>
          <a:ln w="15875">
            <a:solidFill>
              <a:srgbClr val="C7D2E8"/>
            </a:solidFill>
            <a:prstDash val="solid"/>
          </a:ln>
        </p:spPr>
      </p:sp>
      <p:sp>
        <p:nvSpPr>
          <p:cNvPr id="19" name="Text 16"/>
          <p:cNvSpPr txBox="1"/>
          <p:nvPr/>
        </p:nvSpPr>
        <p:spPr>
          <a:xfrm>
            <a:off x="722376" y="2743200"/>
            <a:ext cx="4910328" cy="566928"/>
          </a:xfrm>
          <a:prstGeom prst="rect">
            <a:avLst/>
          </a:prstGeom>
          <a:noFill/>
          <a:ln/>
        </p:spPr>
        <p:txBody>
          <a:bodyPr wrap="square" lIns="0" tIns="0" rIns="0" bIns="0" rtlCol="0" anchor="ctr"/>
          <a:lstStyle/>
          <a:p>
            <a:pPr algn="ctr" indent="0" marL="0">
              <a:lnSpc>
                <a:spcPct val="100000"/>
              </a:lnSpc>
              <a:buNone/>
            </a:pPr>
            <a:r>
              <a:rPr lang="en-US" sz="1250" b="1" dirty="0">
                <a:solidFill>
                  <a:srgbClr val="1F2937"/>
                </a:solidFill>
                <a:latin typeface="Calibri" pitchFamily="34" charset="0"/>
                <a:ea typeface="Calibri" pitchFamily="34" charset="-122"/>
                <a:cs typeface="Calibri" pitchFamily="34" charset="-120"/>
              </a:rPr>
              <a:t>Existing BBOX AWS Kong Data Plane Pods</a:t>
            </a:r>
            <a:endParaRPr lang="en-US" sz="1250" dirty="0"/>
          </a:p>
        </p:txBody>
      </p:sp>
      <p:sp>
        <p:nvSpPr>
          <p:cNvPr id="20" name="Shape 17"/>
          <p:cNvSpPr/>
          <p:nvPr/>
        </p:nvSpPr>
        <p:spPr>
          <a:xfrm>
            <a:off x="3177540" y="3355848"/>
            <a:ext cx="0" cy="274320"/>
          </a:xfrm>
          <a:prstGeom prst="line">
            <a:avLst/>
          </a:prstGeom>
          <a:noFill/>
          <a:ln w="22225">
            <a:solidFill>
              <a:srgbClr val="2B3A67"/>
            </a:solidFill>
            <a:prstDash val="solid"/>
            <a:tailEnd type="triangle"/>
          </a:ln>
        </p:spPr>
      </p:sp>
      <p:sp>
        <p:nvSpPr>
          <p:cNvPr id="21" name="Shape 18"/>
          <p:cNvSpPr/>
          <p:nvPr/>
        </p:nvSpPr>
        <p:spPr>
          <a:xfrm>
            <a:off x="658368" y="3657600"/>
            <a:ext cx="5038344" cy="658368"/>
          </a:xfrm>
          <a:prstGeom prst="roundRect">
            <a:avLst>
              <a:gd name="adj" fmla="val 11111"/>
            </a:avLst>
          </a:prstGeom>
          <a:solidFill>
            <a:srgbClr val="F7FCF8"/>
          </a:solidFill>
          <a:ln w="15875">
            <a:solidFill>
              <a:srgbClr val="BFE0C7"/>
            </a:solidFill>
            <a:prstDash val="solid"/>
          </a:ln>
        </p:spPr>
      </p:sp>
      <p:sp>
        <p:nvSpPr>
          <p:cNvPr id="22" name="Text 19"/>
          <p:cNvSpPr txBox="1"/>
          <p:nvPr/>
        </p:nvSpPr>
        <p:spPr>
          <a:xfrm>
            <a:off x="722376" y="3657600"/>
            <a:ext cx="4910328" cy="658368"/>
          </a:xfrm>
          <a:prstGeom prst="rect">
            <a:avLst/>
          </a:prstGeom>
          <a:noFill/>
          <a:ln/>
        </p:spPr>
        <p:txBody>
          <a:bodyPr wrap="square" lIns="0" tIns="0" rIns="0" bIns="0" rtlCol="0" anchor="ctr"/>
          <a:lstStyle/>
          <a:p>
            <a:pPr algn="ctr" indent="0" marL="0">
              <a:lnSpc>
                <a:spcPct val="100000"/>
              </a:lnSpc>
              <a:buNone/>
            </a:pPr>
            <a:r>
              <a:rPr lang="en-US" sz="1250" b="1" dirty="0">
                <a:solidFill>
                  <a:srgbClr val="1F2937"/>
                </a:solidFill>
                <a:latin typeface="Calibri" pitchFamily="34" charset="0"/>
                <a:ea typeface="Calibri" pitchFamily="34" charset="-122"/>
                <a:cs typeface="Calibri" pitchFamily="34" charset="-120"/>
              </a:rPr>
              <a:t>Native AI Plugins</a:t>
            </a:r>
            <a:endParaRPr lang="en-US" sz="1200" dirty="0"/>
          </a:p>
          <a:p>
            <a:pPr algn="ctr" indent="0" marL="0">
              <a:lnSpc>
                <a:spcPct val="100000"/>
              </a:lnSpc>
              <a:buNone/>
            </a:pPr>
            <a:r>
              <a:rPr lang="en-US" sz="1000" dirty="0">
                <a:solidFill>
                  <a:srgbClr val="4B5563"/>
                </a:solidFill>
                <a:latin typeface="Calibri" pitchFamily="34" charset="0"/>
                <a:ea typeface="Calibri" pitchFamily="34" charset="-122"/>
                <a:cs typeface="Calibri" pitchFamily="34" charset="-120"/>
              </a:rPr>
              <a:t>ai-proxy-advanced  ·  ai-mcp-proxy  ·  mtls-auth  ·  vaults</a:t>
            </a:r>
            <a:endParaRPr lang="en-US" sz="1200" dirty="0"/>
          </a:p>
        </p:txBody>
      </p:sp>
      <p:sp>
        <p:nvSpPr>
          <p:cNvPr id="23" name="Shape 20"/>
          <p:cNvSpPr/>
          <p:nvPr/>
        </p:nvSpPr>
        <p:spPr>
          <a:xfrm>
            <a:off x="3177540" y="4361688"/>
            <a:ext cx="0" cy="274320"/>
          </a:xfrm>
          <a:prstGeom prst="line">
            <a:avLst/>
          </a:prstGeom>
          <a:noFill/>
          <a:ln w="22225">
            <a:solidFill>
              <a:srgbClr val="2B3A67"/>
            </a:solidFill>
            <a:prstDash val="solid"/>
            <a:tailEnd type="triangle"/>
          </a:ln>
        </p:spPr>
      </p:sp>
      <p:sp>
        <p:nvSpPr>
          <p:cNvPr id="24" name="Shape 21"/>
          <p:cNvSpPr/>
          <p:nvPr/>
        </p:nvSpPr>
        <p:spPr>
          <a:xfrm>
            <a:off x="658368" y="4663440"/>
            <a:ext cx="5038344" cy="621792"/>
          </a:xfrm>
          <a:prstGeom prst="roundRect">
            <a:avLst>
              <a:gd name="adj" fmla="val 11765"/>
            </a:avLst>
          </a:prstGeom>
          <a:solidFill>
            <a:srgbClr val="FFFFFF"/>
          </a:solidFill>
          <a:ln w="15875">
            <a:solidFill>
              <a:srgbClr val="C7D2E8"/>
            </a:solidFill>
            <a:prstDash val="solid"/>
          </a:ln>
        </p:spPr>
      </p:sp>
      <p:sp>
        <p:nvSpPr>
          <p:cNvPr id="25" name="Text 22"/>
          <p:cNvSpPr txBox="1"/>
          <p:nvPr/>
        </p:nvSpPr>
        <p:spPr>
          <a:xfrm>
            <a:off x="722376" y="4663440"/>
            <a:ext cx="4910328" cy="621792"/>
          </a:xfrm>
          <a:prstGeom prst="rect">
            <a:avLst/>
          </a:prstGeom>
          <a:noFill/>
          <a:ln/>
        </p:spPr>
        <p:txBody>
          <a:bodyPr wrap="square" lIns="0" tIns="0" rIns="0" bIns="0" rtlCol="0" anchor="ctr"/>
          <a:lstStyle/>
          <a:p>
            <a:pPr algn="ctr" indent="0" marL="0">
              <a:lnSpc>
                <a:spcPct val="100000"/>
              </a:lnSpc>
              <a:buNone/>
            </a:pPr>
            <a:r>
              <a:rPr lang="en-US" sz="1250" b="1" dirty="0">
                <a:solidFill>
                  <a:srgbClr val="1F2937"/>
                </a:solidFill>
                <a:latin typeface="Calibri" pitchFamily="34" charset="0"/>
                <a:ea typeface="Calibri" pitchFamily="34" charset="-122"/>
                <a:cs typeface="Calibri" pitchFamily="34" charset="-120"/>
              </a:rPr>
              <a:t>Models (Bedrock / Vertex) &amp; Core Banking DBs</a:t>
            </a:r>
            <a:endParaRPr lang="en-US" sz="1250" dirty="0"/>
          </a:p>
        </p:txBody>
      </p:sp>
      <p:sp>
        <p:nvSpPr>
          <p:cNvPr id="26" name="Shape 23"/>
          <p:cNvSpPr/>
          <p:nvPr/>
        </p:nvSpPr>
        <p:spPr>
          <a:xfrm>
            <a:off x="6291072" y="868680"/>
            <a:ext cx="5440680" cy="4800600"/>
          </a:xfrm>
          <a:prstGeom prst="roundRect">
            <a:avLst>
              <a:gd name="adj" fmla="val 2286"/>
            </a:avLst>
          </a:prstGeom>
          <a:solidFill>
            <a:srgbClr val="FFFFFF"/>
          </a:solidFill>
          <a:ln w="15875">
            <a:solidFill>
              <a:srgbClr val="C7D2E8"/>
            </a:solidFill>
            <a:prstDash val="solid"/>
          </a:ln>
        </p:spPr>
      </p:sp>
      <p:sp>
        <p:nvSpPr>
          <p:cNvPr id="27" name="Shape 24"/>
          <p:cNvSpPr/>
          <p:nvPr/>
        </p:nvSpPr>
        <p:spPr>
          <a:xfrm>
            <a:off x="6455664" y="1024128"/>
            <a:ext cx="5111496" cy="548640"/>
          </a:xfrm>
          <a:prstGeom prst="roundRect">
            <a:avLst>
              <a:gd name="adj" fmla="val 13333"/>
            </a:avLst>
          </a:prstGeom>
          <a:solidFill>
            <a:srgbClr val="FDF1F1"/>
          </a:solidFill>
          <a:ln w="15875">
            <a:solidFill>
              <a:srgbClr val="F0C3C3"/>
            </a:solidFill>
            <a:prstDash val="solid"/>
          </a:ln>
        </p:spPr>
      </p:sp>
      <p:pic>
        <p:nvPicPr>
          <p:cNvPr id="28" name="Image 1" descr="preencoded.png">    </p:cNvPr>
          <p:cNvPicPr>
            <a:picLocks noChangeAspect="1"/>
          </p:cNvPicPr>
          <p:nvPr/>
        </p:nvPicPr>
        <p:blipFill>
          <a:blip r:embed="rId2"/>
          <a:stretch>
            <a:fillRect/>
          </a:stretch>
        </p:blipFill>
        <p:spPr>
          <a:xfrm>
            <a:off x="6583680" y="1179576"/>
            <a:ext cx="237744" cy="237744"/>
          </a:xfrm>
          <a:prstGeom prst="rect">
            <a:avLst/>
          </a:prstGeom>
        </p:spPr>
      </p:pic>
      <p:sp>
        <p:nvSpPr>
          <p:cNvPr id="29" name="Text 25"/>
          <p:cNvSpPr txBox="1"/>
          <p:nvPr/>
        </p:nvSpPr>
        <p:spPr>
          <a:xfrm>
            <a:off x="6912864" y="1024128"/>
            <a:ext cx="3200400" cy="548640"/>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OPTION B: Parallel Proxy Layer</a:t>
            </a:r>
            <a:endParaRPr lang="en-US" sz="1400" dirty="0"/>
          </a:p>
        </p:txBody>
      </p:sp>
      <p:sp>
        <p:nvSpPr>
          <p:cNvPr id="30" name="Shape 26"/>
          <p:cNvSpPr/>
          <p:nvPr/>
        </p:nvSpPr>
        <p:spPr>
          <a:xfrm>
            <a:off x="10158984" y="1161288"/>
            <a:ext cx="1298448" cy="274320"/>
          </a:xfrm>
          <a:prstGeom prst="roundRect">
            <a:avLst>
              <a:gd name="adj" fmla="val 33333"/>
            </a:avLst>
          </a:prstGeom>
          <a:solidFill>
            <a:srgbClr val="B91C1C"/>
          </a:solidFill>
          <a:ln w="12700">
            <a:solidFill>
              <a:srgbClr val="B91C1C"/>
            </a:solidFill>
            <a:prstDash val="solid"/>
          </a:ln>
        </p:spPr>
      </p:sp>
      <p:sp>
        <p:nvSpPr>
          <p:cNvPr id="31" name="Text 27"/>
          <p:cNvSpPr txBox="1"/>
          <p:nvPr/>
        </p:nvSpPr>
        <p:spPr>
          <a:xfrm>
            <a:off x="10158984" y="1161288"/>
            <a:ext cx="12984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NOT RECOMMENDED</a:t>
            </a:r>
            <a:endParaRPr lang="en-US" sz="950" dirty="0"/>
          </a:p>
        </p:txBody>
      </p:sp>
      <p:sp>
        <p:nvSpPr>
          <p:cNvPr id="32" name="Shape 28"/>
          <p:cNvSpPr/>
          <p:nvPr/>
        </p:nvSpPr>
        <p:spPr>
          <a:xfrm>
            <a:off x="6492240" y="1755648"/>
            <a:ext cx="1594104" cy="640080"/>
          </a:xfrm>
          <a:prstGeom prst="roundRect">
            <a:avLst>
              <a:gd name="adj" fmla="val 11429"/>
            </a:avLst>
          </a:prstGeom>
          <a:solidFill>
            <a:srgbClr val="FFFFFF"/>
          </a:solidFill>
          <a:ln w="15875">
            <a:solidFill>
              <a:srgbClr val="C7D2E8"/>
            </a:solidFill>
            <a:prstDash val="dash"/>
          </a:ln>
        </p:spPr>
      </p:sp>
      <p:sp>
        <p:nvSpPr>
          <p:cNvPr id="33" name="Text 29"/>
          <p:cNvSpPr txBox="1"/>
          <p:nvPr/>
        </p:nvSpPr>
        <p:spPr>
          <a:xfrm>
            <a:off x="6556248" y="1755648"/>
            <a:ext cx="1466088" cy="64008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Duplicate Logging</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Pipelines</a:t>
            </a:r>
            <a:endParaRPr lang="en-US" sz="1050" dirty="0"/>
          </a:p>
        </p:txBody>
      </p:sp>
      <p:sp>
        <p:nvSpPr>
          <p:cNvPr id="34" name="Shape 30"/>
          <p:cNvSpPr/>
          <p:nvPr/>
        </p:nvSpPr>
        <p:spPr>
          <a:xfrm>
            <a:off x="7289292" y="2441448"/>
            <a:ext cx="0" cy="274320"/>
          </a:xfrm>
          <a:prstGeom prst="line">
            <a:avLst/>
          </a:prstGeom>
          <a:noFill/>
          <a:ln w="22225">
            <a:solidFill>
              <a:srgbClr val="2B3A67"/>
            </a:solidFill>
            <a:prstDash val="dash"/>
            <a:tailEnd type="triangle"/>
          </a:ln>
        </p:spPr>
      </p:sp>
      <p:sp>
        <p:nvSpPr>
          <p:cNvPr id="35" name="Shape 31"/>
          <p:cNvSpPr/>
          <p:nvPr/>
        </p:nvSpPr>
        <p:spPr>
          <a:xfrm>
            <a:off x="8214360" y="1755648"/>
            <a:ext cx="1594104" cy="640080"/>
          </a:xfrm>
          <a:prstGeom prst="roundRect">
            <a:avLst>
              <a:gd name="adj" fmla="val 11429"/>
            </a:avLst>
          </a:prstGeom>
          <a:solidFill>
            <a:srgbClr val="FFFFFF"/>
          </a:solidFill>
          <a:ln w="15875">
            <a:solidFill>
              <a:srgbClr val="C7D2E8"/>
            </a:solidFill>
            <a:prstDash val="dash"/>
          </a:ln>
        </p:spPr>
      </p:sp>
      <p:sp>
        <p:nvSpPr>
          <p:cNvPr id="36" name="Text 32"/>
          <p:cNvSpPr txBox="1"/>
          <p:nvPr/>
        </p:nvSpPr>
        <p:spPr>
          <a:xfrm>
            <a:off x="8278368" y="1755648"/>
            <a:ext cx="1466088" cy="64008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Split Configs &amp;</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Separate Dashboards</a:t>
            </a:r>
            <a:endParaRPr lang="en-US" sz="1050" dirty="0"/>
          </a:p>
        </p:txBody>
      </p:sp>
      <p:sp>
        <p:nvSpPr>
          <p:cNvPr id="37" name="Shape 33"/>
          <p:cNvSpPr/>
          <p:nvPr/>
        </p:nvSpPr>
        <p:spPr>
          <a:xfrm>
            <a:off x="9011412" y="2441448"/>
            <a:ext cx="0" cy="274320"/>
          </a:xfrm>
          <a:prstGeom prst="line">
            <a:avLst/>
          </a:prstGeom>
          <a:noFill/>
          <a:ln w="22225">
            <a:solidFill>
              <a:srgbClr val="2B3A67"/>
            </a:solidFill>
            <a:prstDash val="dash"/>
            <a:tailEnd type="triangle"/>
          </a:ln>
        </p:spPr>
      </p:sp>
      <p:sp>
        <p:nvSpPr>
          <p:cNvPr id="38" name="Shape 34"/>
          <p:cNvSpPr/>
          <p:nvPr/>
        </p:nvSpPr>
        <p:spPr>
          <a:xfrm>
            <a:off x="9936480" y="1755648"/>
            <a:ext cx="1594104" cy="640080"/>
          </a:xfrm>
          <a:prstGeom prst="roundRect">
            <a:avLst>
              <a:gd name="adj" fmla="val 11429"/>
            </a:avLst>
          </a:prstGeom>
          <a:solidFill>
            <a:srgbClr val="FFFFFF"/>
          </a:solidFill>
          <a:ln w="15875">
            <a:solidFill>
              <a:srgbClr val="C7D2E8"/>
            </a:solidFill>
            <a:prstDash val="solid"/>
          </a:ln>
        </p:spPr>
      </p:sp>
      <p:sp>
        <p:nvSpPr>
          <p:cNvPr id="39" name="Text 35"/>
          <p:cNvSpPr txBox="1"/>
          <p:nvPr/>
        </p:nvSpPr>
        <p:spPr>
          <a:xfrm>
            <a:off x="10000488" y="1755648"/>
            <a:ext cx="1466088" cy="64008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ALB 2</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(AI Traffic)</a:t>
            </a:r>
            <a:endParaRPr lang="en-US" sz="1050" dirty="0"/>
          </a:p>
        </p:txBody>
      </p:sp>
      <p:sp>
        <p:nvSpPr>
          <p:cNvPr id="40" name="Shape 36"/>
          <p:cNvSpPr/>
          <p:nvPr/>
        </p:nvSpPr>
        <p:spPr>
          <a:xfrm>
            <a:off x="10733532" y="2441448"/>
            <a:ext cx="0" cy="274320"/>
          </a:xfrm>
          <a:prstGeom prst="line">
            <a:avLst/>
          </a:prstGeom>
          <a:noFill/>
          <a:ln w="22225">
            <a:solidFill>
              <a:srgbClr val="2B3A67"/>
            </a:solidFill>
            <a:prstDash val="solid"/>
            <a:tailEnd type="triangle"/>
          </a:ln>
        </p:spPr>
      </p:sp>
      <p:sp>
        <p:nvSpPr>
          <p:cNvPr id="41" name="Shape 37"/>
          <p:cNvSpPr/>
          <p:nvPr/>
        </p:nvSpPr>
        <p:spPr>
          <a:xfrm>
            <a:off x="6492240" y="2743200"/>
            <a:ext cx="5038344" cy="566928"/>
          </a:xfrm>
          <a:prstGeom prst="roundRect">
            <a:avLst>
              <a:gd name="adj" fmla="val 12903"/>
            </a:avLst>
          </a:prstGeom>
          <a:solidFill>
            <a:srgbClr val="FFFFFF"/>
          </a:solidFill>
          <a:ln w="15875">
            <a:solidFill>
              <a:srgbClr val="C7D2E8"/>
            </a:solidFill>
            <a:prstDash val="solid"/>
          </a:ln>
        </p:spPr>
      </p:sp>
      <p:sp>
        <p:nvSpPr>
          <p:cNvPr id="42" name="Text 38"/>
          <p:cNvSpPr txBox="1"/>
          <p:nvPr/>
        </p:nvSpPr>
        <p:spPr>
          <a:xfrm>
            <a:off x="6556248" y="2743200"/>
            <a:ext cx="4910328" cy="566928"/>
          </a:xfrm>
          <a:prstGeom prst="rect">
            <a:avLst/>
          </a:prstGeom>
          <a:noFill/>
          <a:ln/>
        </p:spPr>
        <p:txBody>
          <a:bodyPr wrap="square" lIns="0" tIns="0" rIns="0" bIns="0" rtlCol="0" anchor="ctr"/>
          <a:lstStyle/>
          <a:p>
            <a:pPr algn="ctr" indent="0" marL="0">
              <a:lnSpc>
                <a:spcPct val="100000"/>
              </a:lnSpc>
              <a:buNone/>
            </a:pPr>
            <a:r>
              <a:rPr lang="en-US" sz="1250" b="1" dirty="0">
                <a:solidFill>
                  <a:srgbClr val="1F2937"/>
                </a:solidFill>
                <a:latin typeface="Calibri" pitchFamily="34" charset="0"/>
                <a:ea typeface="Calibri" pitchFamily="34" charset="-122"/>
                <a:cs typeface="Calibri" pitchFamily="34" charset="-120"/>
              </a:rPr>
              <a:t>Standalone Proxy (LiteLLM / Portkey)</a:t>
            </a:r>
            <a:endParaRPr lang="en-US" sz="1250" dirty="0"/>
          </a:p>
        </p:txBody>
      </p:sp>
      <p:sp>
        <p:nvSpPr>
          <p:cNvPr id="43" name="Shape 39"/>
          <p:cNvSpPr/>
          <p:nvPr/>
        </p:nvSpPr>
        <p:spPr>
          <a:xfrm>
            <a:off x="9011412" y="3355848"/>
            <a:ext cx="0" cy="274320"/>
          </a:xfrm>
          <a:prstGeom prst="line">
            <a:avLst/>
          </a:prstGeom>
          <a:noFill/>
          <a:ln w="22225">
            <a:solidFill>
              <a:srgbClr val="2B3A67"/>
            </a:solidFill>
            <a:prstDash val="solid"/>
            <a:tailEnd type="triangle"/>
          </a:ln>
        </p:spPr>
      </p:sp>
      <p:sp>
        <p:nvSpPr>
          <p:cNvPr id="44" name="Shape 40"/>
          <p:cNvSpPr/>
          <p:nvPr/>
        </p:nvSpPr>
        <p:spPr>
          <a:xfrm>
            <a:off x="6492240" y="3657600"/>
            <a:ext cx="5038344" cy="658368"/>
          </a:xfrm>
          <a:prstGeom prst="roundRect">
            <a:avLst>
              <a:gd name="adj" fmla="val 11111"/>
            </a:avLst>
          </a:prstGeom>
          <a:solidFill>
            <a:srgbClr val="FFFFFF"/>
          </a:solidFill>
          <a:ln w="15875">
            <a:solidFill>
              <a:srgbClr val="C7D2E8"/>
            </a:solidFill>
            <a:prstDash val="solid"/>
          </a:ln>
        </p:spPr>
      </p:sp>
      <p:sp>
        <p:nvSpPr>
          <p:cNvPr id="45" name="Text 41"/>
          <p:cNvSpPr txBox="1"/>
          <p:nvPr/>
        </p:nvSpPr>
        <p:spPr>
          <a:xfrm>
            <a:off x="6556248" y="3657600"/>
            <a:ext cx="4910328" cy="658368"/>
          </a:xfrm>
          <a:prstGeom prst="rect">
            <a:avLst/>
          </a:prstGeom>
          <a:noFill/>
          <a:ln/>
        </p:spPr>
        <p:txBody>
          <a:bodyPr wrap="square" lIns="0" tIns="0" rIns="0" bIns="0" rtlCol="0" anchor="ctr"/>
          <a:lstStyle/>
          <a:p>
            <a:pPr algn="ctr" indent="0" marL="0">
              <a:lnSpc>
                <a:spcPct val="100000"/>
              </a:lnSpc>
              <a:buNone/>
            </a:pPr>
            <a:r>
              <a:rPr lang="en-US" sz="1250" b="1" dirty="0">
                <a:solidFill>
                  <a:srgbClr val="1F2937"/>
                </a:solidFill>
                <a:latin typeface="Calibri" pitchFamily="34" charset="0"/>
                <a:ea typeface="Calibri" pitchFamily="34" charset="-122"/>
                <a:cs typeface="Calibri" pitchFamily="34" charset="-120"/>
              </a:rPr>
              <a:t>Models &amp; Tools</a:t>
            </a:r>
            <a:endParaRPr lang="en-US" sz="1250" dirty="0"/>
          </a:p>
        </p:txBody>
      </p:sp>
      <p:sp>
        <p:nvSpPr>
          <p:cNvPr id="46" name="Shape 42"/>
          <p:cNvSpPr/>
          <p:nvPr/>
        </p:nvSpPr>
        <p:spPr>
          <a:xfrm>
            <a:off x="6492240" y="4663440"/>
            <a:ext cx="5038344" cy="621792"/>
          </a:xfrm>
          <a:prstGeom prst="roundRect">
            <a:avLst>
              <a:gd name="adj" fmla="val 11765"/>
            </a:avLst>
          </a:prstGeom>
          <a:solidFill>
            <a:srgbClr val="F7F8FA"/>
          </a:solidFill>
          <a:ln w="15875">
            <a:solidFill>
              <a:srgbClr val="D7DCE5"/>
            </a:solidFill>
            <a:prstDash val="dash"/>
          </a:ln>
        </p:spPr>
      </p:sp>
      <p:sp>
        <p:nvSpPr>
          <p:cNvPr id="47" name="Text 43"/>
          <p:cNvSpPr txBox="1"/>
          <p:nvPr/>
        </p:nvSpPr>
        <p:spPr>
          <a:xfrm>
            <a:off x="6601968" y="4727448"/>
            <a:ext cx="1463040" cy="493776"/>
          </a:xfrm>
          <a:prstGeom prst="rect">
            <a:avLst/>
          </a:prstGeom>
          <a:noFill/>
          <a:ln/>
        </p:spPr>
        <p:txBody>
          <a:bodyPr wrap="square" lIns="0" tIns="0" rIns="0" bIns="0" rtlCol="0" anchor="ctr"/>
          <a:lstStyle/>
          <a:p>
            <a:pPr indent="0" marL="0">
              <a:lnSpc>
                <a:spcPct val="100000"/>
              </a:lnSpc>
              <a:buNone/>
            </a:pPr>
            <a:r>
              <a:rPr lang="en-US" sz="900" i="1" dirty="0">
                <a:solidFill>
                  <a:srgbClr val="4B5563"/>
                </a:solidFill>
                <a:latin typeface="Calibri" pitchFamily="34" charset="0"/>
                <a:ea typeface="Calibri" pitchFamily="34" charset="-122"/>
                <a:cs typeface="Calibri" pitchFamily="34" charset="-120"/>
              </a:rPr>
              <a:t>Existing API traffic</a:t>
            </a:r>
            <a:endParaRPr lang="en-US" sz="900" dirty="0"/>
          </a:p>
          <a:p>
            <a:pPr indent="0" marL="0">
              <a:lnSpc>
                <a:spcPct val="100000"/>
              </a:lnSpc>
              <a:buNone/>
            </a:pPr>
            <a:r>
              <a:rPr lang="en-US" sz="900" i="1" dirty="0">
                <a:solidFill>
                  <a:srgbClr val="4B5563"/>
                </a:solidFill>
                <a:latin typeface="Calibri" pitchFamily="34" charset="0"/>
                <a:ea typeface="Calibri" pitchFamily="34" charset="-122"/>
                <a:cs typeface="Calibri" pitchFamily="34" charset="-120"/>
              </a:rPr>
              <a:t>stays on its own path</a:t>
            </a:r>
            <a:endParaRPr lang="en-US" sz="900" dirty="0"/>
          </a:p>
        </p:txBody>
      </p:sp>
      <p:sp>
        <p:nvSpPr>
          <p:cNvPr id="48" name="Shape 44"/>
          <p:cNvSpPr/>
          <p:nvPr/>
        </p:nvSpPr>
        <p:spPr>
          <a:xfrm>
            <a:off x="8138160" y="4764024"/>
            <a:ext cx="1463040" cy="420624"/>
          </a:xfrm>
          <a:prstGeom prst="roundRect">
            <a:avLst>
              <a:gd name="adj" fmla="val 17391"/>
            </a:avLst>
          </a:prstGeom>
          <a:solidFill>
            <a:srgbClr val="FFFFFF"/>
          </a:solidFill>
          <a:ln w="15875">
            <a:solidFill>
              <a:srgbClr val="C7D2E8"/>
            </a:solidFill>
            <a:prstDash val="solid"/>
          </a:ln>
        </p:spPr>
      </p:sp>
      <p:sp>
        <p:nvSpPr>
          <p:cNvPr id="49" name="Text 45"/>
          <p:cNvSpPr txBox="1"/>
          <p:nvPr/>
        </p:nvSpPr>
        <p:spPr>
          <a:xfrm>
            <a:off x="8202168" y="4764024"/>
            <a:ext cx="1335024" cy="420624"/>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ALB 1 (API Traffic)</a:t>
            </a:r>
            <a:endParaRPr lang="en-US" sz="1050" dirty="0"/>
          </a:p>
        </p:txBody>
      </p:sp>
      <p:sp>
        <p:nvSpPr>
          <p:cNvPr id="50" name="Shape 46"/>
          <p:cNvSpPr/>
          <p:nvPr/>
        </p:nvSpPr>
        <p:spPr>
          <a:xfrm>
            <a:off x="9656064" y="4974336"/>
            <a:ext cx="310896" cy="0"/>
          </a:xfrm>
          <a:prstGeom prst="line">
            <a:avLst/>
          </a:prstGeom>
          <a:noFill/>
          <a:ln w="22225">
            <a:solidFill>
              <a:srgbClr val="2B3A67"/>
            </a:solidFill>
            <a:prstDash val="solid"/>
            <a:tailEnd type="triangle"/>
          </a:ln>
        </p:spPr>
      </p:sp>
      <p:sp>
        <p:nvSpPr>
          <p:cNvPr id="51" name="Shape 47"/>
          <p:cNvSpPr/>
          <p:nvPr/>
        </p:nvSpPr>
        <p:spPr>
          <a:xfrm>
            <a:off x="10021824" y="4764024"/>
            <a:ext cx="1280160" cy="420624"/>
          </a:xfrm>
          <a:prstGeom prst="roundRect">
            <a:avLst>
              <a:gd name="adj" fmla="val 17391"/>
            </a:avLst>
          </a:prstGeom>
          <a:solidFill>
            <a:srgbClr val="FFFFFF"/>
          </a:solidFill>
          <a:ln w="15875">
            <a:solidFill>
              <a:srgbClr val="C7D2E8"/>
            </a:solidFill>
            <a:prstDash val="solid"/>
          </a:ln>
        </p:spPr>
      </p:sp>
      <p:sp>
        <p:nvSpPr>
          <p:cNvPr id="52" name="Text 48"/>
          <p:cNvSpPr txBox="1"/>
          <p:nvPr/>
        </p:nvSpPr>
        <p:spPr>
          <a:xfrm>
            <a:off x="10085832" y="4764024"/>
            <a:ext cx="1152144" cy="420624"/>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Kong Gateway</a:t>
            </a:r>
            <a:endParaRPr lang="en-US" sz="1050" dirty="0"/>
          </a:p>
        </p:txBody>
      </p:sp>
      <p:sp>
        <p:nvSpPr>
          <p:cNvPr id="53" name="Shape 49"/>
          <p:cNvSpPr/>
          <p:nvPr/>
        </p:nvSpPr>
        <p:spPr>
          <a:xfrm>
            <a:off x="457200" y="5961888"/>
            <a:ext cx="11274552" cy="548640"/>
          </a:xfrm>
          <a:prstGeom prst="roundRect">
            <a:avLst>
              <a:gd name="adj" fmla="val 13333"/>
            </a:avLst>
          </a:prstGeom>
          <a:solidFill>
            <a:srgbClr val="F4F7FB"/>
          </a:solidFill>
          <a:ln w="12700">
            <a:solidFill>
              <a:srgbClr val="C7D2E8"/>
            </a:solidFill>
            <a:prstDash val="solid"/>
          </a:ln>
        </p:spPr>
      </p:sp>
      <p:sp>
        <p:nvSpPr>
          <p:cNvPr id="54" name="Text 50"/>
          <p:cNvSpPr txBox="1"/>
          <p:nvPr/>
        </p:nvSpPr>
        <p:spPr>
          <a:xfrm>
            <a:off x="640080" y="5961888"/>
            <a:ext cx="10908792" cy="548640"/>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Option A extends what already runs — one ingress, one decK pipeline, one Splunk path. Option B duplicates all three and rebuilds Kong’s policy surface in a second proxy.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19456"/>
            <a:ext cx="11247120" cy="420624"/>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Exposing Agents and MCP Servers Outside the Organisation</a:t>
            </a:r>
            <a:endParaRPr lang="en-US" sz="2400" dirty="0"/>
          </a:p>
        </p:txBody>
      </p:sp>
      <p:sp>
        <p:nvSpPr>
          <p:cNvPr id="3" name="Shape 1"/>
          <p:cNvSpPr/>
          <p:nvPr/>
        </p:nvSpPr>
        <p:spPr>
          <a:xfrm>
            <a:off x="3474720" y="941832"/>
            <a:ext cx="0" cy="4745736"/>
          </a:xfrm>
          <a:prstGeom prst="line">
            <a:avLst/>
          </a:prstGeom>
          <a:noFill/>
          <a:ln w="15875">
            <a:solidFill>
              <a:srgbClr val="B9C2D4"/>
            </a:solidFill>
            <a:prstDash val="dash"/>
          </a:ln>
        </p:spPr>
      </p:sp>
      <p:sp>
        <p:nvSpPr>
          <p:cNvPr id="4" name="Text 2"/>
          <p:cNvSpPr txBox="1"/>
          <p:nvPr/>
        </p:nvSpPr>
        <p:spPr>
          <a:xfrm>
            <a:off x="2788920" y="676656"/>
            <a:ext cx="1371600" cy="219456"/>
          </a:xfrm>
          <a:prstGeom prst="rect">
            <a:avLst/>
          </a:prstGeom>
          <a:noFill/>
          <a:ln/>
        </p:spPr>
        <p:txBody>
          <a:bodyPr wrap="square" lIns="0" tIns="0" rIns="0" bIns="0" rtlCol="0" anchor="ctr"/>
          <a:lstStyle/>
          <a:p>
            <a:pPr algn="ctr" indent="0" marL="0">
              <a:buNone/>
            </a:pPr>
            <a:r>
              <a:rPr lang="en-US" sz="900" i="1" dirty="0">
                <a:solidFill>
                  <a:srgbClr val="4B5563"/>
                </a:solidFill>
                <a:latin typeface="Calibri" pitchFamily="34" charset="0"/>
                <a:ea typeface="Calibri" pitchFamily="34" charset="-122"/>
                <a:cs typeface="Calibri" pitchFamily="34" charset="-120"/>
              </a:rPr>
              <a:t>Trust boundary</a:t>
            </a:r>
            <a:endParaRPr lang="en-US" sz="900" dirty="0"/>
          </a:p>
        </p:txBody>
      </p:sp>
      <p:sp>
        <p:nvSpPr>
          <p:cNvPr id="5" name="Shape 3"/>
          <p:cNvSpPr/>
          <p:nvPr/>
        </p:nvSpPr>
        <p:spPr>
          <a:xfrm>
            <a:off x="457200" y="960120"/>
            <a:ext cx="2697480" cy="4709160"/>
          </a:xfrm>
          <a:prstGeom prst="roundRect">
            <a:avLst>
              <a:gd name="adj" fmla="val 4068"/>
            </a:avLst>
          </a:prstGeom>
          <a:solidFill>
            <a:srgbClr val="FFFFFF"/>
          </a:solidFill>
          <a:ln w="15875">
            <a:solidFill>
              <a:srgbClr val="C7D2E8"/>
            </a:solidFill>
            <a:prstDash val="solid"/>
          </a:ln>
        </p:spPr>
      </p:sp>
      <p:sp>
        <p:nvSpPr>
          <p:cNvPr id="6" name="Shape 4"/>
          <p:cNvSpPr/>
          <p:nvPr/>
        </p:nvSpPr>
        <p:spPr>
          <a:xfrm>
            <a:off x="603504" y="1115568"/>
            <a:ext cx="2404872" cy="457200"/>
          </a:xfrm>
          <a:prstGeom prst="roundRect">
            <a:avLst>
              <a:gd name="adj" fmla="val 16000"/>
            </a:avLst>
          </a:prstGeom>
          <a:solidFill>
            <a:srgbClr val="F4F7FB"/>
          </a:solidFill>
          <a:ln w="12700">
            <a:solidFill>
              <a:srgbClr val="C7D2E8"/>
            </a:solidFill>
            <a:prstDash val="solid"/>
          </a:ln>
        </p:spPr>
      </p:sp>
      <p:sp>
        <p:nvSpPr>
          <p:cNvPr id="7" name="Text 5"/>
          <p:cNvSpPr txBox="1"/>
          <p:nvPr/>
        </p:nvSpPr>
        <p:spPr>
          <a:xfrm>
            <a:off x="603504" y="1115568"/>
            <a:ext cx="2404872" cy="457200"/>
          </a:xfrm>
          <a:prstGeom prst="rect">
            <a:avLst/>
          </a:prstGeom>
          <a:noFill/>
          <a:ln/>
        </p:spPr>
        <p:txBody>
          <a:bodyPr wrap="square" lIns="0" tIns="0" rIns="0" bIns="0" rtlCol="0" anchor="ctr"/>
          <a:lstStyle/>
          <a:p>
            <a:pPr algn="ctr" indent="0" marL="0">
              <a:buNone/>
            </a:pPr>
            <a:r>
              <a:rPr lang="en-US" sz="1250" b="1" dirty="0">
                <a:solidFill>
                  <a:srgbClr val="1E3A8A"/>
                </a:solidFill>
                <a:latin typeface="Calibri" pitchFamily="34" charset="0"/>
                <a:ea typeface="Calibri" pitchFamily="34" charset="-122"/>
                <a:cs typeface="Calibri" pitchFamily="34" charset="-120"/>
              </a:rPr>
              <a:t>Outside the organisation</a:t>
            </a:r>
            <a:endParaRPr lang="en-US" sz="1250" dirty="0"/>
          </a:p>
        </p:txBody>
      </p:sp>
      <p:sp>
        <p:nvSpPr>
          <p:cNvPr id="8" name="Shape 6"/>
          <p:cNvSpPr/>
          <p:nvPr/>
        </p:nvSpPr>
        <p:spPr>
          <a:xfrm>
            <a:off x="640080" y="1810512"/>
            <a:ext cx="2331720" cy="731520"/>
          </a:xfrm>
          <a:prstGeom prst="roundRect">
            <a:avLst>
              <a:gd name="adj" fmla="val 10000"/>
            </a:avLst>
          </a:prstGeom>
          <a:solidFill>
            <a:srgbClr val="FFFFFF"/>
          </a:solidFill>
          <a:ln w="15875">
            <a:solidFill>
              <a:srgbClr val="C7D2E8"/>
            </a:solidFill>
            <a:prstDash val="solid"/>
          </a:ln>
        </p:spPr>
      </p:sp>
      <p:sp>
        <p:nvSpPr>
          <p:cNvPr id="9" name="Text 7"/>
          <p:cNvSpPr txBox="1"/>
          <p:nvPr/>
        </p:nvSpPr>
        <p:spPr>
          <a:xfrm>
            <a:off x="713232" y="1810512"/>
            <a:ext cx="218541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Partner and customer</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agents (A2A clients)</a:t>
            </a:r>
            <a:endParaRPr lang="en-US" sz="1050" dirty="0"/>
          </a:p>
        </p:txBody>
      </p:sp>
      <p:sp>
        <p:nvSpPr>
          <p:cNvPr id="10" name="Shape 8"/>
          <p:cNvSpPr/>
          <p:nvPr/>
        </p:nvSpPr>
        <p:spPr>
          <a:xfrm>
            <a:off x="640080" y="2670048"/>
            <a:ext cx="2331720" cy="731520"/>
          </a:xfrm>
          <a:prstGeom prst="roundRect">
            <a:avLst>
              <a:gd name="adj" fmla="val 10000"/>
            </a:avLst>
          </a:prstGeom>
          <a:solidFill>
            <a:srgbClr val="FFFFFF"/>
          </a:solidFill>
          <a:ln w="15875">
            <a:solidFill>
              <a:srgbClr val="C7D2E8"/>
            </a:solidFill>
            <a:prstDash val="solid"/>
          </a:ln>
        </p:spPr>
      </p:sp>
      <p:sp>
        <p:nvSpPr>
          <p:cNvPr id="11" name="Text 9"/>
          <p:cNvSpPr txBox="1"/>
          <p:nvPr/>
        </p:nvSpPr>
        <p:spPr>
          <a:xfrm>
            <a:off x="713232" y="2670048"/>
            <a:ext cx="218541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Third-party MCP clients</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(IDEs, assistants)</a:t>
            </a:r>
            <a:endParaRPr lang="en-US" sz="1050" dirty="0"/>
          </a:p>
        </p:txBody>
      </p:sp>
      <p:sp>
        <p:nvSpPr>
          <p:cNvPr id="12" name="Shape 10"/>
          <p:cNvSpPr/>
          <p:nvPr/>
        </p:nvSpPr>
        <p:spPr>
          <a:xfrm>
            <a:off x="640080" y="3529584"/>
            <a:ext cx="2331720" cy="731520"/>
          </a:xfrm>
          <a:prstGeom prst="roundRect">
            <a:avLst>
              <a:gd name="adj" fmla="val 10000"/>
            </a:avLst>
          </a:prstGeom>
          <a:solidFill>
            <a:srgbClr val="FFFFFF"/>
          </a:solidFill>
          <a:ln w="15875">
            <a:solidFill>
              <a:srgbClr val="C7D2E8"/>
            </a:solidFill>
            <a:prstDash val="solid"/>
          </a:ln>
        </p:spPr>
      </p:sp>
      <p:sp>
        <p:nvSpPr>
          <p:cNvPr id="13" name="Text 11"/>
          <p:cNvSpPr txBox="1"/>
          <p:nvPr/>
        </p:nvSpPr>
        <p:spPr>
          <a:xfrm>
            <a:off x="713232" y="3529584"/>
            <a:ext cx="218541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SaaS and B2B</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applications</a:t>
            </a:r>
            <a:endParaRPr lang="en-US" sz="1050" dirty="0"/>
          </a:p>
        </p:txBody>
      </p:sp>
      <p:sp>
        <p:nvSpPr>
          <p:cNvPr id="14" name="Shape 12"/>
          <p:cNvSpPr/>
          <p:nvPr/>
        </p:nvSpPr>
        <p:spPr>
          <a:xfrm>
            <a:off x="640080" y="4389120"/>
            <a:ext cx="2331720" cy="731520"/>
          </a:xfrm>
          <a:prstGeom prst="roundRect">
            <a:avLst>
              <a:gd name="adj" fmla="val 10000"/>
            </a:avLst>
          </a:prstGeom>
          <a:solidFill>
            <a:srgbClr val="FFFFFF"/>
          </a:solidFill>
          <a:ln w="15875">
            <a:solidFill>
              <a:srgbClr val="C7D2E8"/>
            </a:solidFill>
            <a:prstDash val="solid"/>
          </a:ln>
        </p:spPr>
      </p:sp>
      <p:sp>
        <p:nvSpPr>
          <p:cNvPr id="15" name="Text 13"/>
          <p:cNvSpPr txBox="1"/>
          <p:nvPr/>
        </p:nvSpPr>
        <p:spPr>
          <a:xfrm>
            <a:off x="713232" y="4389120"/>
            <a:ext cx="218541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External developers via</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the dev portal</a:t>
            </a:r>
            <a:endParaRPr lang="en-US" sz="1050" dirty="0"/>
          </a:p>
        </p:txBody>
      </p:sp>
      <p:sp>
        <p:nvSpPr>
          <p:cNvPr id="16" name="Shape 14"/>
          <p:cNvSpPr/>
          <p:nvPr/>
        </p:nvSpPr>
        <p:spPr>
          <a:xfrm>
            <a:off x="8549640" y="960120"/>
            <a:ext cx="3200400" cy="4709160"/>
          </a:xfrm>
          <a:prstGeom prst="roundRect">
            <a:avLst>
              <a:gd name="adj" fmla="val 3429"/>
            </a:avLst>
          </a:prstGeom>
          <a:solidFill>
            <a:srgbClr val="FFFFFF"/>
          </a:solidFill>
          <a:ln w="15875">
            <a:solidFill>
              <a:srgbClr val="C7D2E8"/>
            </a:solidFill>
            <a:prstDash val="solid"/>
          </a:ln>
        </p:spPr>
      </p:sp>
      <p:sp>
        <p:nvSpPr>
          <p:cNvPr id="17" name="Shape 15"/>
          <p:cNvSpPr/>
          <p:nvPr/>
        </p:nvSpPr>
        <p:spPr>
          <a:xfrm>
            <a:off x="8695944" y="1115568"/>
            <a:ext cx="2907792" cy="457200"/>
          </a:xfrm>
          <a:prstGeom prst="roundRect">
            <a:avLst>
              <a:gd name="adj" fmla="val 16000"/>
            </a:avLst>
          </a:prstGeom>
          <a:solidFill>
            <a:srgbClr val="F4F7FB"/>
          </a:solidFill>
          <a:ln w="12700">
            <a:solidFill>
              <a:srgbClr val="C7D2E8"/>
            </a:solidFill>
            <a:prstDash val="solid"/>
          </a:ln>
        </p:spPr>
      </p:sp>
      <p:sp>
        <p:nvSpPr>
          <p:cNvPr id="18" name="Text 16"/>
          <p:cNvSpPr txBox="1"/>
          <p:nvPr/>
        </p:nvSpPr>
        <p:spPr>
          <a:xfrm>
            <a:off x="8695944" y="1115568"/>
            <a:ext cx="2907792" cy="457200"/>
          </a:xfrm>
          <a:prstGeom prst="rect">
            <a:avLst/>
          </a:prstGeom>
          <a:noFill/>
          <a:ln/>
        </p:spPr>
        <p:txBody>
          <a:bodyPr wrap="square" lIns="0" tIns="0" rIns="0" bIns="0" rtlCol="0" anchor="ctr"/>
          <a:lstStyle/>
          <a:p>
            <a:pPr algn="ctr" indent="0" marL="0">
              <a:buNone/>
            </a:pPr>
            <a:r>
              <a:rPr lang="en-US" sz="1250" b="1" dirty="0">
                <a:solidFill>
                  <a:srgbClr val="1E3A8A"/>
                </a:solidFill>
                <a:latin typeface="Calibri" pitchFamily="34" charset="0"/>
                <a:ea typeface="Calibri" pitchFamily="34" charset="-122"/>
                <a:cs typeface="Calibri" pitchFamily="34" charset="-120"/>
              </a:rPr>
              <a:t>Inside the organisation</a:t>
            </a:r>
            <a:endParaRPr lang="en-US" sz="1250" dirty="0"/>
          </a:p>
        </p:txBody>
      </p:sp>
      <p:sp>
        <p:nvSpPr>
          <p:cNvPr id="19" name="Shape 17"/>
          <p:cNvSpPr/>
          <p:nvPr/>
        </p:nvSpPr>
        <p:spPr>
          <a:xfrm>
            <a:off x="8732520" y="1810512"/>
            <a:ext cx="2834640" cy="731520"/>
          </a:xfrm>
          <a:prstGeom prst="roundRect">
            <a:avLst>
              <a:gd name="adj" fmla="val 10000"/>
            </a:avLst>
          </a:prstGeom>
          <a:solidFill>
            <a:srgbClr val="FFFFFF"/>
          </a:solidFill>
          <a:ln w="15875">
            <a:solidFill>
              <a:srgbClr val="C7D2E8"/>
            </a:solidFill>
            <a:prstDash val="solid"/>
          </a:ln>
        </p:spPr>
      </p:sp>
      <p:sp>
        <p:nvSpPr>
          <p:cNvPr id="20" name="Text 18"/>
          <p:cNvSpPr txBox="1"/>
          <p:nvPr/>
        </p:nvSpPr>
        <p:spPr>
          <a:xfrm>
            <a:off x="8805672" y="1810512"/>
            <a:ext cx="268833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Internal agents (A2A servers)</a:t>
            </a:r>
            <a:endParaRPr lang="en-US" sz="1050" dirty="0"/>
          </a:p>
        </p:txBody>
      </p:sp>
      <p:sp>
        <p:nvSpPr>
          <p:cNvPr id="21" name="Shape 19"/>
          <p:cNvSpPr/>
          <p:nvPr/>
        </p:nvSpPr>
        <p:spPr>
          <a:xfrm>
            <a:off x="8732520" y="2670048"/>
            <a:ext cx="2834640" cy="731520"/>
          </a:xfrm>
          <a:prstGeom prst="roundRect">
            <a:avLst>
              <a:gd name="adj" fmla="val 10000"/>
            </a:avLst>
          </a:prstGeom>
          <a:solidFill>
            <a:srgbClr val="FFFFFF"/>
          </a:solidFill>
          <a:ln w="15875">
            <a:solidFill>
              <a:srgbClr val="C7D2E8"/>
            </a:solidFill>
            <a:prstDash val="solid"/>
          </a:ln>
        </p:spPr>
      </p:sp>
      <p:sp>
        <p:nvSpPr>
          <p:cNvPr id="22" name="Text 20"/>
          <p:cNvSpPr txBox="1"/>
          <p:nvPr/>
        </p:nvSpPr>
        <p:spPr>
          <a:xfrm>
            <a:off x="8805672" y="2670048"/>
            <a:ext cx="268833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MCP servers (tools and data)</a:t>
            </a:r>
            <a:endParaRPr lang="en-US" sz="1050" dirty="0"/>
          </a:p>
        </p:txBody>
      </p:sp>
      <p:sp>
        <p:nvSpPr>
          <p:cNvPr id="23" name="Shape 21"/>
          <p:cNvSpPr/>
          <p:nvPr/>
        </p:nvSpPr>
        <p:spPr>
          <a:xfrm>
            <a:off x="8732520" y="3529584"/>
            <a:ext cx="2834640" cy="731520"/>
          </a:xfrm>
          <a:prstGeom prst="roundRect">
            <a:avLst>
              <a:gd name="adj" fmla="val 10000"/>
            </a:avLst>
          </a:prstGeom>
          <a:solidFill>
            <a:srgbClr val="FFFFFF"/>
          </a:solidFill>
          <a:ln w="15875">
            <a:solidFill>
              <a:srgbClr val="C7D2E8"/>
            </a:solidFill>
            <a:prstDash val="solid"/>
          </a:ln>
        </p:spPr>
      </p:sp>
      <p:sp>
        <p:nvSpPr>
          <p:cNvPr id="24" name="Text 22"/>
          <p:cNvSpPr txBox="1"/>
          <p:nvPr/>
        </p:nvSpPr>
        <p:spPr>
          <a:xfrm>
            <a:off x="8805672" y="3529584"/>
            <a:ext cx="268833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Models (Bedrock / Vertex)</a:t>
            </a:r>
            <a:endParaRPr lang="en-US" sz="1050" dirty="0"/>
          </a:p>
        </p:txBody>
      </p:sp>
      <p:sp>
        <p:nvSpPr>
          <p:cNvPr id="25" name="Shape 23"/>
          <p:cNvSpPr/>
          <p:nvPr/>
        </p:nvSpPr>
        <p:spPr>
          <a:xfrm>
            <a:off x="8732520" y="4389120"/>
            <a:ext cx="2834640" cy="731520"/>
          </a:xfrm>
          <a:prstGeom prst="roundRect">
            <a:avLst>
              <a:gd name="adj" fmla="val 10000"/>
            </a:avLst>
          </a:prstGeom>
          <a:solidFill>
            <a:srgbClr val="FFFFFF"/>
          </a:solidFill>
          <a:ln w="15875">
            <a:solidFill>
              <a:srgbClr val="C7D2E8"/>
            </a:solidFill>
            <a:prstDash val="solid"/>
          </a:ln>
        </p:spPr>
      </p:sp>
      <p:sp>
        <p:nvSpPr>
          <p:cNvPr id="26" name="Text 24"/>
          <p:cNvSpPr txBox="1"/>
          <p:nvPr/>
        </p:nvSpPr>
        <p:spPr>
          <a:xfrm>
            <a:off x="8805672" y="4389120"/>
            <a:ext cx="2688336" cy="73152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Core banking systems &amp; DBs</a:t>
            </a:r>
            <a:endParaRPr lang="en-US" sz="1050" dirty="0"/>
          </a:p>
        </p:txBody>
      </p:sp>
      <p:sp>
        <p:nvSpPr>
          <p:cNvPr id="27" name="Shape 25"/>
          <p:cNvSpPr/>
          <p:nvPr/>
        </p:nvSpPr>
        <p:spPr>
          <a:xfrm>
            <a:off x="3794760" y="960120"/>
            <a:ext cx="4206240" cy="4709160"/>
          </a:xfrm>
          <a:prstGeom prst="roundRect">
            <a:avLst>
              <a:gd name="adj" fmla="val 2609"/>
            </a:avLst>
          </a:prstGeom>
          <a:solidFill>
            <a:srgbClr val="F2FBF8"/>
          </a:solidFill>
          <a:ln w="19050">
            <a:solidFill>
              <a:srgbClr val="A8DDCB"/>
            </a:solidFill>
            <a:prstDash val="solid"/>
          </a:ln>
        </p:spPr>
      </p:sp>
      <p:sp>
        <p:nvSpPr>
          <p:cNvPr id="28" name="Shape 26"/>
          <p:cNvSpPr/>
          <p:nvPr/>
        </p:nvSpPr>
        <p:spPr>
          <a:xfrm>
            <a:off x="5623560" y="1115568"/>
            <a:ext cx="548640" cy="548640"/>
          </a:xfrm>
          <a:prstGeom prst="ellipse">
            <a:avLst/>
          </a:prstGeom>
          <a:solidFill>
            <a:srgbClr val="0F9D76"/>
          </a:solidFill>
          <a:ln w="12700">
            <a:solidFill>
              <a:srgbClr val="0F9D76"/>
            </a:solidFill>
            <a:prstDash val="solid"/>
          </a:ln>
        </p:spPr>
      </p:sp>
      <p:pic>
        <p:nvPicPr>
          <p:cNvPr id="29" name="Image 0" descr="preencoded.png">    </p:cNvPr>
          <p:cNvPicPr>
            <a:picLocks noChangeAspect="1"/>
          </p:cNvPicPr>
          <p:nvPr/>
        </p:nvPicPr>
        <p:blipFill>
          <a:blip r:embed="rId1"/>
          <a:stretch>
            <a:fillRect/>
          </a:stretch>
        </p:blipFill>
        <p:spPr>
          <a:xfrm>
            <a:off x="5751576" y="1243584"/>
            <a:ext cx="292608" cy="292608"/>
          </a:xfrm>
          <a:prstGeom prst="rect">
            <a:avLst/>
          </a:prstGeom>
        </p:spPr>
      </p:pic>
      <p:sp>
        <p:nvSpPr>
          <p:cNvPr id="30" name="Text 27"/>
          <p:cNvSpPr txBox="1"/>
          <p:nvPr/>
        </p:nvSpPr>
        <p:spPr>
          <a:xfrm>
            <a:off x="3977640" y="1737360"/>
            <a:ext cx="3840480" cy="292608"/>
          </a:xfrm>
          <a:prstGeom prst="rect">
            <a:avLst/>
          </a:prstGeom>
          <a:noFill/>
          <a:ln/>
        </p:spPr>
        <p:txBody>
          <a:bodyPr wrap="square" lIns="0" tIns="0" rIns="0" bIns="0" rtlCol="0" anchor="ctr"/>
          <a:lstStyle/>
          <a:p>
            <a:pPr algn="ctr" indent="0" marL="0">
              <a:buNone/>
            </a:pPr>
            <a:r>
              <a:rPr lang="en-US" sz="1700" b="1" dirty="0">
                <a:solidFill>
                  <a:srgbClr val="0A7355"/>
                </a:solidFill>
                <a:latin typeface="Calibri" pitchFamily="34" charset="0"/>
                <a:ea typeface="Calibri" pitchFamily="34" charset="-122"/>
                <a:cs typeface="Calibri" pitchFamily="34" charset="-120"/>
              </a:rPr>
              <a:t>Kong AI Gateway</a:t>
            </a:r>
            <a:endParaRPr lang="en-US" sz="1700" dirty="0"/>
          </a:p>
        </p:txBody>
      </p:sp>
      <p:sp>
        <p:nvSpPr>
          <p:cNvPr id="31" name="Text 28"/>
          <p:cNvSpPr txBox="1"/>
          <p:nvPr/>
        </p:nvSpPr>
        <p:spPr>
          <a:xfrm>
            <a:off x="3977640" y="2029968"/>
            <a:ext cx="3840480" cy="237744"/>
          </a:xfrm>
          <a:prstGeom prst="rect">
            <a:avLst/>
          </a:prstGeom>
          <a:noFill/>
          <a:ln/>
        </p:spPr>
        <p:txBody>
          <a:bodyPr wrap="square" lIns="0" tIns="0" rIns="0" bIns="0" rtlCol="0" anchor="ctr"/>
          <a:lstStyle/>
          <a:p>
            <a:pPr algn="ctr" indent="0" marL="0">
              <a:buNone/>
            </a:pPr>
            <a:r>
              <a:rPr lang="en-US" sz="1000" i="1" dirty="0">
                <a:solidFill>
                  <a:srgbClr val="4B5563"/>
                </a:solidFill>
                <a:latin typeface="Calibri" pitchFamily="34" charset="0"/>
                <a:ea typeface="Calibri" pitchFamily="34" charset="-122"/>
                <a:cs typeface="Calibri" pitchFamily="34" charset="-120"/>
              </a:rPr>
              <a:t>The only front door for external agent and tool traffic</a:t>
            </a:r>
            <a:endParaRPr lang="en-US" sz="1000" dirty="0"/>
          </a:p>
        </p:txBody>
      </p:sp>
      <p:sp>
        <p:nvSpPr>
          <p:cNvPr id="32" name="Shape 29"/>
          <p:cNvSpPr/>
          <p:nvPr/>
        </p:nvSpPr>
        <p:spPr>
          <a:xfrm>
            <a:off x="4023360" y="2395728"/>
            <a:ext cx="3749040" cy="914400"/>
          </a:xfrm>
          <a:prstGeom prst="roundRect">
            <a:avLst>
              <a:gd name="adj" fmla="val 8000"/>
            </a:avLst>
          </a:prstGeom>
          <a:solidFill>
            <a:srgbClr val="F4F4FE"/>
          </a:solidFill>
          <a:ln w="15875">
            <a:solidFill>
              <a:srgbClr val="D8D2F2"/>
            </a:solidFill>
            <a:prstDash val="solid"/>
          </a:ln>
        </p:spPr>
      </p:sp>
      <p:sp>
        <p:nvSpPr>
          <p:cNvPr id="33" name="Text 30"/>
          <p:cNvSpPr txBox="1"/>
          <p:nvPr/>
        </p:nvSpPr>
        <p:spPr>
          <a:xfrm>
            <a:off x="4160520" y="2478024"/>
            <a:ext cx="3474720" cy="256032"/>
          </a:xfrm>
          <a:prstGeom prst="rect">
            <a:avLst/>
          </a:prstGeom>
          <a:noFill/>
          <a:ln/>
        </p:spPr>
        <p:txBody>
          <a:bodyPr wrap="square" lIns="0" tIns="0" rIns="0" bIns="0" rtlCol="0" anchor="ctr"/>
          <a:lstStyle/>
          <a:p>
            <a:pPr indent="0" marL="0">
              <a:buNone/>
            </a:pPr>
            <a:r>
              <a:rPr lang="en-US" sz="1300" b="1" dirty="0">
                <a:solidFill>
                  <a:srgbClr val="4338CA"/>
                </a:solidFill>
                <a:latin typeface="Calibri" pitchFamily="34" charset="0"/>
                <a:ea typeface="Calibri" pitchFamily="34" charset="-122"/>
                <a:cs typeface="Calibri" pitchFamily="34" charset="-120"/>
              </a:rPr>
              <a:t>A2A Proxy</a:t>
            </a:r>
            <a:endParaRPr lang="en-US" sz="1300" dirty="0"/>
          </a:p>
        </p:txBody>
      </p:sp>
      <p:sp>
        <p:nvSpPr>
          <p:cNvPr id="34" name="Text 31"/>
          <p:cNvSpPr txBox="1"/>
          <p:nvPr/>
        </p:nvSpPr>
        <p:spPr>
          <a:xfrm>
            <a:off x="4160520" y="2743200"/>
            <a:ext cx="3474720" cy="493776"/>
          </a:xfrm>
          <a:prstGeom prst="rect">
            <a:avLst/>
          </a:prstGeom>
          <a:noFill/>
          <a:ln/>
        </p:spPr>
        <p:txBody>
          <a:bodyPr wrap="square" lIns="0" tIns="0" rIns="0" bIns="0"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Publishes agent cards, authenticates callers and routes tasks to the right internal agent over JSON-RPC / HTTP.</a:t>
            </a:r>
            <a:endParaRPr lang="en-US" sz="1000" dirty="0"/>
          </a:p>
        </p:txBody>
      </p:sp>
      <p:sp>
        <p:nvSpPr>
          <p:cNvPr id="35" name="Shape 32"/>
          <p:cNvSpPr/>
          <p:nvPr/>
        </p:nvSpPr>
        <p:spPr>
          <a:xfrm>
            <a:off x="4023360" y="3419856"/>
            <a:ext cx="3749040" cy="914400"/>
          </a:xfrm>
          <a:prstGeom prst="roundRect">
            <a:avLst>
              <a:gd name="adj" fmla="val 8000"/>
            </a:avLst>
          </a:prstGeom>
          <a:solidFill>
            <a:srgbClr val="F7FCF8"/>
          </a:solidFill>
          <a:ln w="15875">
            <a:solidFill>
              <a:srgbClr val="BFE0C7"/>
            </a:solidFill>
            <a:prstDash val="solid"/>
          </a:ln>
        </p:spPr>
      </p:sp>
      <p:sp>
        <p:nvSpPr>
          <p:cNvPr id="36" name="Text 33"/>
          <p:cNvSpPr txBox="1"/>
          <p:nvPr/>
        </p:nvSpPr>
        <p:spPr>
          <a:xfrm>
            <a:off x="4160520" y="3502152"/>
            <a:ext cx="3474720" cy="256032"/>
          </a:xfrm>
          <a:prstGeom prst="rect">
            <a:avLst/>
          </a:prstGeom>
          <a:noFill/>
          <a:ln/>
        </p:spPr>
        <p:txBody>
          <a:bodyPr wrap="square" lIns="0" tIns="0" rIns="0" bIns="0" rtlCol="0" anchor="ctr"/>
          <a:lstStyle/>
          <a:p>
            <a:pPr indent="0" marL="0">
              <a:buNone/>
            </a:pPr>
            <a:r>
              <a:rPr lang="en-US" sz="1300" b="1" dirty="0">
                <a:solidFill>
                  <a:srgbClr val="166534"/>
                </a:solidFill>
                <a:latin typeface="Calibri" pitchFamily="34" charset="0"/>
                <a:ea typeface="Calibri" pitchFamily="34" charset="-122"/>
                <a:cs typeface="Calibri" pitchFamily="34" charset="-120"/>
              </a:rPr>
              <a:t>MCP Proxy  (ai-mcp-proxy)</a:t>
            </a:r>
            <a:endParaRPr lang="en-US" sz="1300" dirty="0"/>
          </a:p>
        </p:txBody>
      </p:sp>
      <p:sp>
        <p:nvSpPr>
          <p:cNvPr id="37" name="Text 34"/>
          <p:cNvSpPr txBox="1"/>
          <p:nvPr/>
        </p:nvSpPr>
        <p:spPr>
          <a:xfrm>
            <a:off x="4160520" y="3767328"/>
            <a:ext cx="3474720" cy="493776"/>
          </a:xfrm>
          <a:prstGeom prst="rect">
            <a:avLst/>
          </a:prstGeom>
          <a:noFill/>
          <a:ln/>
        </p:spPr>
        <p:txBody>
          <a:bodyPr wrap="square" lIns="0" tIns="0" rIns="0" bIns="0"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Aggregates internal MCP servers behind one endpoint and exposes only the tools each consumer is entitled to call.</a:t>
            </a:r>
            <a:endParaRPr lang="en-US" sz="1000" dirty="0"/>
          </a:p>
        </p:txBody>
      </p:sp>
      <p:sp>
        <p:nvSpPr>
          <p:cNvPr id="38" name="Text 35"/>
          <p:cNvSpPr txBox="1"/>
          <p:nvPr/>
        </p:nvSpPr>
        <p:spPr>
          <a:xfrm>
            <a:off x="4023360" y="4425696"/>
            <a:ext cx="3749040" cy="201168"/>
          </a:xfrm>
          <a:prstGeom prst="rect">
            <a:avLst/>
          </a:prstGeom>
          <a:noFill/>
          <a:ln/>
        </p:spPr>
        <p:txBody>
          <a:bodyPr wrap="square" lIns="0" tIns="0" rIns="0" bIns="0" rtlCol="0" anchor="ctr"/>
          <a:lstStyle/>
          <a:p>
            <a:pPr algn="ctr" indent="0" marL="0">
              <a:buNone/>
            </a:pPr>
            <a:r>
              <a:rPr lang="en-US" sz="900" i="1" dirty="0">
                <a:solidFill>
                  <a:srgbClr val="4B5563"/>
                </a:solidFill>
                <a:latin typeface="Calibri" pitchFamily="34" charset="0"/>
                <a:ea typeface="Calibri" pitchFamily="34" charset="-122"/>
                <a:cs typeface="Calibri" pitchFamily="34" charset="-120"/>
              </a:rPr>
              <a:t>Applied to every request</a:t>
            </a:r>
            <a:endParaRPr lang="en-US" sz="900" dirty="0"/>
          </a:p>
        </p:txBody>
      </p:sp>
      <p:sp>
        <p:nvSpPr>
          <p:cNvPr id="39" name="Shape 36"/>
          <p:cNvSpPr/>
          <p:nvPr/>
        </p:nvSpPr>
        <p:spPr>
          <a:xfrm>
            <a:off x="4023360" y="4663440"/>
            <a:ext cx="1805940" cy="420624"/>
          </a:xfrm>
          <a:prstGeom prst="roundRect">
            <a:avLst>
              <a:gd name="adj" fmla="val 17391"/>
            </a:avLst>
          </a:prstGeom>
          <a:solidFill>
            <a:srgbClr val="FFFFFF"/>
          </a:solidFill>
          <a:ln w="15875">
            <a:solidFill>
              <a:srgbClr val="CFE6DC"/>
            </a:solidFill>
            <a:prstDash val="solid"/>
          </a:ln>
        </p:spPr>
      </p:sp>
      <p:sp>
        <p:nvSpPr>
          <p:cNvPr id="40" name="Text 37"/>
          <p:cNvSpPr txBox="1"/>
          <p:nvPr/>
        </p:nvSpPr>
        <p:spPr>
          <a:xfrm>
            <a:off x="4078224" y="4663440"/>
            <a:ext cx="1696212" cy="420624"/>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OAuth2 / OIDC and mTLS</a:t>
            </a:r>
            <a:endParaRPr lang="en-US" sz="950" dirty="0"/>
          </a:p>
        </p:txBody>
      </p:sp>
      <p:sp>
        <p:nvSpPr>
          <p:cNvPr id="41" name="Shape 38"/>
          <p:cNvSpPr/>
          <p:nvPr/>
        </p:nvSpPr>
        <p:spPr>
          <a:xfrm>
            <a:off x="5966460" y="4663440"/>
            <a:ext cx="1805940" cy="420624"/>
          </a:xfrm>
          <a:prstGeom prst="roundRect">
            <a:avLst>
              <a:gd name="adj" fmla="val 17391"/>
            </a:avLst>
          </a:prstGeom>
          <a:solidFill>
            <a:srgbClr val="FFFFFF"/>
          </a:solidFill>
          <a:ln w="15875">
            <a:solidFill>
              <a:srgbClr val="CFE6DC"/>
            </a:solidFill>
            <a:prstDash val="solid"/>
          </a:ln>
        </p:spPr>
      </p:sp>
      <p:sp>
        <p:nvSpPr>
          <p:cNvPr id="42" name="Text 39"/>
          <p:cNvSpPr txBox="1"/>
          <p:nvPr/>
        </p:nvSpPr>
        <p:spPr>
          <a:xfrm>
            <a:off x="6021324" y="4663440"/>
            <a:ext cx="1696212" cy="420624"/>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Per-consumer quotas</a:t>
            </a:r>
            <a:endParaRPr lang="en-US" sz="950" dirty="0"/>
          </a:p>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and rate limits</a:t>
            </a:r>
            <a:endParaRPr lang="en-US" sz="950" dirty="0"/>
          </a:p>
        </p:txBody>
      </p:sp>
      <p:sp>
        <p:nvSpPr>
          <p:cNvPr id="43" name="Shape 40"/>
          <p:cNvSpPr/>
          <p:nvPr/>
        </p:nvSpPr>
        <p:spPr>
          <a:xfrm>
            <a:off x="4023360" y="5138928"/>
            <a:ext cx="1805940" cy="420624"/>
          </a:xfrm>
          <a:prstGeom prst="roundRect">
            <a:avLst>
              <a:gd name="adj" fmla="val 17391"/>
            </a:avLst>
          </a:prstGeom>
          <a:solidFill>
            <a:srgbClr val="FFFFFF"/>
          </a:solidFill>
          <a:ln w="15875">
            <a:solidFill>
              <a:srgbClr val="CFE6DC"/>
            </a:solidFill>
            <a:prstDash val="solid"/>
          </a:ln>
        </p:spPr>
      </p:sp>
      <p:sp>
        <p:nvSpPr>
          <p:cNvPr id="44" name="Text 41"/>
          <p:cNvSpPr txBox="1"/>
          <p:nvPr/>
        </p:nvSpPr>
        <p:spPr>
          <a:xfrm>
            <a:off x="4078224" y="5138928"/>
            <a:ext cx="1696212" cy="420624"/>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Prompt, PII and</a:t>
            </a:r>
            <a:endParaRPr lang="en-US" sz="950" dirty="0"/>
          </a:p>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schema guardrails</a:t>
            </a:r>
            <a:endParaRPr lang="en-US" sz="950" dirty="0"/>
          </a:p>
        </p:txBody>
      </p:sp>
      <p:sp>
        <p:nvSpPr>
          <p:cNvPr id="45" name="Shape 42"/>
          <p:cNvSpPr/>
          <p:nvPr/>
        </p:nvSpPr>
        <p:spPr>
          <a:xfrm>
            <a:off x="5966460" y="5138928"/>
            <a:ext cx="1805940" cy="420624"/>
          </a:xfrm>
          <a:prstGeom prst="roundRect">
            <a:avLst>
              <a:gd name="adj" fmla="val 17391"/>
            </a:avLst>
          </a:prstGeom>
          <a:solidFill>
            <a:srgbClr val="FFFFFF"/>
          </a:solidFill>
          <a:ln w="15875">
            <a:solidFill>
              <a:srgbClr val="CFE6DC"/>
            </a:solidFill>
            <a:prstDash val="solid"/>
          </a:ln>
        </p:spPr>
      </p:sp>
      <p:sp>
        <p:nvSpPr>
          <p:cNvPr id="46" name="Text 43"/>
          <p:cNvSpPr txBox="1"/>
          <p:nvPr/>
        </p:nvSpPr>
        <p:spPr>
          <a:xfrm>
            <a:off x="6021324" y="5138928"/>
            <a:ext cx="1696212" cy="420624"/>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Audit logs, metrics</a:t>
            </a:r>
            <a:endParaRPr lang="en-US" sz="950" dirty="0"/>
          </a:p>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and traces</a:t>
            </a:r>
            <a:endParaRPr lang="en-US" sz="950" dirty="0"/>
          </a:p>
        </p:txBody>
      </p:sp>
      <p:sp>
        <p:nvSpPr>
          <p:cNvPr id="47" name="Shape 44"/>
          <p:cNvSpPr/>
          <p:nvPr/>
        </p:nvSpPr>
        <p:spPr>
          <a:xfrm>
            <a:off x="3246120" y="2852928"/>
            <a:ext cx="475488" cy="0"/>
          </a:xfrm>
          <a:prstGeom prst="line">
            <a:avLst/>
          </a:prstGeom>
          <a:noFill/>
          <a:ln w="25400">
            <a:solidFill>
              <a:srgbClr val="2B3A67"/>
            </a:solidFill>
            <a:prstDash val="dash"/>
            <a:tailEnd type="triangle"/>
          </a:ln>
        </p:spPr>
      </p:sp>
      <p:sp>
        <p:nvSpPr>
          <p:cNvPr id="48" name="Shape 45"/>
          <p:cNvSpPr/>
          <p:nvPr/>
        </p:nvSpPr>
        <p:spPr>
          <a:xfrm>
            <a:off x="8074152" y="2852928"/>
            <a:ext cx="384048" cy="0"/>
          </a:xfrm>
          <a:prstGeom prst="line">
            <a:avLst/>
          </a:prstGeom>
          <a:noFill/>
          <a:ln w="25400">
            <a:solidFill>
              <a:srgbClr val="2B3A67"/>
            </a:solidFill>
            <a:prstDash val="dash"/>
            <a:tailEnd type="triangle"/>
          </a:ln>
        </p:spPr>
      </p:sp>
      <p:sp>
        <p:nvSpPr>
          <p:cNvPr id="49" name="Shape 46"/>
          <p:cNvSpPr/>
          <p:nvPr/>
        </p:nvSpPr>
        <p:spPr>
          <a:xfrm>
            <a:off x="3246120" y="3877056"/>
            <a:ext cx="475488" cy="0"/>
          </a:xfrm>
          <a:prstGeom prst="line">
            <a:avLst/>
          </a:prstGeom>
          <a:noFill/>
          <a:ln w="25400">
            <a:solidFill>
              <a:srgbClr val="2B3A67"/>
            </a:solidFill>
            <a:prstDash val="dash"/>
            <a:tailEnd type="triangle"/>
          </a:ln>
        </p:spPr>
      </p:sp>
      <p:sp>
        <p:nvSpPr>
          <p:cNvPr id="50" name="Shape 47"/>
          <p:cNvSpPr/>
          <p:nvPr/>
        </p:nvSpPr>
        <p:spPr>
          <a:xfrm>
            <a:off x="8074152" y="3877056"/>
            <a:ext cx="384048" cy="0"/>
          </a:xfrm>
          <a:prstGeom prst="line">
            <a:avLst/>
          </a:prstGeom>
          <a:noFill/>
          <a:ln w="25400">
            <a:solidFill>
              <a:srgbClr val="2B3A67"/>
            </a:solidFill>
            <a:prstDash val="dash"/>
            <a:tailEnd type="triangle"/>
          </a:ln>
        </p:spPr>
      </p:sp>
      <p:sp>
        <p:nvSpPr>
          <p:cNvPr id="51" name="Shape 48"/>
          <p:cNvSpPr/>
          <p:nvPr/>
        </p:nvSpPr>
        <p:spPr>
          <a:xfrm>
            <a:off x="457200" y="5961888"/>
            <a:ext cx="11274552" cy="548640"/>
          </a:xfrm>
          <a:prstGeom prst="roundRect">
            <a:avLst>
              <a:gd name="adj" fmla="val 13333"/>
            </a:avLst>
          </a:prstGeom>
          <a:solidFill>
            <a:srgbClr val="F4F7FB"/>
          </a:solidFill>
          <a:ln w="12700">
            <a:solidFill>
              <a:srgbClr val="C7D2E8"/>
            </a:solidFill>
            <a:prstDash val="solid"/>
          </a:ln>
        </p:spPr>
      </p:sp>
      <p:sp>
        <p:nvSpPr>
          <p:cNvPr id="52" name="Text 49"/>
          <p:cNvSpPr txBox="1"/>
          <p:nvPr/>
        </p:nvSpPr>
        <p:spPr>
          <a:xfrm>
            <a:off x="640080" y="5961888"/>
            <a:ext cx="10908792" cy="548640"/>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External callers never reach an agent or MCP server directly — they get a published agent card or tool list from Kong, and every call carries the same auth, quota and audit policy.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19456"/>
            <a:ext cx="11247120" cy="420624"/>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Workflows That Enforce the Gateway Design</a:t>
            </a:r>
            <a:endParaRPr lang="en-US" sz="2400" dirty="0"/>
          </a:p>
        </p:txBody>
      </p:sp>
      <p:sp>
        <p:nvSpPr>
          <p:cNvPr id="3" name="Shape 1"/>
          <p:cNvSpPr/>
          <p:nvPr/>
        </p:nvSpPr>
        <p:spPr>
          <a:xfrm>
            <a:off x="457200" y="868680"/>
            <a:ext cx="3566160" cy="3611880"/>
          </a:xfrm>
          <a:prstGeom prst="roundRect">
            <a:avLst>
              <a:gd name="adj" fmla="val 3077"/>
            </a:avLst>
          </a:prstGeom>
          <a:solidFill>
            <a:srgbClr val="FFFFFF"/>
          </a:solidFill>
          <a:ln w="15875">
            <a:solidFill>
              <a:srgbClr val="C7D2E8"/>
            </a:solidFill>
            <a:prstDash val="solid"/>
          </a:ln>
        </p:spPr>
      </p:sp>
      <p:sp>
        <p:nvSpPr>
          <p:cNvPr id="4" name="Shape 2"/>
          <p:cNvSpPr/>
          <p:nvPr/>
        </p:nvSpPr>
        <p:spPr>
          <a:xfrm>
            <a:off x="585216" y="1024128"/>
            <a:ext cx="3310128" cy="502920"/>
          </a:xfrm>
          <a:prstGeom prst="roundRect">
            <a:avLst>
              <a:gd name="adj" fmla="val 14545"/>
            </a:avLst>
          </a:prstGeom>
          <a:solidFill>
            <a:srgbClr val="EFF4FD"/>
          </a:solidFill>
          <a:ln w="15875">
            <a:solidFill>
              <a:srgbClr val="C7D8F5"/>
            </a:solidFill>
            <a:prstDash val="solid"/>
          </a:ln>
        </p:spPr>
      </p:sp>
      <p:sp>
        <p:nvSpPr>
          <p:cNvPr id="5" name="Shape 3"/>
          <p:cNvSpPr/>
          <p:nvPr/>
        </p:nvSpPr>
        <p:spPr>
          <a:xfrm>
            <a:off x="676656" y="1097280"/>
            <a:ext cx="347472" cy="347472"/>
          </a:xfrm>
          <a:prstGeom prst="ellipse">
            <a:avLst/>
          </a:prstGeom>
          <a:solidFill>
            <a:srgbClr val="2B57B5"/>
          </a:solidFill>
          <a:ln w="12700">
            <a:solidFill>
              <a:srgbClr val="2B57B5"/>
            </a:solidFill>
            <a:prstDash val="solid"/>
          </a:ln>
        </p:spPr>
      </p:sp>
      <p:sp>
        <p:nvSpPr>
          <p:cNvPr id="6" name="Text 4"/>
          <p:cNvSpPr txBox="1"/>
          <p:nvPr/>
        </p:nvSpPr>
        <p:spPr>
          <a:xfrm>
            <a:off x="676656" y="10972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33856" y="1024128"/>
            <a:ext cx="2743200" cy="502920"/>
          </a:xfrm>
          <a:prstGeom prst="rect">
            <a:avLst/>
          </a:prstGeom>
          <a:noFill/>
          <a:ln/>
        </p:spPr>
        <p:txBody>
          <a:bodyPr wrap="square" lIns="0" tIns="0" rIns="0" bIns="0" rtlCol="0" anchor="ctr"/>
          <a:lstStyle/>
          <a:p>
            <a:pPr indent="0" marL="0">
              <a:buNone/>
            </a:pPr>
            <a:r>
              <a:rPr lang="en-US" sz="1250" b="1" dirty="0">
                <a:solidFill>
                  <a:srgbClr val="1E3A8A"/>
                </a:solidFill>
                <a:latin typeface="Calibri" pitchFamily="34" charset="0"/>
                <a:ea typeface="Calibri" pitchFamily="34" charset="-122"/>
                <a:cs typeface="Calibri" pitchFamily="34" charset="-120"/>
              </a:rPr>
              <a:t>Spoke team requests</a:t>
            </a:r>
            <a:endParaRPr lang="en-US" sz="1250" dirty="0"/>
          </a:p>
        </p:txBody>
      </p:sp>
      <p:sp>
        <p:nvSpPr>
          <p:cNvPr id="8" name="Shape 6"/>
          <p:cNvSpPr/>
          <p:nvPr/>
        </p:nvSpPr>
        <p:spPr>
          <a:xfrm>
            <a:off x="658368" y="1645920"/>
            <a:ext cx="3163824" cy="749808"/>
          </a:xfrm>
          <a:prstGeom prst="roundRect">
            <a:avLst>
              <a:gd name="adj" fmla="val 9756"/>
            </a:avLst>
          </a:prstGeom>
          <a:solidFill>
            <a:srgbClr val="FFFFFF"/>
          </a:solidFill>
          <a:ln w="15875">
            <a:solidFill>
              <a:srgbClr val="C7D2E8"/>
            </a:solidFill>
            <a:prstDash val="solid"/>
          </a:ln>
        </p:spPr>
      </p:sp>
      <p:sp>
        <p:nvSpPr>
          <p:cNvPr id="9" name="Text 7"/>
          <p:cNvSpPr txBox="1"/>
          <p:nvPr/>
        </p:nvSpPr>
        <p:spPr>
          <a:xfrm>
            <a:off x="768096" y="1645920"/>
            <a:ext cx="2944368" cy="749808"/>
          </a:xfrm>
          <a:prstGeom prst="rect">
            <a:avLst/>
          </a:prstGeom>
          <a:noFill/>
          <a:ln/>
        </p:spPr>
        <p:txBody>
          <a:bodyPr wrap="square" lIns="0" tIns="0" rIns="0" bIns="0" rtlCol="0" anchor="ctr"/>
          <a:lstStyle/>
          <a:p>
            <a:pPr algn="ctr" indent="0" marL="0">
              <a:lnSpc>
                <a:spcPct val="100000"/>
              </a:lnSpc>
              <a:buNone/>
            </a:pPr>
            <a:r>
              <a:rPr lang="en-US" sz="1150" b="1" dirty="0">
                <a:solidFill>
                  <a:srgbClr val="1F2937"/>
                </a:solidFill>
                <a:latin typeface="Calibri" pitchFamily="34" charset="0"/>
                <a:ea typeface="Calibri" pitchFamily="34" charset="-122"/>
                <a:cs typeface="Calibri" pitchFamily="34" charset="-120"/>
              </a:rPr>
              <a:t>Policy &amp; budget updates</a:t>
            </a:r>
            <a:endParaRPr lang="en-US" sz="1150" dirty="0"/>
          </a:p>
          <a:p>
            <a:pPr algn="ctr" indent="0" marL="0">
              <a:lnSpc>
                <a:spcPct val="100000"/>
              </a:lnSpc>
              <a:buNone/>
            </a:pPr>
            <a:r>
              <a:rPr lang="en-US" sz="950" dirty="0">
                <a:solidFill>
                  <a:srgbClr val="4B5563"/>
                </a:solidFill>
                <a:latin typeface="Calibri" pitchFamily="34" charset="0"/>
                <a:ea typeface="Calibri" pitchFamily="34" charset="-122"/>
                <a:cs typeface="Calibri" pitchFamily="34" charset="-120"/>
              </a:rPr>
              <a:t>TPM / RPM limits, model routing</a:t>
            </a:r>
            <a:endParaRPr lang="en-US" sz="1150" dirty="0"/>
          </a:p>
        </p:txBody>
      </p:sp>
      <p:sp>
        <p:nvSpPr>
          <p:cNvPr id="10" name="Shape 8"/>
          <p:cNvSpPr/>
          <p:nvPr/>
        </p:nvSpPr>
        <p:spPr>
          <a:xfrm>
            <a:off x="658368" y="2587752"/>
            <a:ext cx="3163824" cy="749808"/>
          </a:xfrm>
          <a:prstGeom prst="roundRect">
            <a:avLst>
              <a:gd name="adj" fmla="val 9756"/>
            </a:avLst>
          </a:prstGeom>
          <a:solidFill>
            <a:srgbClr val="FFFFFF"/>
          </a:solidFill>
          <a:ln w="15875">
            <a:solidFill>
              <a:srgbClr val="C7D2E8"/>
            </a:solidFill>
            <a:prstDash val="solid"/>
          </a:ln>
        </p:spPr>
      </p:sp>
      <p:sp>
        <p:nvSpPr>
          <p:cNvPr id="11" name="Text 9"/>
          <p:cNvSpPr txBox="1"/>
          <p:nvPr/>
        </p:nvSpPr>
        <p:spPr>
          <a:xfrm>
            <a:off x="768096" y="2587752"/>
            <a:ext cx="2944368" cy="749808"/>
          </a:xfrm>
          <a:prstGeom prst="rect">
            <a:avLst/>
          </a:prstGeom>
          <a:noFill/>
          <a:ln/>
        </p:spPr>
        <p:txBody>
          <a:bodyPr wrap="square" lIns="0" tIns="0" rIns="0" bIns="0" rtlCol="0" anchor="ctr"/>
          <a:lstStyle/>
          <a:p>
            <a:pPr algn="ctr" indent="0" marL="0">
              <a:lnSpc>
                <a:spcPct val="100000"/>
              </a:lnSpc>
              <a:buNone/>
            </a:pPr>
            <a:r>
              <a:rPr lang="en-US" sz="1150" b="1" dirty="0">
                <a:solidFill>
                  <a:srgbClr val="1F2937"/>
                </a:solidFill>
                <a:latin typeface="Calibri" pitchFamily="34" charset="0"/>
                <a:ea typeface="Calibri" pitchFamily="34" charset="-122"/>
                <a:cs typeface="Calibri" pitchFamily="34" charset="-120"/>
              </a:rPr>
              <a:t>MCP server onboarding</a:t>
            </a:r>
            <a:endParaRPr lang="en-US" sz="1150" dirty="0"/>
          </a:p>
          <a:p>
            <a:pPr algn="ctr" indent="0" marL="0">
              <a:lnSpc>
                <a:spcPct val="100000"/>
              </a:lnSpc>
              <a:buNone/>
            </a:pPr>
            <a:r>
              <a:rPr lang="en-US" sz="950" dirty="0">
                <a:solidFill>
                  <a:srgbClr val="4B5563"/>
                </a:solidFill>
                <a:latin typeface="Calibri" pitchFamily="34" charset="0"/>
                <a:ea typeface="Calibri" pitchFamily="34" charset="-122"/>
                <a:cs typeface="Calibri" pitchFamily="34" charset="-120"/>
              </a:rPr>
              <a:t>Tool RBAC, vault injection</a:t>
            </a:r>
            <a:endParaRPr lang="en-US" sz="1150" dirty="0"/>
          </a:p>
        </p:txBody>
      </p:sp>
      <p:sp>
        <p:nvSpPr>
          <p:cNvPr id="12" name="Shape 10"/>
          <p:cNvSpPr/>
          <p:nvPr/>
        </p:nvSpPr>
        <p:spPr>
          <a:xfrm>
            <a:off x="658368" y="3529584"/>
            <a:ext cx="3163824" cy="749808"/>
          </a:xfrm>
          <a:prstGeom prst="roundRect">
            <a:avLst>
              <a:gd name="adj" fmla="val 9756"/>
            </a:avLst>
          </a:prstGeom>
          <a:solidFill>
            <a:srgbClr val="FFFFFF"/>
          </a:solidFill>
          <a:ln w="15875">
            <a:solidFill>
              <a:srgbClr val="C7D2E8"/>
            </a:solidFill>
            <a:prstDash val="solid"/>
          </a:ln>
        </p:spPr>
      </p:sp>
      <p:sp>
        <p:nvSpPr>
          <p:cNvPr id="13" name="Text 11"/>
          <p:cNvSpPr txBox="1"/>
          <p:nvPr/>
        </p:nvSpPr>
        <p:spPr>
          <a:xfrm>
            <a:off x="768096" y="3529584"/>
            <a:ext cx="2944368" cy="749808"/>
          </a:xfrm>
          <a:prstGeom prst="rect">
            <a:avLst/>
          </a:prstGeom>
          <a:noFill/>
          <a:ln/>
        </p:spPr>
        <p:txBody>
          <a:bodyPr wrap="square" lIns="0" tIns="0" rIns="0" bIns="0" rtlCol="0" anchor="ctr"/>
          <a:lstStyle/>
          <a:p>
            <a:pPr algn="ctr" indent="0" marL="0">
              <a:lnSpc>
                <a:spcPct val="100000"/>
              </a:lnSpc>
              <a:buNone/>
            </a:pPr>
            <a:r>
              <a:rPr lang="en-US" sz="1150" b="1" dirty="0">
                <a:solidFill>
                  <a:srgbClr val="1F2937"/>
                </a:solidFill>
                <a:latin typeface="Calibri" pitchFamily="34" charset="0"/>
                <a:ea typeface="Calibri" pitchFamily="34" charset="-122"/>
                <a:cs typeface="Calibri" pitchFamily="34" charset="-120"/>
              </a:rPr>
              <a:t>Agent / team onboarding</a:t>
            </a:r>
            <a:endParaRPr lang="en-US" sz="1150" dirty="0"/>
          </a:p>
          <a:p>
            <a:pPr algn="ctr" indent="0" marL="0">
              <a:lnSpc>
                <a:spcPct val="100000"/>
              </a:lnSpc>
              <a:buNone/>
            </a:pPr>
            <a:r>
              <a:rPr lang="en-US" sz="950" dirty="0">
                <a:solidFill>
                  <a:srgbClr val="4B5563"/>
                </a:solidFill>
                <a:latin typeface="Calibri" pitchFamily="34" charset="0"/>
                <a:ea typeface="Calibri" pitchFamily="34" charset="-122"/>
                <a:cs typeface="Calibri" pitchFamily="34" charset="-120"/>
              </a:rPr>
              <a:t>Spoke project, transit, quotas</a:t>
            </a:r>
            <a:endParaRPr lang="en-US" sz="1150" dirty="0"/>
          </a:p>
        </p:txBody>
      </p:sp>
      <p:sp>
        <p:nvSpPr>
          <p:cNvPr id="14" name="Shape 12"/>
          <p:cNvSpPr/>
          <p:nvPr/>
        </p:nvSpPr>
        <p:spPr>
          <a:xfrm>
            <a:off x="4480560" y="868680"/>
            <a:ext cx="3566160" cy="3611880"/>
          </a:xfrm>
          <a:prstGeom prst="roundRect">
            <a:avLst>
              <a:gd name="adj" fmla="val 3077"/>
            </a:avLst>
          </a:prstGeom>
          <a:solidFill>
            <a:srgbClr val="FFFFFF"/>
          </a:solidFill>
          <a:ln w="15875">
            <a:solidFill>
              <a:srgbClr val="C7D2E8"/>
            </a:solidFill>
            <a:prstDash val="solid"/>
          </a:ln>
        </p:spPr>
      </p:sp>
      <p:sp>
        <p:nvSpPr>
          <p:cNvPr id="15" name="Shape 13"/>
          <p:cNvSpPr/>
          <p:nvPr/>
        </p:nvSpPr>
        <p:spPr>
          <a:xfrm>
            <a:off x="4608576" y="1024128"/>
            <a:ext cx="3310128" cy="502920"/>
          </a:xfrm>
          <a:prstGeom prst="roundRect">
            <a:avLst>
              <a:gd name="adj" fmla="val 14545"/>
            </a:avLst>
          </a:prstGeom>
          <a:solidFill>
            <a:srgbClr val="ECF9F3"/>
          </a:solidFill>
          <a:ln w="15875">
            <a:solidFill>
              <a:srgbClr val="A8DDCB"/>
            </a:solidFill>
            <a:prstDash val="solid"/>
          </a:ln>
        </p:spPr>
      </p:sp>
      <p:sp>
        <p:nvSpPr>
          <p:cNvPr id="16" name="Shape 14"/>
          <p:cNvSpPr/>
          <p:nvPr/>
        </p:nvSpPr>
        <p:spPr>
          <a:xfrm>
            <a:off x="4700016" y="1097280"/>
            <a:ext cx="347472" cy="347472"/>
          </a:xfrm>
          <a:prstGeom prst="ellipse">
            <a:avLst/>
          </a:prstGeom>
          <a:solidFill>
            <a:srgbClr val="0F9D76"/>
          </a:solidFill>
          <a:ln w="12700">
            <a:solidFill>
              <a:srgbClr val="0F9D76"/>
            </a:solidFill>
            <a:prstDash val="solid"/>
          </a:ln>
        </p:spPr>
      </p:sp>
      <p:sp>
        <p:nvSpPr>
          <p:cNvPr id="17" name="Text 15"/>
          <p:cNvSpPr txBox="1"/>
          <p:nvPr/>
        </p:nvSpPr>
        <p:spPr>
          <a:xfrm>
            <a:off x="4700016" y="10972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5157216" y="1024128"/>
            <a:ext cx="2743200" cy="502920"/>
          </a:xfrm>
          <a:prstGeom prst="rect">
            <a:avLst/>
          </a:prstGeom>
          <a:noFill/>
          <a:ln/>
        </p:spPr>
        <p:txBody>
          <a:bodyPr wrap="square" lIns="0" tIns="0" rIns="0" bIns="0" rtlCol="0" anchor="ctr"/>
          <a:lstStyle/>
          <a:p>
            <a:pPr indent="0" marL="0">
              <a:buNone/>
            </a:pPr>
            <a:r>
              <a:rPr lang="en-US" sz="1250" b="1" dirty="0">
                <a:solidFill>
                  <a:srgbClr val="0A7355"/>
                </a:solidFill>
                <a:latin typeface="Calibri" pitchFamily="34" charset="0"/>
                <a:ea typeface="Calibri" pitchFamily="34" charset="-122"/>
                <a:cs typeface="Calibri" pitchFamily="34" charset="-120"/>
              </a:rPr>
              <a:t>AI hub CI/CD (GitOps spine)</a:t>
            </a:r>
            <a:endParaRPr lang="en-US" sz="1250" dirty="0"/>
          </a:p>
        </p:txBody>
      </p:sp>
      <p:sp>
        <p:nvSpPr>
          <p:cNvPr id="19" name="Shape 17"/>
          <p:cNvSpPr/>
          <p:nvPr/>
        </p:nvSpPr>
        <p:spPr>
          <a:xfrm>
            <a:off x="4681728" y="1627632"/>
            <a:ext cx="3163824" cy="685800"/>
          </a:xfrm>
          <a:prstGeom prst="roundRect">
            <a:avLst>
              <a:gd name="adj" fmla="val 10667"/>
            </a:avLst>
          </a:prstGeom>
          <a:solidFill>
            <a:srgbClr val="FFFFFF"/>
          </a:solidFill>
          <a:ln w="15875">
            <a:solidFill>
              <a:srgbClr val="C7D2E8"/>
            </a:solidFill>
            <a:prstDash val="solid"/>
          </a:ln>
        </p:spPr>
      </p:sp>
      <p:sp>
        <p:nvSpPr>
          <p:cNvPr id="20" name="Text 18"/>
          <p:cNvSpPr txBox="1"/>
          <p:nvPr/>
        </p:nvSpPr>
        <p:spPr>
          <a:xfrm>
            <a:off x="4791456" y="1627632"/>
            <a:ext cx="2944368" cy="685800"/>
          </a:xfrm>
          <a:prstGeom prst="rect">
            <a:avLst/>
          </a:prstGeom>
          <a:noFill/>
          <a:ln/>
        </p:spPr>
        <p:txBody>
          <a:bodyPr wrap="square" lIns="0" tIns="0" rIns="0" bIns="0" rtlCol="0" anchor="ctr"/>
          <a:lstStyle/>
          <a:p>
            <a:pPr algn="ctr" indent="0" marL="0">
              <a:lnSpc>
                <a:spcPct val="100000"/>
              </a:lnSpc>
              <a:buNone/>
            </a:pPr>
            <a:r>
              <a:rPr lang="en-US" sz="1150" b="1" dirty="0">
                <a:solidFill>
                  <a:srgbClr val="1F2937"/>
                </a:solidFill>
                <a:latin typeface="Calibri" pitchFamily="34" charset="0"/>
                <a:ea typeface="Calibri" pitchFamily="34" charset="-122"/>
                <a:cs typeface="Calibri" pitchFamily="34" charset="-120"/>
              </a:rPr>
              <a:t>GitOps PR in kong-services</a:t>
            </a:r>
            <a:endParaRPr lang="en-US" sz="1150" dirty="0"/>
          </a:p>
          <a:p>
            <a:pPr algn="ctr" indent="0" marL="0">
              <a:lnSpc>
                <a:spcPct val="100000"/>
              </a:lnSpc>
              <a:buNone/>
            </a:pPr>
            <a:r>
              <a:rPr lang="en-US" sz="950" dirty="0">
                <a:solidFill>
                  <a:srgbClr val="4B5563"/>
                </a:solidFill>
                <a:latin typeface="Calibri" pitchFamily="34" charset="0"/>
                <a:ea typeface="Calibri" pitchFamily="34" charset="-122"/>
                <a:cs typeface="Calibri" pitchFamily="34" charset="-120"/>
              </a:rPr>
              <a:t>Declarative config change proposed</a:t>
            </a:r>
            <a:endParaRPr lang="en-US" sz="1150" dirty="0"/>
          </a:p>
        </p:txBody>
      </p:sp>
      <p:sp>
        <p:nvSpPr>
          <p:cNvPr id="21" name="Shape 19"/>
          <p:cNvSpPr/>
          <p:nvPr/>
        </p:nvSpPr>
        <p:spPr>
          <a:xfrm>
            <a:off x="6263640" y="2350008"/>
            <a:ext cx="0" cy="192024"/>
          </a:xfrm>
          <a:prstGeom prst="line">
            <a:avLst/>
          </a:prstGeom>
          <a:noFill/>
          <a:ln w="22225">
            <a:solidFill>
              <a:srgbClr val="2B3A67"/>
            </a:solidFill>
            <a:prstDash val="solid"/>
            <a:tailEnd type="triangle"/>
          </a:ln>
        </p:spPr>
      </p:sp>
      <p:sp>
        <p:nvSpPr>
          <p:cNvPr id="22" name="Shape 20"/>
          <p:cNvSpPr/>
          <p:nvPr/>
        </p:nvSpPr>
        <p:spPr>
          <a:xfrm>
            <a:off x="4681728" y="2587752"/>
            <a:ext cx="3163824" cy="685800"/>
          </a:xfrm>
          <a:prstGeom prst="roundRect">
            <a:avLst>
              <a:gd name="adj" fmla="val 10667"/>
            </a:avLst>
          </a:prstGeom>
          <a:solidFill>
            <a:srgbClr val="FFFFFF"/>
          </a:solidFill>
          <a:ln w="15875">
            <a:solidFill>
              <a:srgbClr val="C7D2E8"/>
            </a:solidFill>
            <a:prstDash val="solid"/>
          </a:ln>
        </p:spPr>
      </p:sp>
      <p:sp>
        <p:nvSpPr>
          <p:cNvPr id="23" name="Text 21"/>
          <p:cNvSpPr txBox="1"/>
          <p:nvPr/>
        </p:nvSpPr>
        <p:spPr>
          <a:xfrm>
            <a:off x="4791456" y="2587752"/>
            <a:ext cx="2944368" cy="685800"/>
          </a:xfrm>
          <a:prstGeom prst="rect">
            <a:avLst/>
          </a:prstGeom>
          <a:noFill/>
          <a:ln/>
        </p:spPr>
        <p:txBody>
          <a:bodyPr wrap="square" lIns="0" tIns="0" rIns="0" bIns="0" rtlCol="0" anchor="ctr"/>
          <a:lstStyle/>
          <a:p>
            <a:pPr algn="ctr" indent="0" marL="0">
              <a:lnSpc>
                <a:spcPct val="100000"/>
              </a:lnSpc>
              <a:buNone/>
            </a:pPr>
            <a:r>
              <a:rPr lang="en-US" sz="1150" b="1" dirty="0">
                <a:solidFill>
                  <a:srgbClr val="1F2937"/>
                </a:solidFill>
                <a:latin typeface="Calibri" pitchFamily="34" charset="0"/>
                <a:ea typeface="Calibri" pitchFamily="34" charset="-122"/>
                <a:cs typeface="Calibri" pitchFamily="34" charset="-120"/>
              </a:rPr>
              <a:t>Automated policy &amp; 2LoA vetting</a:t>
            </a:r>
            <a:endParaRPr lang="en-US" sz="1150" dirty="0"/>
          </a:p>
          <a:p>
            <a:pPr algn="ctr" indent="0" marL="0">
              <a:lnSpc>
                <a:spcPct val="100000"/>
              </a:lnSpc>
              <a:buNone/>
            </a:pPr>
            <a:r>
              <a:rPr lang="en-US" sz="950" dirty="0">
                <a:solidFill>
                  <a:srgbClr val="4B5563"/>
                </a:solidFill>
                <a:latin typeface="Calibri" pitchFamily="34" charset="0"/>
                <a:ea typeface="Calibri" pitchFamily="34" charset="-122"/>
                <a:cs typeface="Calibri" pitchFamily="34" charset="-120"/>
              </a:rPr>
              <a:t>Schema checks and dual approval</a:t>
            </a:r>
            <a:endParaRPr lang="en-US" sz="1150" dirty="0"/>
          </a:p>
        </p:txBody>
      </p:sp>
      <p:sp>
        <p:nvSpPr>
          <p:cNvPr id="24" name="Shape 22"/>
          <p:cNvSpPr/>
          <p:nvPr/>
        </p:nvSpPr>
        <p:spPr>
          <a:xfrm>
            <a:off x="6263640" y="3310128"/>
            <a:ext cx="0" cy="192024"/>
          </a:xfrm>
          <a:prstGeom prst="line">
            <a:avLst/>
          </a:prstGeom>
          <a:noFill/>
          <a:ln w="22225">
            <a:solidFill>
              <a:srgbClr val="2B3A67"/>
            </a:solidFill>
            <a:prstDash val="solid"/>
            <a:tailEnd type="triangle"/>
          </a:ln>
        </p:spPr>
      </p:sp>
      <p:sp>
        <p:nvSpPr>
          <p:cNvPr id="25" name="Shape 23"/>
          <p:cNvSpPr/>
          <p:nvPr/>
        </p:nvSpPr>
        <p:spPr>
          <a:xfrm>
            <a:off x="4681728" y="3547872"/>
            <a:ext cx="3163824" cy="685800"/>
          </a:xfrm>
          <a:prstGeom prst="roundRect">
            <a:avLst>
              <a:gd name="adj" fmla="val 10667"/>
            </a:avLst>
          </a:prstGeom>
          <a:solidFill>
            <a:srgbClr val="FFFFFF"/>
          </a:solidFill>
          <a:ln w="15875">
            <a:solidFill>
              <a:srgbClr val="C7D2E8"/>
            </a:solidFill>
            <a:prstDash val="solid"/>
          </a:ln>
        </p:spPr>
      </p:sp>
      <p:sp>
        <p:nvSpPr>
          <p:cNvPr id="26" name="Text 24"/>
          <p:cNvSpPr txBox="1"/>
          <p:nvPr/>
        </p:nvSpPr>
        <p:spPr>
          <a:xfrm>
            <a:off x="4791456" y="3547872"/>
            <a:ext cx="2944368" cy="685800"/>
          </a:xfrm>
          <a:prstGeom prst="rect">
            <a:avLst/>
          </a:prstGeom>
          <a:noFill/>
          <a:ln/>
        </p:spPr>
        <p:txBody>
          <a:bodyPr wrap="square" lIns="0" tIns="0" rIns="0" bIns="0" rtlCol="0" anchor="ctr"/>
          <a:lstStyle/>
          <a:p>
            <a:pPr algn="ctr" indent="0" marL="0">
              <a:lnSpc>
                <a:spcPct val="100000"/>
              </a:lnSpc>
              <a:buNone/>
            </a:pPr>
            <a:r>
              <a:rPr lang="en-US" sz="1150" b="1" dirty="0">
                <a:solidFill>
                  <a:srgbClr val="1F2937"/>
                </a:solidFill>
                <a:latin typeface="Calibri" pitchFamily="34" charset="0"/>
                <a:ea typeface="Calibri" pitchFamily="34" charset="-122"/>
                <a:cs typeface="Calibri" pitchFamily="34" charset="-120"/>
              </a:rPr>
              <a:t>decK gateway sync</a:t>
            </a:r>
            <a:endParaRPr lang="en-US" sz="1150" dirty="0"/>
          </a:p>
          <a:p>
            <a:pPr algn="ctr" indent="0" marL="0">
              <a:lnSpc>
                <a:spcPct val="100000"/>
              </a:lnSpc>
              <a:buNone/>
            </a:pPr>
            <a:r>
              <a:rPr lang="en-US" sz="950" dirty="0">
                <a:solidFill>
                  <a:srgbClr val="4B5563"/>
                </a:solidFill>
                <a:latin typeface="Calibri" pitchFamily="34" charset="0"/>
                <a:ea typeface="Calibri" pitchFamily="34" charset="-122"/>
                <a:cs typeface="Calibri" pitchFamily="34" charset="-120"/>
              </a:rPr>
              <a:t>Config promoted to the data plane</a:t>
            </a:r>
            <a:endParaRPr lang="en-US" sz="1150" dirty="0"/>
          </a:p>
        </p:txBody>
      </p:sp>
      <p:sp>
        <p:nvSpPr>
          <p:cNvPr id="27" name="Shape 25"/>
          <p:cNvSpPr/>
          <p:nvPr/>
        </p:nvSpPr>
        <p:spPr>
          <a:xfrm>
            <a:off x="8503920" y="868680"/>
            <a:ext cx="3246120" cy="3611880"/>
          </a:xfrm>
          <a:prstGeom prst="roundRect">
            <a:avLst>
              <a:gd name="adj" fmla="val 3380"/>
            </a:avLst>
          </a:prstGeom>
          <a:solidFill>
            <a:srgbClr val="FFFFFF"/>
          </a:solidFill>
          <a:ln w="15875">
            <a:solidFill>
              <a:srgbClr val="C7D2E8"/>
            </a:solidFill>
            <a:prstDash val="solid"/>
          </a:ln>
        </p:spPr>
      </p:sp>
      <p:sp>
        <p:nvSpPr>
          <p:cNvPr id="28" name="Shape 26"/>
          <p:cNvSpPr/>
          <p:nvPr/>
        </p:nvSpPr>
        <p:spPr>
          <a:xfrm>
            <a:off x="8631936" y="1024128"/>
            <a:ext cx="2990088" cy="502920"/>
          </a:xfrm>
          <a:prstGeom prst="roundRect">
            <a:avLst>
              <a:gd name="adj" fmla="val 14545"/>
            </a:avLst>
          </a:prstGeom>
          <a:solidFill>
            <a:srgbClr val="F4F2FD"/>
          </a:solidFill>
          <a:ln w="15875">
            <a:solidFill>
              <a:srgbClr val="D8D2F2"/>
            </a:solidFill>
            <a:prstDash val="solid"/>
          </a:ln>
        </p:spPr>
      </p:sp>
      <p:sp>
        <p:nvSpPr>
          <p:cNvPr id="29" name="Shape 27"/>
          <p:cNvSpPr/>
          <p:nvPr/>
        </p:nvSpPr>
        <p:spPr>
          <a:xfrm>
            <a:off x="8723376" y="1097280"/>
            <a:ext cx="347472" cy="347472"/>
          </a:xfrm>
          <a:prstGeom prst="ellipse">
            <a:avLst/>
          </a:prstGeom>
          <a:solidFill>
            <a:srgbClr val="6D28D9"/>
          </a:solidFill>
          <a:ln w="12700">
            <a:solidFill>
              <a:srgbClr val="6D28D9"/>
            </a:solidFill>
            <a:prstDash val="solid"/>
          </a:ln>
        </p:spPr>
      </p:sp>
      <p:sp>
        <p:nvSpPr>
          <p:cNvPr id="30" name="Text 28"/>
          <p:cNvSpPr txBox="1"/>
          <p:nvPr/>
        </p:nvSpPr>
        <p:spPr>
          <a:xfrm>
            <a:off x="8723376" y="10972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txBox="1"/>
          <p:nvPr/>
        </p:nvSpPr>
        <p:spPr>
          <a:xfrm>
            <a:off x="9180576" y="1024128"/>
            <a:ext cx="2423160" cy="502920"/>
          </a:xfrm>
          <a:prstGeom prst="rect">
            <a:avLst/>
          </a:prstGeom>
          <a:noFill/>
          <a:ln/>
        </p:spPr>
        <p:txBody>
          <a:bodyPr wrap="square" lIns="0" tIns="0" rIns="0" bIns="0" rtlCol="0" anchor="ctr"/>
          <a:lstStyle/>
          <a:p>
            <a:pPr indent="0" marL="0">
              <a:buNone/>
            </a:pPr>
            <a:r>
              <a:rPr lang="en-US" sz="1250" b="1" dirty="0">
                <a:solidFill>
                  <a:srgbClr val="5B21B6"/>
                </a:solidFill>
                <a:latin typeface="Calibri" pitchFamily="34" charset="0"/>
                <a:ea typeface="Calibri" pitchFamily="34" charset="-122"/>
                <a:cs typeface="Calibri" pitchFamily="34" charset="-120"/>
              </a:rPr>
              <a:t>Enforced at the data plane</a:t>
            </a:r>
            <a:endParaRPr lang="en-US" sz="1250" dirty="0"/>
          </a:p>
        </p:txBody>
      </p:sp>
      <p:sp>
        <p:nvSpPr>
          <p:cNvPr id="32" name="Shape 30"/>
          <p:cNvSpPr/>
          <p:nvPr/>
        </p:nvSpPr>
        <p:spPr>
          <a:xfrm>
            <a:off x="8705088" y="1645920"/>
            <a:ext cx="2843784" cy="548640"/>
          </a:xfrm>
          <a:prstGeom prst="roundRect">
            <a:avLst>
              <a:gd name="adj" fmla="val 13333"/>
            </a:avLst>
          </a:prstGeom>
          <a:solidFill>
            <a:srgbClr val="FFFFFF"/>
          </a:solidFill>
          <a:ln w="15875">
            <a:solidFill>
              <a:srgbClr val="C7D2E8"/>
            </a:solidFill>
            <a:prstDash val="solid"/>
          </a:ln>
        </p:spPr>
      </p:sp>
      <p:sp>
        <p:nvSpPr>
          <p:cNvPr id="33" name="Text 31"/>
          <p:cNvSpPr txBox="1"/>
          <p:nvPr/>
        </p:nvSpPr>
        <p:spPr>
          <a:xfrm>
            <a:off x="8814816" y="1645920"/>
            <a:ext cx="2624328" cy="548640"/>
          </a:xfrm>
          <a:prstGeom prst="rect">
            <a:avLst/>
          </a:prstGeom>
          <a:noFill/>
          <a:ln/>
        </p:spPr>
        <p:txBody>
          <a:bodyPr wrap="square" lIns="0" tIns="0" rIns="0" bIns="0" rtlCol="0" anchor="ctr"/>
          <a:lstStyle/>
          <a:p>
            <a:pPr algn="ctr" indent="0" marL="0">
              <a:lnSpc>
                <a:spcPct val="100000"/>
              </a:lnSpc>
              <a:buNone/>
            </a:pPr>
            <a:r>
              <a:rPr lang="en-US" sz="1150" dirty="0">
                <a:solidFill>
                  <a:srgbClr val="1F2937"/>
                </a:solidFill>
                <a:latin typeface="Calibri" pitchFamily="34" charset="0"/>
                <a:ea typeface="Calibri" pitchFamily="34" charset="-122"/>
                <a:cs typeface="Calibri" pitchFamily="34" charset="-120"/>
              </a:rPr>
              <a:t>SPIFFE workload attestation</a:t>
            </a:r>
            <a:endParaRPr lang="en-US" sz="1150" dirty="0"/>
          </a:p>
        </p:txBody>
      </p:sp>
      <p:sp>
        <p:nvSpPr>
          <p:cNvPr id="34" name="Shape 32"/>
          <p:cNvSpPr/>
          <p:nvPr/>
        </p:nvSpPr>
        <p:spPr>
          <a:xfrm>
            <a:off x="8705088" y="2331720"/>
            <a:ext cx="2843784" cy="548640"/>
          </a:xfrm>
          <a:prstGeom prst="roundRect">
            <a:avLst>
              <a:gd name="adj" fmla="val 13333"/>
            </a:avLst>
          </a:prstGeom>
          <a:solidFill>
            <a:srgbClr val="FFFFFF"/>
          </a:solidFill>
          <a:ln w="15875">
            <a:solidFill>
              <a:srgbClr val="C7D2E8"/>
            </a:solidFill>
            <a:prstDash val="solid"/>
          </a:ln>
        </p:spPr>
      </p:sp>
      <p:sp>
        <p:nvSpPr>
          <p:cNvPr id="35" name="Text 33"/>
          <p:cNvSpPr txBox="1"/>
          <p:nvPr/>
        </p:nvSpPr>
        <p:spPr>
          <a:xfrm>
            <a:off x="8814816" y="2331720"/>
            <a:ext cx="2624328" cy="548640"/>
          </a:xfrm>
          <a:prstGeom prst="rect">
            <a:avLst/>
          </a:prstGeom>
          <a:noFill/>
          <a:ln/>
        </p:spPr>
        <p:txBody>
          <a:bodyPr wrap="square" lIns="0" tIns="0" rIns="0" bIns="0" rtlCol="0" anchor="ctr"/>
          <a:lstStyle/>
          <a:p>
            <a:pPr algn="ctr" indent="0" marL="0">
              <a:lnSpc>
                <a:spcPct val="100000"/>
              </a:lnSpc>
              <a:buNone/>
            </a:pPr>
            <a:r>
              <a:rPr lang="en-US" sz="1150" dirty="0">
                <a:solidFill>
                  <a:srgbClr val="1F2937"/>
                </a:solidFill>
                <a:latin typeface="Calibri" pitchFamily="34" charset="0"/>
                <a:ea typeface="Calibri" pitchFamily="34" charset="-122"/>
                <a:cs typeface="Calibri" pitchFamily="34" charset="-120"/>
              </a:rPr>
              <a:t>Central Splunk HEC telemetry</a:t>
            </a:r>
            <a:endParaRPr lang="en-US" sz="1150" dirty="0"/>
          </a:p>
        </p:txBody>
      </p:sp>
      <p:sp>
        <p:nvSpPr>
          <p:cNvPr id="36" name="Shape 34"/>
          <p:cNvSpPr/>
          <p:nvPr/>
        </p:nvSpPr>
        <p:spPr>
          <a:xfrm>
            <a:off x="8705088" y="3017520"/>
            <a:ext cx="2843784" cy="548640"/>
          </a:xfrm>
          <a:prstGeom prst="roundRect">
            <a:avLst>
              <a:gd name="adj" fmla="val 13333"/>
            </a:avLst>
          </a:prstGeom>
          <a:solidFill>
            <a:srgbClr val="FFFFFF"/>
          </a:solidFill>
          <a:ln w="15875">
            <a:solidFill>
              <a:srgbClr val="C7D2E8"/>
            </a:solidFill>
            <a:prstDash val="solid"/>
          </a:ln>
        </p:spPr>
      </p:sp>
      <p:sp>
        <p:nvSpPr>
          <p:cNvPr id="37" name="Text 35"/>
          <p:cNvSpPr txBox="1"/>
          <p:nvPr/>
        </p:nvSpPr>
        <p:spPr>
          <a:xfrm>
            <a:off x="8814816" y="3017520"/>
            <a:ext cx="2624328" cy="548640"/>
          </a:xfrm>
          <a:prstGeom prst="rect">
            <a:avLst/>
          </a:prstGeom>
          <a:noFill/>
          <a:ln/>
        </p:spPr>
        <p:txBody>
          <a:bodyPr wrap="square" lIns="0" tIns="0" rIns="0" bIns="0" rtlCol="0" anchor="ctr"/>
          <a:lstStyle/>
          <a:p>
            <a:pPr algn="ctr" indent="0" marL="0">
              <a:lnSpc>
                <a:spcPct val="100000"/>
              </a:lnSpc>
              <a:buNone/>
            </a:pPr>
            <a:r>
              <a:rPr lang="en-US" sz="1150" dirty="0">
                <a:solidFill>
                  <a:srgbClr val="1F2937"/>
                </a:solidFill>
                <a:latin typeface="Calibri" pitchFamily="34" charset="0"/>
                <a:ea typeface="Calibri" pitchFamily="34" charset="-122"/>
                <a:cs typeface="Calibri" pitchFamily="34" charset="-120"/>
              </a:rPr>
              <a:t>Token quotas &amp; loop defenses</a:t>
            </a:r>
            <a:endParaRPr lang="en-US" sz="1150" dirty="0"/>
          </a:p>
        </p:txBody>
      </p:sp>
      <p:sp>
        <p:nvSpPr>
          <p:cNvPr id="38" name="Shape 36"/>
          <p:cNvSpPr/>
          <p:nvPr/>
        </p:nvSpPr>
        <p:spPr>
          <a:xfrm>
            <a:off x="8705088" y="3703320"/>
            <a:ext cx="2843784" cy="548640"/>
          </a:xfrm>
          <a:prstGeom prst="roundRect">
            <a:avLst>
              <a:gd name="adj" fmla="val 13333"/>
            </a:avLst>
          </a:prstGeom>
          <a:solidFill>
            <a:srgbClr val="FFFFFF"/>
          </a:solidFill>
          <a:ln w="15875">
            <a:solidFill>
              <a:srgbClr val="C7D2E8"/>
            </a:solidFill>
            <a:prstDash val="solid"/>
          </a:ln>
        </p:spPr>
      </p:sp>
      <p:sp>
        <p:nvSpPr>
          <p:cNvPr id="39" name="Text 37"/>
          <p:cNvSpPr txBox="1"/>
          <p:nvPr/>
        </p:nvSpPr>
        <p:spPr>
          <a:xfrm>
            <a:off x="8814816" y="3703320"/>
            <a:ext cx="2624328" cy="548640"/>
          </a:xfrm>
          <a:prstGeom prst="rect">
            <a:avLst/>
          </a:prstGeom>
          <a:noFill/>
          <a:ln/>
        </p:spPr>
        <p:txBody>
          <a:bodyPr wrap="square" lIns="0" tIns="0" rIns="0" bIns="0" rtlCol="0" anchor="ctr"/>
          <a:lstStyle/>
          <a:p>
            <a:pPr algn="ctr" indent="0" marL="0">
              <a:lnSpc>
                <a:spcPct val="100000"/>
              </a:lnSpc>
              <a:buNone/>
            </a:pPr>
            <a:r>
              <a:rPr lang="en-US" sz="1150" dirty="0">
                <a:solidFill>
                  <a:srgbClr val="1F2937"/>
                </a:solidFill>
                <a:latin typeface="Calibri" pitchFamily="34" charset="0"/>
                <a:ea typeface="Calibri" pitchFamily="34" charset="-122"/>
                <a:cs typeface="Calibri" pitchFamily="34" charset="-120"/>
              </a:rPr>
              <a:t>Dynamic vault secrets &amp; tool ACLs</a:t>
            </a:r>
            <a:endParaRPr lang="en-US" sz="1150" dirty="0"/>
          </a:p>
        </p:txBody>
      </p:sp>
      <p:sp>
        <p:nvSpPr>
          <p:cNvPr id="40" name="Shape 38"/>
          <p:cNvSpPr/>
          <p:nvPr/>
        </p:nvSpPr>
        <p:spPr>
          <a:xfrm>
            <a:off x="4114800" y="2651760"/>
            <a:ext cx="292608" cy="0"/>
          </a:xfrm>
          <a:prstGeom prst="line">
            <a:avLst/>
          </a:prstGeom>
          <a:noFill/>
          <a:ln w="25400">
            <a:solidFill>
              <a:srgbClr val="2B3A67"/>
            </a:solidFill>
            <a:prstDash val="solid"/>
            <a:tailEnd type="triangle"/>
          </a:ln>
        </p:spPr>
      </p:sp>
      <p:sp>
        <p:nvSpPr>
          <p:cNvPr id="41" name="Shape 39"/>
          <p:cNvSpPr/>
          <p:nvPr/>
        </p:nvSpPr>
        <p:spPr>
          <a:xfrm>
            <a:off x="8138160" y="2651760"/>
            <a:ext cx="292608" cy="0"/>
          </a:xfrm>
          <a:prstGeom prst="line">
            <a:avLst/>
          </a:prstGeom>
          <a:noFill/>
          <a:ln w="25400">
            <a:solidFill>
              <a:srgbClr val="2B3A67"/>
            </a:solidFill>
            <a:prstDash val="solid"/>
            <a:tailEnd type="triangle"/>
          </a:ln>
        </p:spPr>
      </p:sp>
      <p:sp>
        <p:nvSpPr>
          <p:cNvPr id="42" name="Shape 40"/>
          <p:cNvSpPr/>
          <p:nvPr/>
        </p:nvSpPr>
        <p:spPr>
          <a:xfrm>
            <a:off x="457200" y="4754880"/>
            <a:ext cx="7589520" cy="960120"/>
          </a:xfrm>
          <a:prstGeom prst="roundRect">
            <a:avLst>
              <a:gd name="adj" fmla="val 9524"/>
            </a:avLst>
          </a:prstGeom>
          <a:solidFill>
            <a:srgbClr val="FDF1F1"/>
          </a:solidFill>
          <a:ln w="15875">
            <a:solidFill>
              <a:srgbClr val="F0C3C3"/>
            </a:solidFill>
            <a:prstDash val="solid"/>
          </a:ln>
        </p:spPr>
      </p:sp>
      <p:pic>
        <p:nvPicPr>
          <p:cNvPr id="43" name="Image 0" descr="preencoded.png">    </p:cNvPr>
          <p:cNvPicPr>
            <a:picLocks noChangeAspect="1"/>
          </p:cNvPicPr>
          <p:nvPr/>
        </p:nvPicPr>
        <p:blipFill>
          <a:blip r:embed="rId1"/>
          <a:stretch>
            <a:fillRect/>
          </a:stretch>
        </p:blipFill>
        <p:spPr>
          <a:xfrm>
            <a:off x="685800" y="5102352"/>
            <a:ext cx="256032" cy="256032"/>
          </a:xfrm>
          <a:prstGeom prst="rect">
            <a:avLst/>
          </a:prstGeom>
        </p:spPr>
      </p:pic>
      <p:sp>
        <p:nvSpPr>
          <p:cNvPr id="44" name="Text 41"/>
          <p:cNvSpPr txBox="1"/>
          <p:nvPr/>
        </p:nvSpPr>
        <p:spPr>
          <a:xfrm>
            <a:off x="1033272" y="5029200"/>
            <a:ext cx="2011680" cy="411480"/>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Emergency operations</a:t>
            </a:r>
            <a:endParaRPr lang="en-US" sz="1300" dirty="0"/>
          </a:p>
        </p:txBody>
      </p:sp>
      <p:sp>
        <p:nvSpPr>
          <p:cNvPr id="45" name="Shape 42"/>
          <p:cNvSpPr/>
          <p:nvPr/>
        </p:nvSpPr>
        <p:spPr>
          <a:xfrm>
            <a:off x="3154680" y="4992624"/>
            <a:ext cx="4663440" cy="484632"/>
          </a:xfrm>
          <a:prstGeom prst="roundRect">
            <a:avLst>
              <a:gd name="adj" fmla="val 15094"/>
            </a:avLst>
          </a:prstGeom>
          <a:solidFill>
            <a:srgbClr val="FFFFFF"/>
          </a:solidFill>
          <a:ln w="15875">
            <a:solidFill>
              <a:srgbClr val="F0C3C3"/>
            </a:solidFill>
            <a:prstDash val="solid"/>
          </a:ln>
        </p:spPr>
      </p:sp>
      <p:sp>
        <p:nvSpPr>
          <p:cNvPr id="46" name="Text 43"/>
          <p:cNvSpPr txBox="1"/>
          <p:nvPr/>
        </p:nvSpPr>
        <p:spPr>
          <a:xfrm>
            <a:off x="3246120" y="4992624"/>
            <a:ext cx="4480560" cy="484632"/>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Automated kill switch API  /  SRE revocation</a:t>
            </a:r>
            <a:endParaRPr lang="en-US" sz="1150" dirty="0"/>
          </a:p>
        </p:txBody>
      </p:sp>
      <p:sp>
        <p:nvSpPr>
          <p:cNvPr id="47" name="Shape 44"/>
          <p:cNvSpPr/>
          <p:nvPr/>
        </p:nvSpPr>
        <p:spPr>
          <a:xfrm>
            <a:off x="8138160" y="5234940"/>
            <a:ext cx="292608" cy="0"/>
          </a:xfrm>
          <a:prstGeom prst="line">
            <a:avLst/>
          </a:prstGeom>
          <a:noFill/>
          <a:ln w="25400">
            <a:solidFill>
              <a:srgbClr val="B3261E"/>
            </a:solidFill>
            <a:prstDash val="dash"/>
            <a:tailEnd type="triangle"/>
          </a:ln>
        </p:spPr>
      </p:sp>
      <p:sp>
        <p:nvSpPr>
          <p:cNvPr id="48" name="Shape 45"/>
          <p:cNvSpPr/>
          <p:nvPr/>
        </p:nvSpPr>
        <p:spPr>
          <a:xfrm>
            <a:off x="8503920" y="4754880"/>
            <a:ext cx="3246120" cy="960120"/>
          </a:xfrm>
          <a:prstGeom prst="roundRect">
            <a:avLst>
              <a:gd name="adj" fmla="val 9524"/>
            </a:avLst>
          </a:prstGeom>
          <a:solidFill>
            <a:srgbClr val="FDF1F1"/>
          </a:solidFill>
          <a:ln w="15875">
            <a:solidFill>
              <a:srgbClr val="F0C3C3"/>
            </a:solidFill>
            <a:prstDash val="solid"/>
          </a:ln>
        </p:spPr>
      </p:sp>
      <p:sp>
        <p:nvSpPr>
          <p:cNvPr id="49" name="Text 46"/>
          <p:cNvSpPr txBox="1"/>
          <p:nvPr/>
        </p:nvSpPr>
        <p:spPr>
          <a:xfrm>
            <a:off x="8613648" y="4754880"/>
            <a:ext cx="3026664" cy="960120"/>
          </a:xfrm>
          <a:prstGeom prst="rect">
            <a:avLst/>
          </a:prstGeom>
          <a:noFill/>
          <a:ln/>
        </p:spPr>
        <p:txBody>
          <a:bodyPr wrap="square" lIns="0" tIns="0" rIns="0" bIns="0" rtlCol="0" anchor="ctr"/>
          <a:lstStyle/>
          <a:p>
            <a:pPr algn="ctr" indent="0" marL="0">
              <a:lnSpc>
                <a:spcPct val="105000"/>
              </a:lnSpc>
              <a:buNone/>
            </a:pPr>
            <a:r>
              <a:rPr lang="en-US" sz="1250" b="1" dirty="0">
                <a:solidFill>
                  <a:srgbClr val="B3261E"/>
                </a:solidFill>
                <a:latin typeface="Calibri" pitchFamily="34" charset="0"/>
                <a:ea typeface="Calibri" pitchFamily="34" charset="-122"/>
                <a:cs typeface="Calibri" pitchFamily="34" charset="-120"/>
              </a:rPr>
              <a:t>Instant sever (&lt; 5s)</a:t>
            </a:r>
            <a:endParaRPr lang="en-US" sz="1250" dirty="0"/>
          </a:p>
          <a:p>
            <a:pPr algn="ctr" indent="0" marL="0">
              <a:lnSpc>
                <a:spcPct val="105000"/>
              </a:lnSpc>
              <a:buNone/>
            </a:pPr>
            <a:r>
              <a:rPr lang="en-US" sz="1000" dirty="0">
                <a:solidFill>
                  <a:srgbClr val="1F2937"/>
                </a:solidFill>
                <a:latin typeface="Calibri" pitchFamily="34" charset="0"/>
                <a:ea typeface="Calibri" pitchFamily="34" charset="-122"/>
                <a:cs typeface="Calibri" pitchFamily="34" charset="-120"/>
              </a:rPr>
              <a:t>Tokens, ACLs and routes revoked at the gateway</a:t>
            </a:r>
            <a:endParaRPr lang="en-US" sz="1250" dirty="0"/>
          </a:p>
        </p:txBody>
      </p:sp>
      <p:sp>
        <p:nvSpPr>
          <p:cNvPr id="50" name="Shape 47"/>
          <p:cNvSpPr/>
          <p:nvPr/>
        </p:nvSpPr>
        <p:spPr>
          <a:xfrm>
            <a:off x="457200" y="5989320"/>
            <a:ext cx="11274552" cy="548640"/>
          </a:xfrm>
          <a:prstGeom prst="roundRect">
            <a:avLst>
              <a:gd name="adj" fmla="val 13333"/>
            </a:avLst>
          </a:prstGeom>
          <a:solidFill>
            <a:srgbClr val="F4F7FB"/>
          </a:solidFill>
          <a:ln w="12700">
            <a:solidFill>
              <a:srgbClr val="C7D2E8"/>
            </a:solidFill>
            <a:prstDash val="solid"/>
          </a:ln>
        </p:spPr>
      </p:sp>
      <p:sp>
        <p:nvSpPr>
          <p:cNvPr id="51" name="Text 48"/>
          <p:cNvSpPr txBox="1"/>
          <p:nvPr/>
        </p:nvSpPr>
        <p:spPr>
          <a:xfrm>
            <a:off x="640080" y="5989320"/>
            <a:ext cx="10908792" cy="548640"/>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No change reaches the gateway by hand: every spoke request becomes a reviewed decK commit, and every control is enforced in the data plane rather than in each agent.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11247120" cy="384048"/>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What a Standalone LLM Proxy Actually Costs to Run</a:t>
            </a:r>
            <a:endParaRPr lang="en-US" sz="2400" dirty="0"/>
          </a:p>
        </p:txBody>
      </p:sp>
      <p:sp>
        <p:nvSpPr>
          <p:cNvPr id="3" name="Text 1"/>
          <p:cNvSpPr txBox="1"/>
          <p:nvPr/>
        </p:nvSpPr>
        <p:spPr>
          <a:xfrm>
            <a:off x="457200" y="566928"/>
            <a:ext cx="11247120" cy="274320"/>
          </a:xfrm>
          <a:prstGeom prst="rect">
            <a:avLst/>
          </a:prstGeom>
          <a:noFill/>
          <a:ln/>
        </p:spPr>
        <p:txBody>
          <a:bodyPr wrap="square" lIns="0" tIns="0" rIns="0" bIns="0" rtlCol="0" anchor="ctr"/>
          <a:lstStyle/>
          <a:p>
            <a:pPr indent="0" marL="0">
              <a:buNone/>
            </a:pPr>
            <a:r>
              <a:rPr lang="en-US" sz="1150" i="1" dirty="0">
                <a:solidFill>
                  <a:srgbClr val="4B5563"/>
                </a:solidFill>
                <a:latin typeface="Calibri" pitchFamily="34" charset="0"/>
                <a:ea typeface="Calibri" pitchFamily="34" charset="-122"/>
                <a:cs typeface="Calibri" pitchFamily="34" charset="-120"/>
              </a:rPr>
              <a:t>Everything below is net-new infrastructure and on-call surface that the existing gateway already provides</a:t>
            </a:r>
            <a:endParaRPr lang="en-US" sz="1150" dirty="0"/>
          </a:p>
        </p:txBody>
      </p:sp>
      <p:sp>
        <p:nvSpPr>
          <p:cNvPr id="4" name="Shape 2"/>
          <p:cNvSpPr/>
          <p:nvPr/>
        </p:nvSpPr>
        <p:spPr>
          <a:xfrm>
            <a:off x="457200" y="960120"/>
            <a:ext cx="3566160" cy="3566160"/>
          </a:xfrm>
          <a:prstGeom prst="roundRect">
            <a:avLst>
              <a:gd name="adj" fmla="val 3077"/>
            </a:avLst>
          </a:prstGeom>
          <a:solidFill>
            <a:srgbClr val="FFFFFF"/>
          </a:solidFill>
          <a:ln w="15875">
            <a:solidFill>
              <a:srgbClr val="C7D2E8"/>
            </a:solidFill>
            <a:prstDash val="solid"/>
          </a:ln>
        </p:spPr>
      </p:sp>
      <p:sp>
        <p:nvSpPr>
          <p:cNvPr id="5" name="Shape 3"/>
          <p:cNvSpPr/>
          <p:nvPr/>
        </p:nvSpPr>
        <p:spPr>
          <a:xfrm>
            <a:off x="585216" y="1115568"/>
            <a:ext cx="3310128" cy="502920"/>
          </a:xfrm>
          <a:prstGeom prst="roundRect">
            <a:avLst>
              <a:gd name="adj" fmla="val 14545"/>
            </a:avLst>
          </a:prstGeom>
          <a:solidFill>
            <a:srgbClr val="EFF4FD"/>
          </a:solidFill>
          <a:ln w="15875">
            <a:solidFill>
              <a:srgbClr val="C7D8F5"/>
            </a:solidFill>
            <a:prstDash val="solid"/>
          </a:ln>
        </p:spPr>
      </p:sp>
      <p:sp>
        <p:nvSpPr>
          <p:cNvPr id="6" name="Shape 4"/>
          <p:cNvSpPr/>
          <p:nvPr/>
        </p:nvSpPr>
        <p:spPr>
          <a:xfrm>
            <a:off x="676656" y="1188720"/>
            <a:ext cx="347472" cy="347472"/>
          </a:xfrm>
          <a:prstGeom prst="ellipse">
            <a:avLst/>
          </a:prstGeom>
          <a:solidFill>
            <a:srgbClr val="2B57B5"/>
          </a:solidFill>
          <a:ln w="12700">
            <a:solidFill>
              <a:srgbClr val="2B57B5"/>
            </a:solidFill>
            <a:prstDash val="solid"/>
          </a:ln>
        </p:spPr>
      </p:sp>
      <p:sp>
        <p:nvSpPr>
          <p:cNvPr id="7" name="Text 5"/>
          <p:cNvSpPr txBox="1"/>
          <p:nvPr/>
        </p:nvSpPr>
        <p:spPr>
          <a:xfrm>
            <a:off x="676656" y="1188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33856" y="1115568"/>
            <a:ext cx="2743200" cy="502920"/>
          </a:xfrm>
          <a:prstGeom prst="rect">
            <a:avLst/>
          </a:prstGeom>
          <a:noFill/>
          <a:ln/>
        </p:spPr>
        <p:txBody>
          <a:bodyPr wrap="square" lIns="0" tIns="0" rIns="0" bIns="0" rtlCol="0" anchor="ctr"/>
          <a:lstStyle/>
          <a:p>
            <a:pPr indent="0" marL="0">
              <a:buNone/>
            </a:pPr>
            <a:r>
              <a:rPr lang="en-US" sz="1250" b="1" dirty="0">
                <a:solidFill>
                  <a:srgbClr val="1E3A8A"/>
                </a:solidFill>
                <a:latin typeface="Calibri" pitchFamily="34" charset="0"/>
                <a:ea typeface="Calibri" pitchFamily="34" charset="-122"/>
                <a:cs typeface="Calibri" pitchFamily="34" charset="-120"/>
              </a:rPr>
              <a:t>Ingress &amp; traffic management</a:t>
            </a:r>
            <a:endParaRPr lang="en-US" sz="1250" dirty="0"/>
          </a:p>
        </p:txBody>
      </p:sp>
      <p:sp>
        <p:nvSpPr>
          <p:cNvPr id="9" name="Shape 7"/>
          <p:cNvSpPr/>
          <p:nvPr/>
        </p:nvSpPr>
        <p:spPr>
          <a:xfrm>
            <a:off x="658368" y="1783080"/>
            <a:ext cx="3163824" cy="1097280"/>
          </a:xfrm>
          <a:prstGeom prst="roundRect">
            <a:avLst>
              <a:gd name="adj" fmla="val 6667"/>
            </a:avLst>
          </a:prstGeom>
          <a:solidFill>
            <a:srgbClr val="FFFFFF"/>
          </a:solidFill>
          <a:ln w="15875">
            <a:solidFill>
              <a:srgbClr val="C7D2E8"/>
            </a:solidFill>
            <a:prstDash val="solid"/>
          </a:ln>
        </p:spPr>
      </p:sp>
      <p:sp>
        <p:nvSpPr>
          <p:cNvPr id="10" name="Text 8"/>
          <p:cNvSpPr txBox="1"/>
          <p:nvPr/>
        </p:nvSpPr>
        <p:spPr>
          <a:xfrm>
            <a:off x="786384" y="178308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Duplicate ingress ALB</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A second public entry point to</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provision, secure and pay for</a:t>
            </a:r>
            <a:endParaRPr lang="en-US" sz="1200" dirty="0"/>
          </a:p>
        </p:txBody>
      </p:sp>
      <p:sp>
        <p:nvSpPr>
          <p:cNvPr id="11" name="Shape 9"/>
          <p:cNvSpPr/>
          <p:nvPr/>
        </p:nvSpPr>
        <p:spPr>
          <a:xfrm>
            <a:off x="2240280" y="2926080"/>
            <a:ext cx="0" cy="182880"/>
          </a:xfrm>
          <a:prstGeom prst="line">
            <a:avLst/>
          </a:prstGeom>
          <a:noFill/>
          <a:ln w="22225">
            <a:solidFill>
              <a:srgbClr val="2B3A67"/>
            </a:solidFill>
            <a:prstDash val="solid"/>
            <a:tailEnd type="triangle"/>
          </a:ln>
        </p:spPr>
      </p:sp>
      <p:sp>
        <p:nvSpPr>
          <p:cNvPr id="12" name="Shape 10"/>
          <p:cNvSpPr/>
          <p:nvPr/>
        </p:nvSpPr>
        <p:spPr>
          <a:xfrm>
            <a:off x="658368" y="3154680"/>
            <a:ext cx="3163824" cy="1097280"/>
          </a:xfrm>
          <a:prstGeom prst="roundRect">
            <a:avLst>
              <a:gd name="adj" fmla="val 6667"/>
            </a:avLst>
          </a:prstGeom>
          <a:solidFill>
            <a:srgbClr val="FFFFFF"/>
          </a:solidFill>
          <a:ln w="15875">
            <a:solidFill>
              <a:srgbClr val="C7D2E8"/>
            </a:solidFill>
            <a:prstDash val="solid"/>
          </a:ln>
        </p:spPr>
      </p:sp>
      <p:sp>
        <p:nvSpPr>
          <p:cNvPr id="13" name="Text 11"/>
          <p:cNvSpPr txBox="1"/>
          <p:nvPr/>
        </p:nvSpPr>
        <p:spPr>
          <a:xfrm>
            <a:off x="786384" y="315468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Separate TLS certs &amp; DNS</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New records, rotations and</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renewal alerting</a:t>
            </a:r>
            <a:endParaRPr lang="en-US" sz="1200" dirty="0"/>
          </a:p>
        </p:txBody>
      </p:sp>
      <p:sp>
        <p:nvSpPr>
          <p:cNvPr id="14" name="Shape 12"/>
          <p:cNvSpPr/>
          <p:nvPr/>
        </p:nvSpPr>
        <p:spPr>
          <a:xfrm>
            <a:off x="4480560" y="960120"/>
            <a:ext cx="3566160" cy="3566160"/>
          </a:xfrm>
          <a:prstGeom prst="roundRect">
            <a:avLst>
              <a:gd name="adj" fmla="val 3077"/>
            </a:avLst>
          </a:prstGeom>
          <a:solidFill>
            <a:srgbClr val="FFFFFF"/>
          </a:solidFill>
          <a:ln w="15875">
            <a:solidFill>
              <a:srgbClr val="C7D2E8"/>
            </a:solidFill>
            <a:prstDash val="solid"/>
          </a:ln>
        </p:spPr>
      </p:sp>
      <p:sp>
        <p:nvSpPr>
          <p:cNvPr id="15" name="Shape 13"/>
          <p:cNvSpPr/>
          <p:nvPr/>
        </p:nvSpPr>
        <p:spPr>
          <a:xfrm>
            <a:off x="4608576" y="1115568"/>
            <a:ext cx="3310128" cy="502920"/>
          </a:xfrm>
          <a:prstGeom prst="roundRect">
            <a:avLst>
              <a:gd name="adj" fmla="val 14545"/>
            </a:avLst>
          </a:prstGeom>
          <a:solidFill>
            <a:srgbClr val="F4F4FE"/>
          </a:solidFill>
          <a:ln w="15875">
            <a:solidFill>
              <a:srgbClr val="D8D2F2"/>
            </a:solidFill>
            <a:prstDash val="solid"/>
          </a:ln>
        </p:spPr>
      </p:sp>
      <p:sp>
        <p:nvSpPr>
          <p:cNvPr id="16" name="Shape 14"/>
          <p:cNvSpPr/>
          <p:nvPr/>
        </p:nvSpPr>
        <p:spPr>
          <a:xfrm>
            <a:off x="4700016" y="1188720"/>
            <a:ext cx="347472" cy="347472"/>
          </a:xfrm>
          <a:prstGeom prst="ellipse">
            <a:avLst/>
          </a:prstGeom>
          <a:solidFill>
            <a:srgbClr val="4338CA"/>
          </a:solidFill>
          <a:ln w="12700">
            <a:solidFill>
              <a:srgbClr val="4338CA"/>
            </a:solidFill>
            <a:prstDash val="solid"/>
          </a:ln>
        </p:spPr>
      </p:sp>
      <p:sp>
        <p:nvSpPr>
          <p:cNvPr id="17" name="Text 15"/>
          <p:cNvSpPr txBox="1"/>
          <p:nvPr/>
        </p:nvSpPr>
        <p:spPr>
          <a:xfrm>
            <a:off x="4700016" y="1188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5157216" y="1115568"/>
            <a:ext cx="2743200" cy="502920"/>
          </a:xfrm>
          <a:prstGeom prst="rect">
            <a:avLst/>
          </a:prstGeom>
          <a:noFill/>
          <a:ln/>
        </p:spPr>
        <p:txBody>
          <a:bodyPr wrap="square" lIns="0" tIns="0" rIns="0" bIns="0" rtlCol="0" anchor="ctr"/>
          <a:lstStyle/>
          <a:p>
            <a:pPr indent="0" marL="0">
              <a:buNone/>
            </a:pPr>
            <a:r>
              <a:rPr lang="en-US" sz="1250" b="1" dirty="0">
                <a:solidFill>
                  <a:srgbClr val="3730A3"/>
                </a:solidFill>
                <a:latin typeface="Calibri" pitchFamily="34" charset="0"/>
                <a:ea typeface="Calibri" pitchFamily="34" charset="-122"/>
                <a:cs typeface="Calibri" pitchFamily="34" charset="-120"/>
              </a:rPr>
              <a:t>Compute &amp; runtime</a:t>
            </a:r>
            <a:endParaRPr lang="en-US" sz="1250" dirty="0"/>
          </a:p>
        </p:txBody>
      </p:sp>
      <p:sp>
        <p:nvSpPr>
          <p:cNvPr id="19" name="Shape 17"/>
          <p:cNvSpPr/>
          <p:nvPr/>
        </p:nvSpPr>
        <p:spPr>
          <a:xfrm>
            <a:off x="4681728" y="1783080"/>
            <a:ext cx="3163824" cy="1097280"/>
          </a:xfrm>
          <a:prstGeom prst="roundRect">
            <a:avLst>
              <a:gd name="adj" fmla="val 6667"/>
            </a:avLst>
          </a:prstGeom>
          <a:solidFill>
            <a:srgbClr val="FFFFFF"/>
          </a:solidFill>
          <a:ln w="15875">
            <a:solidFill>
              <a:srgbClr val="C7D2E8"/>
            </a:solidFill>
            <a:prstDash val="solid"/>
          </a:ln>
        </p:spPr>
      </p:sp>
      <p:sp>
        <p:nvSpPr>
          <p:cNvPr id="20" name="Text 18"/>
          <p:cNvSpPr txBox="1"/>
          <p:nvPr/>
        </p:nvSpPr>
        <p:spPr>
          <a:xfrm>
            <a:off x="4809744" y="178308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Dedicated Kubernetes pods</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Own cluster capacity, scaling</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policy and resource quotas</a:t>
            </a:r>
            <a:endParaRPr lang="en-US" sz="1200" dirty="0"/>
          </a:p>
        </p:txBody>
      </p:sp>
      <p:sp>
        <p:nvSpPr>
          <p:cNvPr id="21" name="Shape 19"/>
          <p:cNvSpPr/>
          <p:nvPr/>
        </p:nvSpPr>
        <p:spPr>
          <a:xfrm>
            <a:off x="6263640" y="2926080"/>
            <a:ext cx="0" cy="182880"/>
          </a:xfrm>
          <a:prstGeom prst="line">
            <a:avLst/>
          </a:prstGeom>
          <a:noFill/>
          <a:ln w="22225">
            <a:solidFill>
              <a:srgbClr val="2B3A67"/>
            </a:solidFill>
            <a:prstDash val="solid"/>
            <a:tailEnd type="triangle"/>
          </a:ln>
        </p:spPr>
      </p:sp>
      <p:sp>
        <p:nvSpPr>
          <p:cNvPr id="22" name="Shape 20"/>
          <p:cNvSpPr/>
          <p:nvPr/>
        </p:nvSpPr>
        <p:spPr>
          <a:xfrm>
            <a:off x="4681728" y="3154680"/>
            <a:ext cx="3163824" cy="1097280"/>
          </a:xfrm>
          <a:prstGeom prst="roundRect">
            <a:avLst>
              <a:gd name="adj" fmla="val 6667"/>
            </a:avLst>
          </a:prstGeom>
          <a:solidFill>
            <a:srgbClr val="FFFFFF"/>
          </a:solidFill>
          <a:ln w="15875">
            <a:solidFill>
              <a:srgbClr val="C7D2E8"/>
            </a:solidFill>
            <a:prstDash val="solid"/>
          </a:ln>
        </p:spPr>
      </p:sp>
      <p:sp>
        <p:nvSpPr>
          <p:cNvPr id="23" name="Text 21"/>
          <p:cNvSpPr txBox="1"/>
          <p:nvPr/>
        </p:nvSpPr>
        <p:spPr>
          <a:xfrm>
            <a:off x="4809744" y="315468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Python FastAPI / Uvicorn</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GIL limits per-pod throughput,</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so you scale out to compensate</a:t>
            </a:r>
            <a:endParaRPr lang="en-US" sz="1200" dirty="0"/>
          </a:p>
        </p:txBody>
      </p:sp>
      <p:sp>
        <p:nvSpPr>
          <p:cNvPr id="24" name="Shape 22"/>
          <p:cNvSpPr/>
          <p:nvPr/>
        </p:nvSpPr>
        <p:spPr>
          <a:xfrm>
            <a:off x="8503920" y="960120"/>
            <a:ext cx="3246120" cy="3566160"/>
          </a:xfrm>
          <a:prstGeom prst="roundRect">
            <a:avLst>
              <a:gd name="adj" fmla="val 3380"/>
            </a:avLst>
          </a:prstGeom>
          <a:solidFill>
            <a:srgbClr val="FFFFFF"/>
          </a:solidFill>
          <a:ln w="15875">
            <a:solidFill>
              <a:srgbClr val="C7D2E8"/>
            </a:solidFill>
            <a:prstDash val="solid"/>
          </a:ln>
        </p:spPr>
      </p:sp>
      <p:sp>
        <p:nvSpPr>
          <p:cNvPr id="25" name="Shape 23"/>
          <p:cNvSpPr/>
          <p:nvPr/>
        </p:nvSpPr>
        <p:spPr>
          <a:xfrm>
            <a:off x="8631936" y="1115568"/>
            <a:ext cx="2990088" cy="502920"/>
          </a:xfrm>
          <a:prstGeom prst="roundRect">
            <a:avLst>
              <a:gd name="adj" fmla="val 14545"/>
            </a:avLst>
          </a:prstGeom>
          <a:solidFill>
            <a:srgbClr val="FFFBF0"/>
          </a:solidFill>
          <a:ln w="15875">
            <a:solidFill>
              <a:srgbClr val="F7E0AE"/>
            </a:solidFill>
            <a:prstDash val="solid"/>
          </a:ln>
        </p:spPr>
      </p:sp>
      <p:sp>
        <p:nvSpPr>
          <p:cNvPr id="26" name="Shape 24"/>
          <p:cNvSpPr/>
          <p:nvPr/>
        </p:nvSpPr>
        <p:spPr>
          <a:xfrm>
            <a:off x="8723376" y="1188720"/>
            <a:ext cx="347472" cy="347472"/>
          </a:xfrm>
          <a:prstGeom prst="ellipse">
            <a:avLst/>
          </a:prstGeom>
          <a:solidFill>
            <a:srgbClr val="B45309"/>
          </a:solidFill>
          <a:ln w="12700">
            <a:solidFill>
              <a:srgbClr val="B45309"/>
            </a:solidFill>
            <a:prstDash val="solid"/>
          </a:ln>
        </p:spPr>
      </p:sp>
      <p:sp>
        <p:nvSpPr>
          <p:cNvPr id="27" name="Text 25"/>
          <p:cNvSpPr txBox="1"/>
          <p:nvPr/>
        </p:nvSpPr>
        <p:spPr>
          <a:xfrm>
            <a:off x="8723376" y="1188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txBox="1"/>
          <p:nvPr/>
        </p:nvSpPr>
        <p:spPr>
          <a:xfrm>
            <a:off x="9180576" y="1115568"/>
            <a:ext cx="2423160" cy="502920"/>
          </a:xfrm>
          <a:prstGeom prst="rect">
            <a:avLst/>
          </a:prstGeom>
          <a:noFill/>
          <a:ln/>
        </p:spPr>
        <p:txBody>
          <a:bodyPr wrap="square" lIns="0" tIns="0" rIns="0" bIns="0" rtlCol="0" anchor="ctr"/>
          <a:lstStyle/>
          <a:p>
            <a:pPr indent="0" marL="0">
              <a:buNone/>
            </a:pPr>
            <a:r>
              <a:rPr lang="en-US" sz="1250" b="1" dirty="0">
                <a:solidFill>
                  <a:srgbClr val="B45309"/>
                </a:solidFill>
                <a:latin typeface="Calibri" pitchFamily="34" charset="0"/>
                <a:ea typeface="Calibri" pitchFamily="34" charset="-122"/>
                <a:cs typeface="Calibri" pitchFamily="34" charset="-120"/>
              </a:rPr>
              <a:t>Mandatory state stores</a:t>
            </a:r>
            <a:endParaRPr lang="en-US" sz="1250" dirty="0"/>
          </a:p>
        </p:txBody>
      </p:sp>
      <p:sp>
        <p:nvSpPr>
          <p:cNvPr id="29" name="Shape 27"/>
          <p:cNvSpPr/>
          <p:nvPr/>
        </p:nvSpPr>
        <p:spPr>
          <a:xfrm>
            <a:off x="8705088" y="1783080"/>
            <a:ext cx="2843784" cy="1097280"/>
          </a:xfrm>
          <a:prstGeom prst="roundRect">
            <a:avLst>
              <a:gd name="adj" fmla="val 6667"/>
            </a:avLst>
          </a:prstGeom>
          <a:solidFill>
            <a:srgbClr val="FFFFFF"/>
          </a:solidFill>
          <a:ln w="15875">
            <a:solidFill>
              <a:srgbClr val="C7D2E8"/>
            </a:solidFill>
            <a:prstDash val="solid"/>
          </a:ln>
        </p:spPr>
      </p:sp>
      <p:sp>
        <p:nvSpPr>
          <p:cNvPr id="30" name="Text 28"/>
          <p:cNvSpPr txBox="1"/>
          <p:nvPr/>
        </p:nvSpPr>
        <p:spPr>
          <a:xfrm>
            <a:off x="8833104" y="1783080"/>
            <a:ext cx="258775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Redis cluster</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Distributed rate limit and</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quota state</a:t>
            </a:r>
            <a:endParaRPr lang="en-US" sz="1200" dirty="0"/>
          </a:p>
        </p:txBody>
      </p:sp>
      <p:sp>
        <p:nvSpPr>
          <p:cNvPr id="31" name="Shape 29"/>
          <p:cNvSpPr/>
          <p:nvPr/>
        </p:nvSpPr>
        <p:spPr>
          <a:xfrm>
            <a:off x="10126980" y="2926080"/>
            <a:ext cx="0" cy="182880"/>
          </a:xfrm>
          <a:prstGeom prst="line">
            <a:avLst/>
          </a:prstGeom>
          <a:noFill/>
          <a:ln w="22225">
            <a:solidFill>
              <a:srgbClr val="2B3A67"/>
            </a:solidFill>
            <a:prstDash val="solid"/>
            <a:tailEnd type="triangle"/>
          </a:ln>
        </p:spPr>
      </p:sp>
      <p:sp>
        <p:nvSpPr>
          <p:cNvPr id="32" name="Shape 30"/>
          <p:cNvSpPr/>
          <p:nvPr/>
        </p:nvSpPr>
        <p:spPr>
          <a:xfrm>
            <a:off x="8705088" y="3154680"/>
            <a:ext cx="2843784" cy="1097280"/>
          </a:xfrm>
          <a:prstGeom prst="roundRect">
            <a:avLst>
              <a:gd name="adj" fmla="val 6667"/>
            </a:avLst>
          </a:prstGeom>
          <a:solidFill>
            <a:srgbClr val="FFFFFF"/>
          </a:solidFill>
          <a:ln w="15875">
            <a:solidFill>
              <a:srgbClr val="C7D2E8"/>
            </a:solidFill>
            <a:prstDash val="solid"/>
          </a:ln>
        </p:spPr>
      </p:sp>
      <p:sp>
        <p:nvSpPr>
          <p:cNvPr id="33" name="Text 31"/>
          <p:cNvSpPr txBox="1"/>
          <p:nvPr/>
        </p:nvSpPr>
        <p:spPr>
          <a:xfrm>
            <a:off x="8833104" y="3154680"/>
            <a:ext cx="258775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PostgreSQL database</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Spend tracking, users and</a:t>
            </a:r>
            <a:endParaRPr lang="en-US" sz="1200" dirty="0"/>
          </a:p>
          <a:p>
            <a:pPr algn="ctr" indent="0" marL="0">
              <a:lnSpc>
                <a:spcPct val="105000"/>
              </a:lnSpc>
              <a:buNone/>
            </a:pPr>
            <a:r>
              <a:rPr lang="en-US" sz="1000" dirty="0">
                <a:solidFill>
                  <a:srgbClr val="4B5563"/>
                </a:solidFill>
                <a:latin typeface="Calibri" pitchFamily="34" charset="0"/>
                <a:ea typeface="Calibri" pitchFamily="34" charset="-122"/>
                <a:cs typeface="Calibri" pitchFamily="34" charset="-120"/>
              </a:rPr>
              <a:t>API keys</a:t>
            </a:r>
            <a:endParaRPr lang="en-US" sz="1200" dirty="0"/>
          </a:p>
        </p:txBody>
      </p:sp>
      <p:sp>
        <p:nvSpPr>
          <p:cNvPr id="34" name="Shape 32"/>
          <p:cNvSpPr/>
          <p:nvPr/>
        </p:nvSpPr>
        <p:spPr>
          <a:xfrm>
            <a:off x="4114800" y="2697480"/>
            <a:ext cx="292608" cy="0"/>
          </a:xfrm>
          <a:prstGeom prst="line">
            <a:avLst/>
          </a:prstGeom>
          <a:noFill/>
          <a:ln w="25400">
            <a:solidFill>
              <a:srgbClr val="2B3A67"/>
            </a:solidFill>
            <a:prstDash val="solid"/>
            <a:tailEnd type="triangle"/>
          </a:ln>
        </p:spPr>
      </p:sp>
      <p:sp>
        <p:nvSpPr>
          <p:cNvPr id="35" name="Shape 33"/>
          <p:cNvSpPr/>
          <p:nvPr/>
        </p:nvSpPr>
        <p:spPr>
          <a:xfrm>
            <a:off x="8138160" y="2697480"/>
            <a:ext cx="292608" cy="0"/>
          </a:xfrm>
          <a:prstGeom prst="line">
            <a:avLst/>
          </a:prstGeom>
          <a:noFill/>
          <a:ln w="25400">
            <a:solidFill>
              <a:srgbClr val="2B3A67"/>
            </a:solidFill>
            <a:prstDash val="solid"/>
            <a:tailEnd type="triangle"/>
          </a:ln>
        </p:spPr>
      </p:sp>
      <p:sp>
        <p:nvSpPr>
          <p:cNvPr id="36" name="Shape 34"/>
          <p:cNvSpPr/>
          <p:nvPr/>
        </p:nvSpPr>
        <p:spPr>
          <a:xfrm>
            <a:off x="6089904" y="4581144"/>
            <a:ext cx="0" cy="164592"/>
          </a:xfrm>
          <a:prstGeom prst="line">
            <a:avLst/>
          </a:prstGeom>
          <a:noFill/>
          <a:ln w="25400">
            <a:solidFill>
              <a:srgbClr val="B3261E"/>
            </a:solidFill>
            <a:prstDash val="dash"/>
            <a:tailEnd type="triangle"/>
          </a:ln>
        </p:spPr>
      </p:sp>
      <p:sp>
        <p:nvSpPr>
          <p:cNvPr id="37" name="Shape 35"/>
          <p:cNvSpPr/>
          <p:nvPr/>
        </p:nvSpPr>
        <p:spPr>
          <a:xfrm>
            <a:off x="457200" y="4800600"/>
            <a:ext cx="11274552" cy="960120"/>
          </a:xfrm>
          <a:prstGeom prst="roundRect">
            <a:avLst>
              <a:gd name="adj" fmla="val 9524"/>
            </a:avLst>
          </a:prstGeom>
          <a:solidFill>
            <a:srgbClr val="FDF1F1"/>
          </a:solidFill>
          <a:ln w="15875">
            <a:solidFill>
              <a:srgbClr val="F0C3C3"/>
            </a:solidFill>
            <a:prstDash val="solid"/>
          </a:ln>
        </p:spPr>
      </p:sp>
      <p:pic>
        <p:nvPicPr>
          <p:cNvPr id="38" name="Image 0" descr="preencoded.png">    </p:cNvPr>
          <p:cNvPicPr>
            <a:picLocks noChangeAspect="1"/>
          </p:cNvPicPr>
          <p:nvPr/>
        </p:nvPicPr>
        <p:blipFill>
          <a:blip r:embed="rId1"/>
          <a:stretch>
            <a:fillRect/>
          </a:stretch>
        </p:blipFill>
        <p:spPr>
          <a:xfrm>
            <a:off x="676656" y="5148072"/>
            <a:ext cx="256032" cy="256032"/>
          </a:xfrm>
          <a:prstGeom prst="rect">
            <a:avLst/>
          </a:prstGeom>
        </p:spPr>
      </p:pic>
      <p:sp>
        <p:nvSpPr>
          <p:cNvPr id="39" name="Text 36"/>
          <p:cNvSpPr txBox="1"/>
          <p:nvPr/>
        </p:nvSpPr>
        <p:spPr>
          <a:xfrm>
            <a:off x="1024128" y="4965192"/>
            <a:ext cx="1783080" cy="640080"/>
          </a:xfrm>
          <a:prstGeom prst="rect">
            <a:avLst/>
          </a:prstGeom>
          <a:noFill/>
          <a:ln/>
        </p:spPr>
        <p:txBody>
          <a:bodyPr wrap="square" lIns="0" tIns="0" rIns="0" bIns="0" rtlCol="0" anchor="ctr"/>
          <a:lstStyle/>
          <a:p>
            <a:pPr indent="0" marL="0">
              <a:lnSpc>
                <a:spcPct val="100000"/>
              </a:lnSpc>
              <a:buNone/>
            </a:pPr>
            <a:r>
              <a:rPr lang="en-US" sz="1200" b="1" dirty="0">
                <a:solidFill>
                  <a:srgbClr val="B3261E"/>
                </a:solidFill>
                <a:latin typeface="Calibri" pitchFamily="34" charset="0"/>
                <a:ea typeface="Calibri" pitchFamily="34" charset="-122"/>
                <a:cs typeface="Calibri" pitchFamily="34" charset="-120"/>
              </a:rPr>
              <a:t>SRE &amp; maintenance</a:t>
            </a:r>
            <a:endParaRPr lang="en-US" sz="1200" dirty="0"/>
          </a:p>
          <a:p>
            <a:pPr indent="0" marL="0">
              <a:lnSpc>
                <a:spcPct val="100000"/>
              </a:lnSpc>
              <a:buNone/>
            </a:pPr>
            <a:r>
              <a:rPr lang="en-US" sz="1200" b="1" dirty="0">
                <a:solidFill>
                  <a:srgbClr val="B3261E"/>
                </a:solidFill>
                <a:latin typeface="Calibri" pitchFamily="34" charset="0"/>
                <a:ea typeface="Calibri" pitchFamily="34" charset="-122"/>
                <a:cs typeface="Calibri" pitchFamily="34" charset="-120"/>
              </a:rPr>
              <a:t>burden</a:t>
            </a:r>
            <a:endParaRPr lang="en-US" sz="1200" dirty="0"/>
          </a:p>
        </p:txBody>
      </p:sp>
      <p:sp>
        <p:nvSpPr>
          <p:cNvPr id="40" name="Shape 37"/>
          <p:cNvSpPr/>
          <p:nvPr/>
        </p:nvSpPr>
        <p:spPr>
          <a:xfrm>
            <a:off x="2971800" y="4992624"/>
            <a:ext cx="2084832" cy="576072"/>
          </a:xfrm>
          <a:prstGeom prst="roundRect">
            <a:avLst>
              <a:gd name="adj" fmla="val 12698"/>
            </a:avLst>
          </a:prstGeom>
          <a:solidFill>
            <a:srgbClr val="FFFFFF"/>
          </a:solidFill>
          <a:ln w="15875">
            <a:solidFill>
              <a:srgbClr val="F0C3C3"/>
            </a:solidFill>
            <a:prstDash val="solid"/>
          </a:ln>
        </p:spPr>
      </p:sp>
      <p:sp>
        <p:nvSpPr>
          <p:cNvPr id="41" name="Text 38"/>
          <p:cNvSpPr txBox="1"/>
          <p:nvPr/>
        </p:nvSpPr>
        <p:spPr>
          <a:xfrm>
            <a:off x="3026664" y="4992624"/>
            <a:ext cx="1975104" cy="576072"/>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Upstream breaking</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updates &amp; CVEs</a:t>
            </a:r>
            <a:endParaRPr lang="en-US" sz="1050" dirty="0"/>
          </a:p>
        </p:txBody>
      </p:sp>
      <p:sp>
        <p:nvSpPr>
          <p:cNvPr id="42" name="Shape 39"/>
          <p:cNvSpPr/>
          <p:nvPr/>
        </p:nvSpPr>
        <p:spPr>
          <a:xfrm>
            <a:off x="5148072" y="4992624"/>
            <a:ext cx="2084832" cy="576072"/>
          </a:xfrm>
          <a:prstGeom prst="roundRect">
            <a:avLst>
              <a:gd name="adj" fmla="val 12698"/>
            </a:avLst>
          </a:prstGeom>
          <a:solidFill>
            <a:srgbClr val="FFFFFF"/>
          </a:solidFill>
          <a:ln w="15875">
            <a:solidFill>
              <a:srgbClr val="F0C3C3"/>
            </a:solidFill>
            <a:prstDash val="solid"/>
          </a:ln>
        </p:spPr>
      </p:sp>
      <p:sp>
        <p:nvSpPr>
          <p:cNvPr id="43" name="Text 40"/>
          <p:cNvSpPr txBox="1"/>
          <p:nvPr/>
        </p:nvSpPr>
        <p:spPr>
          <a:xfrm>
            <a:off x="5202936" y="4992624"/>
            <a:ext cx="1975104" cy="576072"/>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New 24/7 on-call</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runbooks</a:t>
            </a:r>
            <a:endParaRPr lang="en-US" sz="1050" dirty="0"/>
          </a:p>
        </p:txBody>
      </p:sp>
      <p:sp>
        <p:nvSpPr>
          <p:cNvPr id="44" name="Shape 41"/>
          <p:cNvSpPr/>
          <p:nvPr/>
        </p:nvSpPr>
        <p:spPr>
          <a:xfrm>
            <a:off x="7324344" y="4992624"/>
            <a:ext cx="2084832" cy="576072"/>
          </a:xfrm>
          <a:prstGeom prst="roundRect">
            <a:avLst>
              <a:gd name="adj" fmla="val 12698"/>
            </a:avLst>
          </a:prstGeom>
          <a:solidFill>
            <a:srgbClr val="FFFFFF"/>
          </a:solidFill>
          <a:ln w="15875">
            <a:solidFill>
              <a:srgbClr val="F0C3C3"/>
            </a:solidFill>
            <a:prstDash val="solid"/>
          </a:ln>
        </p:spPr>
      </p:sp>
      <p:sp>
        <p:nvSpPr>
          <p:cNvPr id="45" name="Text 42"/>
          <p:cNvSpPr txBox="1"/>
          <p:nvPr/>
        </p:nvSpPr>
        <p:spPr>
          <a:xfrm>
            <a:off x="7379208" y="4992624"/>
            <a:ext cx="1975104" cy="576072"/>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Database backups &amp;</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schema migrations</a:t>
            </a:r>
            <a:endParaRPr lang="en-US" sz="1050" dirty="0"/>
          </a:p>
        </p:txBody>
      </p:sp>
      <p:sp>
        <p:nvSpPr>
          <p:cNvPr id="46" name="Shape 43"/>
          <p:cNvSpPr/>
          <p:nvPr/>
        </p:nvSpPr>
        <p:spPr>
          <a:xfrm>
            <a:off x="9500616" y="4992624"/>
            <a:ext cx="2084832" cy="576072"/>
          </a:xfrm>
          <a:prstGeom prst="roundRect">
            <a:avLst>
              <a:gd name="adj" fmla="val 12698"/>
            </a:avLst>
          </a:prstGeom>
          <a:solidFill>
            <a:srgbClr val="FFFFFF"/>
          </a:solidFill>
          <a:ln w="15875">
            <a:solidFill>
              <a:srgbClr val="F0C3C3"/>
            </a:solidFill>
            <a:prstDash val="solid"/>
          </a:ln>
        </p:spPr>
      </p:sp>
      <p:sp>
        <p:nvSpPr>
          <p:cNvPr id="47" name="Text 44"/>
          <p:cNvSpPr txBox="1"/>
          <p:nvPr/>
        </p:nvSpPr>
        <p:spPr>
          <a:xfrm>
            <a:off x="9555480" y="4992624"/>
            <a:ext cx="1975104" cy="576072"/>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Split telemetry &amp;</a:t>
            </a:r>
            <a:endParaRPr lang="en-US" sz="1050" dirty="0"/>
          </a:p>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SIEM forwarders</a:t>
            </a:r>
            <a:endParaRPr lang="en-US" sz="1050" dirty="0"/>
          </a:p>
        </p:txBody>
      </p:sp>
      <p:sp>
        <p:nvSpPr>
          <p:cNvPr id="48" name="Shape 45"/>
          <p:cNvSpPr/>
          <p:nvPr/>
        </p:nvSpPr>
        <p:spPr>
          <a:xfrm>
            <a:off x="457200" y="6035040"/>
            <a:ext cx="11274552" cy="502920"/>
          </a:xfrm>
          <a:prstGeom prst="roundRect">
            <a:avLst>
              <a:gd name="adj" fmla="val 14545"/>
            </a:avLst>
          </a:prstGeom>
          <a:solidFill>
            <a:srgbClr val="F4F7FB"/>
          </a:solidFill>
          <a:ln w="12700">
            <a:solidFill>
              <a:srgbClr val="C7D2E8"/>
            </a:solidFill>
            <a:prstDash val="solid"/>
          </a:ln>
        </p:spPr>
      </p:sp>
      <p:sp>
        <p:nvSpPr>
          <p:cNvPr id="49" name="Text 46"/>
          <p:cNvSpPr txBox="1"/>
          <p:nvPr/>
        </p:nvSpPr>
        <p:spPr>
          <a:xfrm>
            <a:off x="640080" y="6035040"/>
            <a:ext cx="10908792" cy="502920"/>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proxy is the small part. The ingress, the cluster, the state stores and the rotation behind it are the real cost — and the gateway already carries all four.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11247120" cy="384048"/>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MCP Server Proxying Through the AI Gateway</a:t>
            </a:r>
            <a:endParaRPr lang="en-US" sz="2400" dirty="0"/>
          </a:p>
        </p:txBody>
      </p:sp>
      <p:sp>
        <p:nvSpPr>
          <p:cNvPr id="3" name="Text 1"/>
          <p:cNvSpPr txBox="1"/>
          <p:nvPr/>
        </p:nvSpPr>
        <p:spPr>
          <a:xfrm>
            <a:off x="457200" y="566928"/>
            <a:ext cx="11247120" cy="256032"/>
          </a:xfrm>
          <a:prstGeom prst="rect">
            <a:avLst/>
          </a:prstGeom>
          <a:noFill/>
          <a:ln/>
        </p:spPr>
        <p:txBody>
          <a:bodyPr wrap="square" lIns="0" tIns="0" rIns="0" bIns="0" rtlCol="0" anchor="ctr"/>
          <a:lstStyle/>
          <a:p>
            <a:pPr indent="0" marL="0">
              <a:buNone/>
            </a:pPr>
            <a:r>
              <a:rPr lang="en-US" sz="1150" i="1" dirty="0">
                <a:solidFill>
                  <a:srgbClr val="4B5563"/>
                </a:solidFill>
                <a:latin typeface="Calibri" pitchFamily="34" charset="0"/>
                <a:ea typeface="Calibri" pitchFamily="34" charset="-122"/>
                <a:cs typeface="Calibri" pitchFamily="34" charset="-120"/>
              </a:rPr>
              <a:t>One MCP endpoint for every client in the organisation — Antigravity, custom agents and internal tooling</a:t>
            </a:r>
            <a:endParaRPr lang="en-US" sz="1150" dirty="0"/>
          </a:p>
        </p:txBody>
      </p:sp>
      <p:sp>
        <p:nvSpPr>
          <p:cNvPr id="4" name="Shape 2"/>
          <p:cNvSpPr/>
          <p:nvPr/>
        </p:nvSpPr>
        <p:spPr>
          <a:xfrm>
            <a:off x="457200" y="914400"/>
            <a:ext cx="2743200" cy="4069080"/>
          </a:xfrm>
          <a:prstGeom prst="roundRect">
            <a:avLst>
              <a:gd name="adj" fmla="val 4000"/>
            </a:avLst>
          </a:prstGeom>
          <a:solidFill>
            <a:srgbClr val="FFFFFF"/>
          </a:solidFill>
          <a:ln w="15875">
            <a:solidFill>
              <a:srgbClr val="C7D2E8"/>
            </a:solidFill>
            <a:prstDash val="solid"/>
          </a:ln>
        </p:spPr>
      </p:sp>
      <p:sp>
        <p:nvSpPr>
          <p:cNvPr id="5" name="Shape 3"/>
          <p:cNvSpPr/>
          <p:nvPr/>
        </p:nvSpPr>
        <p:spPr>
          <a:xfrm>
            <a:off x="603504" y="1051560"/>
            <a:ext cx="2450592" cy="457200"/>
          </a:xfrm>
          <a:prstGeom prst="roundRect">
            <a:avLst>
              <a:gd name="adj" fmla="val 16000"/>
            </a:avLst>
          </a:prstGeom>
          <a:solidFill>
            <a:srgbClr val="F4F7FB"/>
          </a:solidFill>
          <a:ln w="12700">
            <a:solidFill>
              <a:srgbClr val="C7D2E8"/>
            </a:solidFill>
            <a:prstDash val="solid"/>
          </a:ln>
        </p:spPr>
      </p:sp>
      <p:sp>
        <p:nvSpPr>
          <p:cNvPr id="6" name="Text 4"/>
          <p:cNvSpPr txBox="1"/>
          <p:nvPr/>
        </p:nvSpPr>
        <p:spPr>
          <a:xfrm>
            <a:off x="603504" y="1051560"/>
            <a:ext cx="2450592" cy="457200"/>
          </a:xfrm>
          <a:prstGeom prst="rect">
            <a:avLst/>
          </a:prstGeom>
          <a:noFill/>
          <a:ln/>
        </p:spPr>
        <p:txBody>
          <a:bodyPr wrap="square" lIns="0" tIns="0" rIns="0" bIns="0" rtlCol="0" anchor="ctr"/>
          <a:lstStyle/>
          <a:p>
            <a:pPr algn="ctr" indent="0" marL="0">
              <a:buNone/>
            </a:pPr>
            <a:r>
              <a:rPr lang="en-US" sz="1250" b="1" dirty="0">
                <a:solidFill>
                  <a:srgbClr val="1E3A8A"/>
                </a:solidFill>
                <a:latin typeface="Calibri" pitchFamily="34" charset="0"/>
                <a:ea typeface="Calibri" pitchFamily="34" charset="-122"/>
                <a:cs typeface="Calibri" pitchFamily="34" charset="-120"/>
              </a:rPr>
              <a:t>MCP clients</a:t>
            </a:r>
            <a:endParaRPr lang="en-US" sz="1250" dirty="0"/>
          </a:p>
        </p:txBody>
      </p:sp>
      <p:sp>
        <p:nvSpPr>
          <p:cNvPr id="7" name="Shape 5"/>
          <p:cNvSpPr/>
          <p:nvPr/>
        </p:nvSpPr>
        <p:spPr>
          <a:xfrm>
            <a:off x="640080" y="1691640"/>
            <a:ext cx="2377440" cy="960120"/>
          </a:xfrm>
          <a:prstGeom prst="roundRect">
            <a:avLst>
              <a:gd name="adj" fmla="val 7619"/>
            </a:avLst>
          </a:prstGeom>
          <a:solidFill>
            <a:srgbClr val="FFFFFF"/>
          </a:solidFill>
          <a:ln w="15875">
            <a:solidFill>
              <a:srgbClr val="C7D2E8"/>
            </a:solidFill>
            <a:prstDash val="solid"/>
          </a:ln>
        </p:spPr>
      </p:sp>
      <p:sp>
        <p:nvSpPr>
          <p:cNvPr id="8" name="Text 6"/>
          <p:cNvSpPr txBox="1"/>
          <p:nvPr/>
        </p:nvSpPr>
        <p:spPr>
          <a:xfrm>
            <a:off x="731520" y="1691640"/>
            <a:ext cx="2194560" cy="96012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Antigravity</a:t>
            </a:r>
            <a:endParaRPr lang="en-US" sz="1200" dirty="0"/>
          </a:p>
          <a:p>
            <a:pPr algn="ctr" indent="0" marL="0">
              <a:lnSpc>
                <a:spcPct val="105000"/>
              </a:lnSpc>
              <a:buNone/>
            </a:pPr>
            <a:r>
              <a:rPr lang="en-US" sz="950" dirty="0">
                <a:solidFill>
                  <a:srgbClr val="4B5563"/>
                </a:solidFill>
                <a:latin typeface="Calibri" pitchFamily="34" charset="0"/>
                <a:ea typeface="Calibri" pitchFamily="34" charset="-122"/>
                <a:cs typeface="Calibri" pitchFamily="34" charset="-120"/>
              </a:rPr>
              <a:t>The org-wide IDE, pointed at</a:t>
            </a:r>
            <a:endParaRPr lang="en-US" sz="1200" dirty="0"/>
          </a:p>
          <a:p>
            <a:pPr algn="ctr" indent="0" marL="0">
              <a:lnSpc>
                <a:spcPct val="105000"/>
              </a:lnSpc>
              <a:buNone/>
            </a:pPr>
            <a:r>
              <a:rPr lang="en-US" sz="950" dirty="0">
                <a:solidFill>
                  <a:srgbClr val="4B5563"/>
                </a:solidFill>
                <a:latin typeface="Calibri" pitchFamily="34" charset="0"/>
                <a:ea typeface="Calibri" pitchFamily="34" charset="-122"/>
                <a:cs typeface="Calibri" pitchFamily="34" charset="-120"/>
              </a:rPr>
              <a:t>one MCP endpoint</a:t>
            </a:r>
            <a:endParaRPr lang="en-US" sz="1200" dirty="0"/>
          </a:p>
        </p:txBody>
      </p:sp>
      <p:sp>
        <p:nvSpPr>
          <p:cNvPr id="9" name="Shape 7"/>
          <p:cNvSpPr/>
          <p:nvPr/>
        </p:nvSpPr>
        <p:spPr>
          <a:xfrm>
            <a:off x="640080" y="2743200"/>
            <a:ext cx="2377440" cy="960120"/>
          </a:xfrm>
          <a:prstGeom prst="roundRect">
            <a:avLst>
              <a:gd name="adj" fmla="val 7619"/>
            </a:avLst>
          </a:prstGeom>
          <a:solidFill>
            <a:srgbClr val="FFFFFF"/>
          </a:solidFill>
          <a:ln w="15875">
            <a:solidFill>
              <a:srgbClr val="C7D2E8"/>
            </a:solidFill>
            <a:prstDash val="solid"/>
          </a:ln>
        </p:spPr>
      </p:sp>
      <p:sp>
        <p:nvSpPr>
          <p:cNvPr id="10" name="Text 8"/>
          <p:cNvSpPr txBox="1"/>
          <p:nvPr/>
        </p:nvSpPr>
        <p:spPr>
          <a:xfrm>
            <a:off x="731520" y="2743200"/>
            <a:ext cx="2194560" cy="96012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Custom agents</a:t>
            </a:r>
            <a:endParaRPr lang="en-US" sz="1200" dirty="0"/>
          </a:p>
          <a:p>
            <a:pPr algn="ctr" indent="0" marL="0">
              <a:lnSpc>
                <a:spcPct val="105000"/>
              </a:lnSpc>
              <a:buNone/>
            </a:pPr>
            <a:r>
              <a:rPr lang="en-US" sz="950" dirty="0">
                <a:solidFill>
                  <a:srgbClr val="4B5563"/>
                </a:solidFill>
                <a:latin typeface="Calibri" pitchFamily="34" charset="0"/>
                <a:ea typeface="Calibri" pitchFamily="34" charset="-122"/>
                <a:cs typeface="Calibri" pitchFamily="34" charset="-120"/>
              </a:rPr>
              <a:t>Everything running on the</a:t>
            </a:r>
            <a:endParaRPr lang="en-US" sz="1200" dirty="0"/>
          </a:p>
          <a:p>
            <a:pPr algn="ctr" indent="0" marL="0">
              <a:lnSpc>
                <a:spcPct val="105000"/>
              </a:lnSpc>
              <a:buNone/>
            </a:pPr>
            <a:r>
              <a:rPr lang="en-US" sz="950" dirty="0">
                <a:solidFill>
                  <a:srgbClr val="4B5563"/>
                </a:solidFill>
                <a:latin typeface="Calibri" pitchFamily="34" charset="0"/>
                <a:ea typeface="Calibri" pitchFamily="34" charset="-122"/>
                <a:cs typeface="Calibri" pitchFamily="34" charset="-120"/>
              </a:rPr>
              <a:t>agent harness</a:t>
            </a:r>
            <a:endParaRPr lang="en-US" sz="1200" dirty="0"/>
          </a:p>
        </p:txBody>
      </p:sp>
      <p:sp>
        <p:nvSpPr>
          <p:cNvPr id="11" name="Shape 9"/>
          <p:cNvSpPr/>
          <p:nvPr/>
        </p:nvSpPr>
        <p:spPr>
          <a:xfrm>
            <a:off x="640080" y="3794760"/>
            <a:ext cx="2377440" cy="960120"/>
          </a:xfrm>
          <a:prstGeom prst="roundRect">
            <a:avLst>
              <a:gd name="adj" fmla="val 7619"/>
            </a:avLst>
          </a:prstGeom>
          <a:solidFill>
            <a:srgbClr val="FFFFFF"/>
          </a:solidFill>
          <a:ln w="15875">
            <a:solidFill>
              <a:srgbClr val="C7D2E8"/>
            </a:solidFill>
            <a:prstDash val="solid"/>
          </a:ln>
        </p:spPr>
      </p:sp>
      <p:sp>
        <p:nvSpPr>
          <p:cNvPr id="12" name="Text 10"/>
          <p:cNvSpPr txBox="1"/>
          <p:nvPr/>
        </p:nvSpPr>
        <p:spPr>
          <a:xfrm>
            <a:off x="731520" y="3794760"/>
            <a:ext cx="2194560" cy="960120"/>
          </a:xfrm>
          <a:prstGeom prst="rect">
            <a:avLst/>
          </a:prstGeom>
          <a:noFill/>
          <a:ln/>
        </p:spPr>
        <p:txBody>
          <a:bodyPr wrap="square" lIns="0" tIns="0" rIns="0" bIns="0" rtlCol="0" anchor="ctr"/>
          <a:lstStyle/>
          <a:p>
            <a:pPr algn="ctr" indent="0" marL="0">
              <a:lnSpc>
                <a:spcPct val="105000"/>
              </a:lnSpc>
              <a:buNone/>
            </a:pPr>
            <a:r>
              <a:rPr lang="en-US" sz="1200" b="1" dirty="0">
                <a:solidFill>
                  <a:srgbClr val="1F2937"/>
                </a:solidFill>
                <a:latin typeface="Calibri" pitchFamily="34" charset="0"/>
                <a:ea typeface="Calibri" pitchFamily="34" charset="-122"/>
                <a:cs typeface="Calibri" pitchFamily="34" charset="-120"/>
              </a:rPr>
              <a:t>Other internal clients</a:t>
            </a:r>
            <a:endParaRPr lang="en-US" sz="1200" dirty="0"/>
          </a:p>
          <a:p>
            <a:pPr algn="ctr" indent="0" marL="0">
              <a:lnSpc>
                <a:spcPct val="105000"/>
              </a:lnSpc>
              <a:buNone/>
            </a:pPr>
            <a:r>
              <a:rPr lang="en-US" sz="950" dirty="0">
                <a:solidFill>
                  <a:srgbClr val="4B5563"/>
                </a:solidFill>
                <a:latin typeface="Calibri" pitchFamily="34" charset="0"/>
                <a:ea typeface="Calibri" pitchFamily="34" charset="-122"/>
                <a:cs typeface="Calibri" pitchFamily="34" charset="-120"/>
              </a:rPr>
              <a:t>Assistants, scripts and</a:t>
            </a:r>
            <a:endParaRPr lang="en-US" sz="1200" dirty="0"/>
          </a:p>
          <a:p>
            <a:pPr algn="ctr" indent="0" marL="0">
              <a:lnSpc>
                <a:spcPct val="105000"/>
              </a:lnSpc>
              <a:buNone/>
            </a:pPr>
            <a:r>
              <a:rPr lang="en-US" sz="950" dirty="0">
                <a:solidFill>
                  <a:srgbClr val="4B5563"/>
                </a:solidFill>
                <a:latin typeface="Calibri" pitchFamily="34" charset="0"/>
                <a:ea typeface="Calibri" pitchFamily="34" charset="-122"/>
                <a:cs typeface="Calibri" pitchFamily="34" charset="-120"/>
              </a:rPr>
              <a:t>notebooks</a:t>
            </a:r>
            <a:endParaRPr lang="en-US" sz="1200" dirty="0"/>
          </a:p>
        </p:txBody>
      </p:sp>
      <p:sp>
        <p:nvSpPr>
          <p:cNvPr id="13" name="Shape 11"/>
          <p:cNvSpPr/>
          <p:nvPr/>
        </p:nvSpPr>
        <p:spPr>
          <a:xfrm>
            <a:off x="3794760" y="914400"/>
            <a:ext cx="3520440" cy="4069080"/>
          </a:xfrm>
          <a:prstGeom prst="roundRect">
            <a:avLst>
              <a:gd name="adj" fmla="val 3117"/>
            </a:avLst>
          </a:prstGeom>
          <a:solidFill>
            <a:srgbClr val="F2FBF8"/>
          </a:solidFill>
          <a:ln w="19050">
            <a:solidFill>
              <a:srgbClr val="A8DDCB"/>
            </a:solidFill>
            <a:prstDash val="solid"/>
          </a:ln>
        </p:spPr>
      </p:sp>
      <p:sp>
        <p:nvSpPr>
          <p:cNvPr id="14" name="Shape 12"/>
          <p:cNvSpPr/>
          <p:nvPr/>
        </p:nvSpPr>
        <p:spPr>
          <a:xfrm>
            <a:off x="5298948" y="1051560"/>
            <a:ext cx="512064" cy="512064"/>
          </a:xfrm>
          <a:prstGeom prst="ellipse">
            <a:avLst/>
          </a:prstGeom>
          <a:solidFill>
            <a:srgbClr val="0F9D76"/>
          </a:solidFill>
          <a:ln w="12700">
            <a:solidFill>
              <a:srgbClr val="0F9D76"/>
            </a:solidFill>
            <a:prstDash val="solid"/>
          </a:ln>
        </p:spPr>
      </p:sp>
      <p:pic>
        <p:nvPicPr>
          <p:cNvPr id="15" name="Image 0" descr="preencoded.png">    </p:cNvPr>
          <p:cNvPicPr>
            <a:picLocks noChangeAspect="1"/>
          </p:cNvPicPr>
          <p:nvPr/>
        </p:nvPicPr>
        <p:blipFill>
          <a:blip r:embed="rId1"/>
          <a:stretch>
            <a:fillRect/>
          </a:stretch>
        </p:blipFill>
        <p:spPr>
          <a:xfrm>
            <a:off x="5417820" y="1170432"/>
            <a:ext cx="274320" cy="274320"/>
          </a:xfrm>
          <a:prstGeom prst="rect">
            <a:avLst/>
          </a:prstGeom>
        </p:spPr>
      </p:pic>
      <p:sp>
        <p:nvSpPr>
          <p:cNvPr id="16" name="Text 13"/>
          <p:cNvSpPr txBox="1"/>
          <p:nvPr/>
        </p:nvSpPr>
        <p:spPr>
          <a:xfrm>
            <a:off x="3977640" y="1627632"/>
            <a:ext cx="3154680" cy="274320"/>
          </a:xfrm>
          <a:prstGeom prst="rect">
            <a:avLst/>
          </a:prstGeom>
          <a:noFill/>
          <a:ln/>
        </p:spPr>
        <p:txBody>
          <a:bodyPr wrap="square" lIns="0" tIns="0" rIns="0" bIns="0" rtlCol="0" anchor="ctr"/>
          <a:lstStyle/>
          <a:p>
            <a:pPr algn="ctr" indent="0" marL="0">
              <a:buNone/>
            </a:pPr>
            <a:r>
              <a:rPr lang="en-US" sz="1600" b="1" dirty="0">
                <a:solidFill>
                  <a:srgbClr val="0A7355"/>
                </a:solidFill>
                <a:latin typeface="Calibri" pitchFamily="34" charset="0"/>
                <a:ea typeface="Calibri" pitchFamily="34" charset="-122"/>
                <a:cs typeface="Calibri" pitchFamily="34" charset="-120"/>
              </a:rPr>
              <a:t>Kong AI Gateway</a:t>
            </a:r>
            <a:endParaRPr lang="en-US" sz="1600" dirty="0"/>
          </a:p>
        </p:txBody>
      </p:sp>
      <p:sp>
        <p:nvSpPr>
          <p:cNvPr id="17" name="Text 14"/>
          <p:cNvSpPr txBox="1"/>
          <p:nvPr/>
        </p:nvSpPr>
        <p:spPr>
          <a:xfrm>
            <a:off x="3977640" y="1901952"/>
            <a:ext cx="3154680" cy="237744"/>
          </a:xfrm>
          <a:prstGeom prst="rect">
            <a:avLst/>
          </a:prstGeom>
          <a:noFill/>
          <a:ln/>
        </p:spPr>
        <p:txBody>
          <a:bodyPr wrap="square" lIns="0" tIns="0" rIns="0" bIns="0" rtlCol="0" anchor="ctr"/>
          <a:lstStyle/>
          <a:p>
            <a:pPr algn="ctr" indent="0" marL="0">
              <a:buNone/>
            </a:pPr>
            <a:r>
              <a:rPr lang="en-US" sz="1000" i="1" dirty="0">
                <a:solidFill>
                  <a:srgbClr val="4B5563"/>
                </a:solidFill>
                <a:latin typeface="Calibri" pitchFamily="34" charset="0"/>
                <a:ea typeface="Calibri" pitchFamily="34" charset="-122"/>
                <a:cs typeface="Calibri" pitchFamily="34" charset="-120"/>
              </a:rPr>
              <a:t>Every MCP call, in one place</a:t>
            </a:r>
            <a:endParaRPr lang="en-US" sz="1000" dirty="0"/>
          </a:p>
        </p:txBody>
      </p:sp>
      <p:sp>
        <p:nvSpPr>
          <p:cNvPr id="18" name="Shape 15"/>
          <p:cNvSpPr/>
          <p:nvPr/>
        </p:nvSpPr>
        <p:spPr>
          <a:xfrm>
            <a:off x="4023360" y="2212848"/>
            <a:ext cx="3063240" cy="868680"/>
          </a:xfrm>
          <a:prstGeom prst="roundRect">
            <a:avLst>
              <a:gd name="adj" fmla="val 8421"/>
            </a:avLst>
          </a:prstGeom>
          <a:solidFill>
            <a:srgbClr val="F7FCF8"/>
          </a:solidFill>
          <a:ln w="15875">
            <a:solidFill>
              <a:srgbClr val="BFE0C7"/>
            </a:solidFill>
            <a:prstDash val="solid"/>
          </a:ln>
        </p:spPr>
      </p:sp>
      <p:sp>
        <p:nvSpPr>
          <p:cNvPr id="19" name="Text 16"/>
          <p:cNvSpPr txBox="1"/>
          <p:nvPr/>
        </p:nvSpPr>
        <p:spPr>
          <a:xfrm>
            <a:off x="4151376" y="2286000"/>
            <a:ext cx="2807208" cy="237744"/>
          </a:xfrm>
          <a:prstGeom prst="rect">
            <a:avLst/>
          </a:prstGeom>
          <a:noFill/>
          <a:ln/>
        </p:spPr>
        <p:txBody>
          <a:bodyPr wrap="square" lIns="0" tIns="0" rIns="0" bIns="0" rtlCol="0" anchor="ctr"/>
          <a:lstStyle/>
          <a:p>
            <a:pPr indent="0" marL="0">
              <a:buNone/>
            </a:pPr>
            <a:r>
              <a:rPr lang="en-US" sz="1250" b="1" dirty="0">
                <a:solidFill>
                  <a:srgbClr val="166534"/>
                </a:solidFill>
                <a:latin typeface="Calibri" pitchFamily="34" charset="0"/>
                <a:ea typeface="Calibri" pitchFamily="34" charset="-122"/>
                <a:cs typeface="Calibri" pitchFamily="34" charset="-120"/>
              </a:rPr>
              <a:t>MCP Proxy  (ai-mcp-proxy)</a:t>
            </a:r>
            <a:endParaRPr lang="en-US" sz="1250" dirty="0"/>
          </a:p>
        </p:txBody>
      </p:sp>
      <p:sp>
        <p:nvSpPr>
          <p:cNvPr id="20" name="Text 17"/>
          <p:cNvSpPr txBox="1"/>
          <p:nvPr/>
        </p:nvSpPr>
        <p:spPr>
          <a:xfrm>
            <a:off x="4151376" y="2542032"/>
            <a:ext cx="2807208" cy="475488"/>
          </a:xfrm>
          <a:prstGeom prst="rect">
            <a:avLst/>
          </a:prstGeom>
          <a:noFill/>
          <a:ln/>
        </p:spPr>
        <p:txBody>
          <a:bodyPr wrap="square" lIns="0" tIns="0" rIns="0" bIns="0"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Aggregates every registered server and returns only the tools that caller is entitled to use.</a:t>
            </a:r>
            <a:endParaRPr lang="en-US" sz="1000" dirty="0"/>
          </a:p>
        </p:txBody>
      </p:sp>
      <p:sp>
        <p:nvSpPr>
          <p:cNvPr id="21" name="Shape 18"/>
          <p:cNvSpPr/>
          <p:nvPr/>
        </p:nvSpPr>
        <p:spPr>
          <a:xfrm>
            <a:off x="4023360" y="3273552"/>
            <a:ext cx="1463040" cy="502920"/>
          </a:xfrm>
          <a:prstGeom prst="roundRect">
            <a:avLst>
              <a:gd name="adj" fmla="val 14545"/>
            </a:avLst>
          </a:prstGeom>
          <a:solidFill>
            <a:srgbClr val="FFFFFF"/>
          </a:solidFill>
          <a:ln w="15875">
            <a:solidFill>
              <a:srgbClr val="CFE6DC"/>
            </a:solidFill>
            <a:prstDash val="solid"/>
          </a:ln>
        </p:spPr>
      </p:sp>
      <p:sp>
        <p:nvSpPr>
          <p:cNvPr id="22" name="Text 19"/>
          <p:cNvSpPr txBox="1"/>
          <p:nvPr/>
        </p:nvSpPr>
        <p:spPr>
          <a:xfrm>
            <a:off x="4069080" y="3273552"/>
            <a:ext cx="1371600" cy="502920"/>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Per-tool RBAC</a:t>
            </a:r>
            <a:endParaRPr lang="en-US" sz="950" dirty="0"/>
          </a:p>
        </p:txBody>
      </p:sp>
      <p:sp>
        <p:nvSpPr>
          <p:cNvPr id="23" name="Shape 20"/>
          <p:cNvSpPr/>
          <p:nvPr/>
        </p:nvSpPr>
        <p:spPr>
          <a:xfrm>
            <a:off x="5623560" y="3273552"/>
            <a:ext cx="1463040" cy="502920"/>
          </a:xfrm>
          <a:prstGeom prst="roundRect">
            <a:avLst>
              <a:gd name="adj" fmla="val 14545"/>
            </a:avLst>
          </a:prstGeom>
          <a:solidFill>
            <a:srgbClr val="FFFFFF"/>
          </a:solidFill>
          <a:ln w="15875">
            <a:solidFill>
              <a:srgbClr val="CFE6DC"/>
            </a:solidFill>
            <a:prstDash val="solid"/>
          </a:ln>
        </p:spPr>
      </p:sp>
      <p:sp>
        <p:nvSpPr>
          <p:cNvPr id="24" name="Text 21"/>
          <p:cNvSpPr txBox="1"/>
          <p:nvPr/>
        </p:nvSpPr>
        <p:spPr>
          <a:xfrm>
            <a:off x="5669280" y="3273552"/>
            <a:ext cx="1371600" cy="502920"/>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Vault-injected</a:t>
            </a:r>
            <a:endParaRPr lang="en-US" sz="950" dirty="0"/>
          </a:p>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credentials</a:t>
            </a:r>
            <a:endParaRPr lang="en-US" sz="950" dirty="0"/>
          </a:p>
        </p:txBody>
      </p:sp>
      <p:sp>
        <p:nvSpPr>
          <p:cNvPr id="25" name="Shape 22"/>
          <p:cNvSpPr/>
          <p:nvPr/>
        </p:nvSpPr>
        <p:spPr>
          <a:xfrm>
            <a:off x="4023360" y="3840480"/>
            <a:ext cx="1463040" cy="502920"/>
          </a:xfrm>
          <a:prstGeom prst="roundRect">
            <a:avLst>
              <a:gd name="adj" fmla="val 14545"/>
            </a:avLst>
          </a:prstGeom>
          <a:solidFill>
            <a:srgbClr val="FFFFFF"/>
          </a:solidFill>
          <a:ln w="15875">
            <a:solidFill>
              <a:srgbClr val="CFE6DC"/>
            </a:solidFill>
            <a:prstDash val="solid"/>
          </a:ln>
        </p:spPr>
      </p:sp>
      <p:sp>
        <p:nvSpPr>
          <p:cNvPr id="26" name="Text 23"/>
          <p:cNvSpPr txBox="1"/>
          <p:nvPr/>
        </p:nvSpPr>
        <p:spPr>
          <a:xfrm>
            <a:off x="4069080" y="3840480"/>
            <a:ext cx="1371600" cy="502920"/>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Quotas and</a:t>
            </a:r>
            <a:endParaRPr lang="en-US" sz="950" dirty="0"/>
          </a:p>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rate limits</a:t>
            </a:r>
            <a:endParaRPr lang="en-US" sz="950" dirty="0"/>
          </a:p>
        </p:txBody>
      </p:sp>
      <p:sp>
        <p:nvSpPr>
          <p:cNvPr id="27" name="Shape 24"/>
          <p:cNvSpPr/>
          <p:nvPr/>
        </p:nvSpPr>
        <p:spPr>
          <a:xfrm>
            <a:off x="5623560" y="3840480"/>
            <a:ext cx="1463040" cy="502920"/>
          </a:xfrm>
          <a:prstGeom prst="roundRect">
            <a:avLst>
              <a:gd name="adj" fmla="val 14545"/>
            </a:avLst>
          </a:prstGeom>
          <a:solidFill>
            <a:srgbClr val="FFFFFF"/>
          </a:solidFill>
          <a:ln w="15875">
            <a:solidFill>
              <a:srgbClr val="CFE6DC"/>
            </a:solidFill>
            <a:prstDash val="solid"/>
          </a:ln>
        </p:spPr>
      </p:sp>
      <p:sp>
        <p:nvSpPr>
          <p:cNvPr id="28" name="Text 25"/>
          <p:cNvSpPr txBox="1"/>
          <p:nvPr/>
        </p:nvSpPr>
        <p:spPr>
          <a:xfrm>
            <a:off x="5669280" y="3840480"/>
            <a:ext cx="1371600" cy="502920"/>
          </a:xfrm>
          <a:prstGeom prst="rect">
            <a:avLst/>
          </a:prstGeom>
          <a:noFill/>
          <a:ln/>
        </p:spPr>
        <p:txBody>
          <a:bodyPr wrap="square" lIns="0" tIns="0" rIns="0" bIns="0" rtlCol="0" anchor="ctr"/>
          <a:lstStyle/>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Full call</a:t>
            </a:r>
            <a:endParaRPr lang="en-US" sz="950" dirty="0"/>
          </a:p>
          <a:p>
            <a:pPr algn="ctr" indent="0" marL="0">
              <a:lnSpc>
                <a:spcPct val="95000"/>
              </a:lnSpc>
              <a:buNone/>
            </a:pPr>
            <a:r>
              <a:rPr lang="en-US" sz="950" dirty="0">
                <a:solidFill>
                  <a:srgbClr val="1F2937"/>
                </a:solidFill>
                <a:latin typeface="Calibri" pitchFamily="34" charset="0"/>
                <a:ea typeface="Calibri" pitchFamily="34" charset="-122"/>
                <a:cs typeface="Calibri" pitchFamily="34" charset="-120"/>
              </a:rPr>
              <a:t>audit trail</a:t>
            </a:r>
            <a:endParaRPr lang="en-US" sz="950" dirty="0"/>
          </a:p>
        </p:txBody>
      </p:sp>
      <p:sp>
        <p:nvSpPr>
          <p:cNvPr id="29" name="Shape 26"/>
          <p:cNvSpPr/>
          <p:nvPr/>
        </p:nvSpPr>
        <p:spPr>
          <a:xfrm>
            <a:off x="7955280" y="914400"/>
            <a:ext cx="3794760" cy="4069080"/>
          </a:xfrm>
          <a:prstGeom prst="roundRect">
            <a:avLst>
              <a:gd name="adj" fmla="val 2892"/>
            </a:avLst>
          </a:prstGeom>
          <a:solidFill>
            <a:srgbClr val="FFFFFF"/>
          </a:solidFill>
          <a:ln w="15875">
            <a:solidFill>
              <a:srgbClr val="C7D2E8"/>
            </a:solidFill>
            <a:prstDash val="solid"/>
          </a:ln>
        </p:spPr>
      </p:sp>
      <p:sp>
        <p:nvSpPr>
          <p:cNvPr id="30" name="Shape 27"/>
          <p:cNvSpPr/>
          <p:nvPr/>
        </p:nvSpPr>
        <p:spPr>
          <a:xfrm>
            <a:off x="8101584" y="1051560"/>
            <a:ext cx="3502152" cy="457200"/>
          </a:xfrm>
          <a:prstGeom prst="roundRect">
            <a:avLst>
              <a:gd name="adj" fmla="val 16000"/>
            </a:avLst>
          </a:prstGeom>
          <a:solidFill>
            <a:srgbClr val="F4F7FB"/>
          </a:solidFill>
          <a:ln w="12700">
            <a:solidFill>
              <a:srgbClr val="C7D2E8"/>
            </a:solidFill>
            <a:prstDash val="solid"/>
          </a:ln>
        </p:spPr>
      </p:sp>
      <p:sp>
        <p:nvSpPr>
          <p:cNvPr id="31" name="Text 28"/>
          <p:cNvSpPr txBox="1"/>
          <p:nvPr/>
        </p:nvSpPr>
        <p:spPr>
          <a:xfrm>
            <a:off x="8101584" y="1051560"/>
            <a:ext cx="3502152" cy="457200"/>
          </a:xfrm>
          <a:prstGeom prst="rect">
            <a:avLst/>
          </a:prstGeom>
          <a:noFill/>
          <a:ln/>
        </p:spPr>
        <p:txBody>
          <a:bodyPr wrap="square" lIns="0" tIns="0" rIns="0" bIns="0" rtlCol="0" anchor="ctr"/>
          <a:lstStyle/>
          <a:p>
            <a:pPr algn="ctr" indent="0" marL="0">
              <a:buNone/>
            </a:pPr>
            <a:r>
              <a:rPr lang="en-US" sz="1250" b="1" dirty="0">
                <a:solidFill>
                  <a:srgbClr val="1E3A8A"/>
                </a:solidFill>
                <a:latin typeface="Calibri" pitchFamily="34" charset="0"/>
                <a:ea typeface="Calibri" pitchFamily="34" charset="-122"/>
                <a:cs typeface="Calibri" pitchFamily="34" charset="-120"/>
              </a:rPr>
              <a:t>Three kinds of MCP server</a:t>
            </a:r>
            <a:endParaRPr lang="en-US" sz="1250" dirty="0"/>
          </a:p>
        </p:txBody>
      </p:sp>
      <p:sp>
        <p:nvSpPr>
          <p:cNvPr id="32" name="Shape 29"/>
          <p:cNvSpPr/>
          <p:nvPr/>
        </p:nvSpPr>
        <p:spPr>
          <a:xfrm>
            <a:off x="8138160" y="1691640"/>
            <a:ext cx="3429000" cy="960120"/>
          </a:xfrm>
          <a:prstGeom prst="roundRect">
            <a:avLst>
              <a:gd name="adj" fmla="val 7619"/>
            </a:avLst>
          </a:prstGeom>
          <a:solidFill>
            <a:srgbClr val="F7FCF8"/>
          </a:solidFill>
          <a:ln w="15875">
            <a:solidFill>
              <a:srgbClr val="BFE0C7"/>
            </a:solidFill>
            <a:prstDash val="solid"/>
          </a:ln>
        </p:spPr>
      </p:sp>
      <p:sp>
        <p:nvSpPr>
          <p:cNvPr id="33" name="Text 30"/>
          <p:cNvSpPr txBox="1"/>
          <p:nvPr/>
        </p:nvSpPr>
        <p:spPr>
          <a:xfrm>
            <a:off x="8266176" y="1783080"/>
            <a:ext cx="3172968" cy="256032"/>
          </a:xfrm>
          <a:prstGeom prst="rect">
            <a:avLst/>
          </a:prstGeom>
          <a:noFill/>
          <a:ln/>
        </p:spPr>
        <p:txBody>
          <a:bodyPr wrap="square" lIns="0" tIns="0" rIns="0" bIns="0" rtlCol="0" anchor="ctr"/>
          <a:lstStyle/>
          <a:p>
            <a:pPr indent="0" marL="0">
              <a:buNone/>
            </a:pPr>
            <a:r>
              <a:rPr lang="en-US" sz="1250" b="1" dirty="0">
                <a:solidFill>
                  <a:srgbClr val="166534"/>
                </a:solidFill>
                <a:latin typeface="Calibri" pitchFamily="34" charset="0"/>
                <a:ea typeface="Calibri" pitchFamily="34" charset="-122"/>
                <a:cs typeface="Calibri" pitchFamily="34" charset="-120"/>
              </a:rPr>
              <a:t>Common organisation MCPs</a:t>
            </a:r>
            <a:endParaRPr lang="en-US" sz="1250" dirty="0"/>
          </a:p>
        </p:txBody>
      </p:sp>
      <p:sp>
        <p:nvSpPr>
          <p:cNvPr id="34" name="Text 31"/>
          <p:cNvSpPr txBox="1"/>
          <p:nvPr/>
        </p:nvSpPr>
        <p:spPr>
          <a:xfrm>
            <a:off x="8266176" y="2039112"/>
            <a:ext cx="3172968" cy="530352"/>
          </a:xfrm>
          <a:prstGeom prst="rect">
            <a:avLst/>
          </a:prstGeom>
          <a:noFill/>
          <a:ln/>
        </p:spPr>
        <p:txBody>
          <a:bodyPr wrap="square" lIns="0" tIns="0" rIns="0" bIns="0"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Platform-owned and shared: documents, ticketing,</a:t>
            </a:r>
            <a:endParaRPr lang="en-US" sz="1000" dirty="0"/>
          </a:p>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HR, finance, core banking lookups.</a:t>
            </a:r>
            <a:endParaRPr lang="en-US" sz="1000" dirty="0"/>
          </a:p>
        </p:txBody>
      </p:sp>
      <p:sp>
        <p:nvSpPr>
          <p:cNvPr id="35" name="Shape 32"/>
          <p:cNvSpPr/>
          <p:nvPr/>
        </p:nvSpPr>
        <p:spPr>
          <a:xfrm>
            <a:off x="8138160" y="2743200"/>
            <a:ext cx="3429000" cy="960120"/>
          </a:xfrm>
          <a:prstGeom prst="roundRect">
            <a:avLst>
              <a:gd name="adj" fmla="val 7619"/>
            </a:avLst>
          </a:prstGeom>
          <a:solidFill>
            <a:srgbClr val="F4F4FE"/>
          </a:solidFill>
          <a:ln w="15875">
            <a:solidFill>
              <a:srgbClr val="D8D2F2"/>
            </a:solidFill>
            <a:prstDash val="solid"/>
          </a:ln>
        </p:spPr>
      </p:sp>
      <p:sp>
        <p:nvSpPr>
          <p:cNvPr id="36" name="Text 33"/>
          <p:cNvSpPr txBox="1"/>
          <p:nvPr/>
        </p:nvSpPr>
        <p:spPr>
          <a:xfrm>
            <a:off x="8266176" y="2834640"/>
            <a:ext cx="3172968" cy="256032"/>
          </a:xfrm>
          <a:prstGeom prst="rect">
            <a:avLst/>
          </a:prstGeom>
          <a:noFill/>
          <a:ln/>
        </p:spPr>
        <p:txBody>
          <a:bodyPr wrap="square" lIns="0" tIns="0" rIns="0" bIns="0" rtlCol="0" anchor="ctr"/>
          <a:lstStyle/>
          <a:p>
            <a:pPr indent="0" marL="0">
              <a:buNone/>
            </a:pPr>
            <a:r>
              <a:rPr lang="en-US" sz="1250" b="1" dirty="0">
                <a:solidFill>
                  <a:srgbClr val="3730A3"/>
                </a:solidFill>
                <a:latin typeface="Calibri" pitchFamily="34" charset="0"/>
                <a:ea typeface="Calibri" pitchFamily="34" charset="-122"/>
                <a:cs typeface="Calibri" pitchFamily="34" charset="-120"/>
              </a:rPr>
              <a:t>External MCPs</a:t>
            </a:r>
            <a:endParaRPr lang="en-US" sz="1250" dirty="0"/>
          </a:p>
        </p:txBody>
      </p:sp>
      <p:sp>
        <p:nvSpPr>
          <p:cNvPr id="37" name="Text 34"/>
          <p:cNvSpPr txBox="1"/>
          <p:nvPr/>
        </p:nvSpPr>
        <p:spPr>
          <a:xfrm>
            <a:off x="8266176" y="3090672"/>
            <a:ext cx="3172968" cy="530352"/>
          </a:xfrm>
          <a:prstGeom prst="rect">
            <a:avLst/>
          </a:prstGeom>
          <a:noFill/>
          <a:ln/>
        </p:spPr>
        <p:txBody>
          <a:bodyPr wrap="square" lIns="0" tIns="0" rIns="0" bIns="0"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Vendor and SaaS tools, reached outbound through</a:t>
            </a:r>
            <a:endParaRPr lang="en-US" sz="1000" dirty="0"/>
          </a:p>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the gateway rather than from each client.</a:t>
            </a:r>
            <a:endParaRPr lang="en-US" sz="1000" dirty="0"/>
          </a:p>
        </p:txBody>
      </p:sp>
      <p:sp>
        <p:nvSpPr>
          <p:cNvPr id="38" name="Shape 35"/>
          <p:cNvSpPr/>
          <p:nvPr/>
        </p:nvSpPr>
        <p:spPr>
          <a:xfrm>
            <a:off x="8138160" y="3794760"/>
            <a:ext cx="3429000" cy="960120"/>
          </a:xfrm>
          <a:prstGeom prst="roundRect">
            <a:avLst>
              <a:gd name="adj" fmla="val 7619"/>
            </a:avLst>
          </a:prstGeom>
          <a:solidFill>
            <a:srgbClr val="FFFBF6"/>
          </a:solidFill>
          <a:ln w="15875">
            <a:solidFill>
              <a:srgbClr val="F7E0AE"/>
            </a:solidFill>
            <a:prstDash val="solid"/>
          </a:ln>
        </p:spPr>
      </p:sp>
      <p:sp>
        <p:nvSpPr>
          <p:cNvPr id="39" name="Text 36"/>
          <p:cNvSpPr txBox="1"/>
          <p:nvPr/>
        </p:nvSpPr>
        <p:spPr>
          <a:xfrm>
            <a:off x="8266176" y="3886200"/>
            <a:ext cx="3172968" cy="256032"/>
          </a:xfrm>
          <a:prstGeom prst="rect">
            <a:avLst/>
          </a:prstGeom>
          <a:noFill/>
          <a:ln/>
        </p:spPr>
        <p:txBody>
          <a:bodyPr wrap="square" lIns="0" tIns="0" rIns="0" bIns="0" rtlCol="0" anchor="ctr"/>
          <a:lstStyle/>
          <a:p>
            <a:pPr indent="0" marL="0">
              <a:buNone/>
            </a:pPr>
            <a:r>
              <a:rPr lang="en-US" sz="1250" b="1" dirty="0">
                <a:solidFill>
                  <a:srgbClr val="B45309"/>
                </a:solidFill>
                <a:latin typeface="Calibri" pitchFamily="34" charset="0"/>
                <a:ea typeface="Calibri" pitchFamily="34" charset="-122"/>
                <a:cs typeface="Calibri" pitchFamily="34" charset="-120"/>
              </a:rPr>
              <a:t>Team-built MCPs</a:t>
            </a:r>
            <a:endParaRPr lang="en-US" sz="1250" dirty="0"/>
          </a:p>
        </p:txBody>
      </p:sp>
      <p:sp>
        <p:nvSpPr>
          <p:cNvPr id="40" name="Text 37"/>
          <p:cNvSpPr txBox="1"/>
          <p:nvPr/>
        </p:nvSpPr>
        <p:spPr>
          <a:xfrm>
            <a:off x="8266176" y="4142232"/>
            <a:ext cx="3172968" cy="530352"/>
          </a:xfrm>
          <a:prstGeom prst="rect">
            <a:avLst/>
          </a:prstGeom>
          <a:noFill/>
          <a:ln/>
        </p:spPr>
        <p:txBody>
          <a:bodyPr wrap="square" lIns="0" tIns="0" rIns="0" bIns="0"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Created and run by individual agent teams for</a:t>
            </a:r>
            <a:endParaRPr lang="en-US" sz="1000" dirty="0"/>
          </a:p>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their own domain, onboarded via the pipeline.</a:t>
            </a:r>
            <a:endParaRPr lang="en-US" sz="1000" dirty="0"/>
          </a:p>
        </p:txBody>
      </p:sp>
      <p:sp>
        <p:nvSpPr>
          <p:cNvPr id="41" name="Shape 38"/>
          <p:cNvSpPr/>
          <p:nvPr/>
        </p:nvSpPr>
        <p:spPr>
          <a:xfrm>
            <a:off x="3291840" y="2171700"/>
            <a:ext cx="429768" cy="0"/>
          </a:xfrm>
          <a:prstGeom prst="line">
            <a:avLst/>
          </a:prstGeom>
          <a:noFill/>
          <a:ln w="25400">
            <a:solidFill>
              <a:srgbClr val="2B3A67"/>
            </a:solidFill>
            <a:prstDash val="dash"/>
            <a:tailEnd type="triangle"/>
          </a:ln>
        </p:spPr>
      </p:sp>
      <p:sp>
        <p:nvSpPr>
          <p:cNvPr id="42" name="Shape 39"/>
          <p:cNvSpPr/>
          <p:nvPr/>
        </p:nvSpPr>
        <p:spPr>
          <a:xfrm>
            <a:off x="7406640" y="2171700"/>
            <a:ext cx="475488" cy="0"/>
          </a:xfrm>
          <a:prstGeom prst="line">
            <a:avLst/>
          </a:prstGeom>
          <a:noFill/>
          <a:ln w="25400">
            <a:solidFill>
              <a:srgbClr val="2B3A67"/>
            </a:solidFill>
            <a:prstDash val="dash"/>
            <a:tailEnd type="triangle"/>
          </a:ln>
        </p:spPr>
      </p:sp>
      <p:sp>
        <p:nvSpPr>
          <p:cNvPr id="43" name="Shape 40"/>
          <p:cNvSpPr/>
          <p:nvPr/>
        </p:nvSpPr>
        <p:spPr>
          <a:xfrm>
            <a:off x="3291840" y="3223260"/>
            <a:ext cx="429768" cy="0"/>
          </a:xfrm>
          <a:prstGeom prst="line">
            <a:avLst/>
          </a:prstGeom>
          <a:noFill/>
          <a:ln w="25400">
            <a:solidFill>
              <a:srgbClr val="2B3A67"/>
            </a:solidFill>
            <a:prstDash val="dash"/>
            <a:tailEnd type="triangle"/>
          </a:ln>
        </p:spPr>
      </p:sp>
      <p:sp>
        <p:nvSpPr>
          <p:cNvPr id="44" name="Shape 41"/>
          <p:cNvSpPr/>
          <p:nvPr/>
        </p:nvSpPr>
        <p:spPr>
          <a:xfrm>
            <a:off x="7406640" y="3223260"/>
            <a:ext cx="475488" cy="0"/>
          </a:xfrm>
          <a:prstGeom prst="line">
            <a:avLst/>
          </a:prstGeom>
          <a:noFill/>
          <a:ln w="25400">
            <a:solidFill>
              <a:srgbClr val="2B3A67"/>
            </a:solidFill>
            <a:prstDash val="dash"/>
            <a:tailEnd type="triangle"/>
          </a:ln>
        </p:spPr>
      </p:sp>
      <p:sp>
        <p:nvSpPr>
          <p:cNvPr id="45" name="Shape 42"/>
          <p:cNvSpPr/>
          <p:nvPr/>
        </p:nvSpPr>
        <p:spPr>
          <a:xfrm>
            <a:off x="3291840" y="4274820"/>
            <a:ext cx="429768" cy="0"/>
          </a:xfrm>
          <a:prstGeom prst="line">
            <a:avLst/>
          </a:prstGeom>
          <a:noFill/>
          <a:ln w="25400">
            <a:solidFill>
              <a:srgbClr val="2B3A67"/>
            </a:solidFill>
            <a:prstDash val="dash"/>
            <a:tailEnd type="triangle"/>
          </a:ln>
        </p:spPr>
      </p:sp>
      <p:sp>
        <p:nvSpPr>
          <p:cNvPr id="46" name="Shape 43"/>
          <p:cNvSpPr/>
          <p:nvPr/>
        </p:nvSpPr>
        <p:spPr>
          <a:xfrm>
            <a:off x="7406640" y="4274820"/>
            <a:ext cx="475488" cy="0"/>
          </a:xfrm>
          <a:prstGeom prst="line">
            <a:avLst/>
          </a:prstGeom>
          <a:noFill/>
          <a:ln w="25400">
            <a:solidFill>
              <a:srgbClr val="2B3A67"/>
            </a:solidFill>
            <a:prstDash val="dash"/>
            <a:tailEnd type="triangle"/>
          </a:ln>
        </p:spPr>
      </p:sp>
      <p:sp>
        <p:nvSpPr>
          <p:cNvPr id="47" name="Shape 44"/>
          <p:cNvSpPr/>
          <p:nvPr/>
        </p:nvSpPr>
        <p:spPr>
          <a:xfrm>
            <a:off x="457200" y="5285232"/>
            <a:ext cx="11274552" cy="960120"/>
          </a:xfrm>
          <a:prstGeom prst="roundRect">
            <a:avLst>
              <a:gd name="adj" fmla="val 9524"/>
            </a:avLst>
          </a:prstGeom>
          <a:solidFill>
            <a:srgbClr val="FFFBF0"/>
          </a:solidFill>
          <a:ln w="15875">
            <a:solidFill>
              <a:srgbClr val="F7E0AE"/>
            </a:solidFill>
            <a:prstDash val="solid"/>
          </a:ln>
        </p:spPr>
      </p:sp>
      <p:pic>
        <p:nvPicPr>
          <p:cNvPr id="48" name="Image 1" descr="preencoded.png">    </p:cNvPr>
          <p:cNvPicPr>
            <a:picLocks noChangeAspect="1"/>
          </p:cNvPicPr>
          <p:nvPr/>
        </p:nvPicPr>
        <p:blipFill>
          <a:blip r:embed="rId2"/>
          <a:stretch>
            <a:fillRect/>
          </a:stretch>
        </p:blipFill>
        <p:spPr>
          <a:xfrm>
            <a:off x="694944" y="5632704"/>
            <a:ext cx="256032" cy="256032"/>
          </a:xfrm>
          <a:prstGeom prst="rect">
            <a:avLst/>
          </a:prstGeom>
        </p:spPr>
      </p:pic>
      <p:sp>
        <p:nvSpPr>
          <p:cNvPr id="49" name="Text 45"/>
          <p:cNvSpPr txBox="1"/>
          <p:nvPr/>
        </p:nvSpPr>
        <p:spPr>
          <a:xfrm>
            <a:off x="1042416" y="5285232"/>
            <a:ext cx="10515600" cy="960120"/>
          </a:xfrm>
          <a:prstGeom prst="rect">
            <a:avLst/>
          </a:prstGeom>
          <a:noFill/>
          <a:ln/>
        </p:spPr>
        <p:txBody>
          <a:bodyPr wrap="square" lIns="0" tIns="0" rIns="0" bIns="0" rtlCol="0" anchor="ctr"/>
          <a:lstStyle/>
          <a:p>
            <a:pPr indent="0" marL="0">
              <a:lnSpc>
                <a:spcPct val="110000"/>
              </a:lnSpc>
              <a:buNone/>
            </a:pPr>
            <a:r>
              <a:rPr lang="en-US" sz="1150" b="1" dirty="0">
                <a:solidFill>
                  <a:srgbClr val="B45309"/>
                </a:solidFill>
                <a:latin typeface="Calibri" pitchFamily="34" charset="0"/>
                <a:ea typeface="Calibri" pitchFamily="34" charset="-122"/>
                <a:cs typeface="Calibri" pitchFamily="34" charset="-120"/>
              </a:rPr>
              <a:t>Locally built MCP servers are not a shortcut.  </a:t>
            </a:r>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An agent team that starts with an MCP server running on a laptop must take it through pipeline deployment into the BBOX Kubernetes clusters and expose it via the gateway using the MCP server onboarding process. Until then it is reachable by nobody else — not other teams, not Antigravity.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Harness Architecture</dc:title>
  <dc:subject>PptxGenJS Presentation</dc:subject>
  <dc:creator>Agent Harness</dc:creator>
  <cp:lastModifiedBy>Agent Harness</cp:lastModifiedBy>
  <cp:revision>1</cp:revision>
  <dcterms:created xsi:type="dcterms:W3CDTF">2026-09-15T04:18:23Z</dcterms:created>
  <dcterms:modified xsi:type="dcterms:W3CDTF">2026-09-15T04:18:23Z</dcterms:modified>
</cp:coreProperties>
</file>